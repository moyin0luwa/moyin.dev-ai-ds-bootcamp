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8229600" cx="14630400"/>
  <p:notesSz cx="8229600" cy="14630400"/>
  <p:embeddedFontLst>
    <p:embeddedFont>
      <p:font typeface="Raleway"/>
      <p:regular r:id="rId14"/>
      <p:bold r:id="rId15"/>
      <p:italic r:id="rId16"/>
      <p:boldItalic r:id="rId17"/>
    </p:embeddedFont>
    <p:embeddedFont>
      <p:font typeface="EB Garamond Medium"/>
      <p:regular r:id="rId18"/>
      <p:bold r:id="rId19"/>
      <p:italic r:id="rId20"/>
      <p:boldItalic r:id="rId21"/>
    </p:embeddedFont>
    <p:embeddedFont>
      <p:font typeface="EB Garamond SemiBold"/>
      <p:regular r:id="rId22"/>
      <p:bold r:id="rId23"/>
      <p:italic r:id="rId24"/>
      <p:boldItalic r:id="rId25"/>
    </p:embeddedFont>
    <p:embeddedFont>
      <p:font typeface="EB Garamond"/>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EBGaramondMedium-italic.fntdata"/><Relationship Id="rId22" Type="http://schemas.openxmlformats.org/officeDocument/2006/relationships/font" Target="fonts/EBGaramondSemiBold-regular.fntdata"/><Relationship Id="rId21" Type="http://schemas.openxmlformats.org/officeDocument/2006/relationships/font" Target="fonts/EBGaramondMedium-boldItalic.fntdata"/><Relationship Id="rId24" Type="http://schemas.openxmlformats.org/officeDocument/2006/relationships/font" Target="fonts/EBGaramondSemiBold-italic.fntdata"/><Relationship Id="rId23" Type="http://schemas.openxmlformats.org/officeDocument/2006/relationships/font" Target="fonts/EBGaramondSemiBold-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EBGaramond-regular.fntdata"/><Relationship Id="rId25" Type="http://schemas.openxmlformats.org/officeDocument/2006/relationships/font" Target="fonts/EBGaramondSemiBold-boldItalic.fntdata"/><Relationship Id="rId28" Type="http://schemas.openxmlformats.org/officeDocument/2006/relationships/font" Target="fonts/EBGaramond-italic.fntdata"/><Relationship Id="rId27" Type="http://schemas.openxmlformats.org/officeDocument/2006/relationships/font" Target="fonts/EBGaramond-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EBGaramond-boldItalic.fntdata"/><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font" Target="fonts/Raleway-bold.fntdata"/><Relationship Id="rId14" Type="http://schemas.openxmlformats.org/officeDocument/2006/relationships/font" Target="fonts/Raleway-regular.fntdata"/><Relationship Id="rId17" Type="http://schemas.openxmlformats.org/officeDocument/2006/relationships/font" Target="fonts/Raleway-boldItalic.fntdata"/><Relationship Id="rId16" Type="http://schemas.openxmlformats.org/officeDocument/2006/relationships/font" Target="fonts/Raleway-italic.fntdata"/><Relationship Id="rId19" Type="http://schemas.openxmlformats.org/officeDocument/2006/relationships/font" Target="fonts/EBGaramondMedium-bold.fntdata"/><Relationship Id="rId18" Type="http://schemas.openxmlformats.org/officeDocument/2006/relationships/font" Target="fonts/EBGaramondMedium-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 name="Google Shape;5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 name="Google Shape;6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 name="Google Shape;6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 name="Google Shape;8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b4b742c038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b4b742c038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g3b4b742c038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 name="Shape 10"/>
        <p:cNvGrpSpPr/>
        <p:nvPr/>
      </p:nvGrpSpPr>
      <p:grpSpPr>
        <a:xfrm>
          <a:off x="0" y="0"/>
          <a:ext cx="0" cy="0"/>
          <a:chOff x="0" y="0"/>
          <a:chExt cx="0" cy="0"/>
        </a:xfrm>
      </p:grpSpPr>
      <p:sp>
        <p:nvSpPr>
          <p:cNvPr id="11" name="Google Shape;11;p2"/>
          <p:cNvSpPr/>
          <p:nvPr/>
        </p:nvSpPr>
        <p:spPr>
          <a:xfrm>
            <a:off x="0" y="0"/>
            <a:ext cx="14630400" cy="8229600"/>
          </a:xfrm>
          <a:prstGeom prst="rect">
            <a:avLst/>
          </a:prstGeom>
          <a:solidFill>
            <a:srgbClr val="ECEC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0" y="0"/>
            <a:ext cx="14630400" cy="8229600"/>
          </a:xfrm>
          <a:prstGeom prst="rect">
            <a:avLst/>
          </a:prstGeom>
          <a:solidFill>
            <a:srgbClr val="FFFFFF">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 name="Google Shape;13;p2">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4" name="Shape 14"/>
        <p:cNvGrpSpPr/>
        <p:nvPr/>
      </p:nvGrpSpPr>
      <p:grpSpPr>
        <a:xfrm>
          <a:off x="0" y="0"/>
          <a:ext cx="0" cy="0"/>
          <a:chOff x="0" y="0"/>
          <a:chExt cx="0" cy="0"/>
        </a:xfrm>
      </p:grpSpPr>
      <p:sp>
        <p:nvSpPr>
          <p:cNvPr id="15" name="Google Shape;15;p3"/>
          <p:cNvSpPr/>
          <p:nvPr/>
        </p:nvSpPr>
        <p:spPr>
          <a:xfrm>
            <a:off x="0" y="0"/>
            <a:ext cx="14630400" cy="8229600"/>
          </a:xfrm>
          <a:prstGeom prst="rect">
            <a:avLst/>
          </a:prstGeom>
          <a:solidFill>
            <a:srgbClr val="ECEC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p:nvPr/>
        </p:nvSpPr>
        <p:spPr>
          <a:xfrm>
            <a:off x="0" y="0"/>
            <a:ext cx="14630400" cy="8229600"/>
          </a:xfrm>
          <a:prstGeom prst="rect">
            <a:avLst/>
          </a:prstGeom>
          <a:solidFill>
            <a:srgbClr val="FFFFFF">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 name="Google Shape;17;p3">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8" name="Shape 18"/>
        <p:cNvGrpSpPr/>
        <p:nvPr/>
      </p:nvGrpSpPr>
      <p:grpSpPr>
        <a:xfrm>
          <a:off x="0" y="0"/>
          <a:ext cx="0" cy="0"/>
          <a:chOff x="0" y="0"/>
          <a:chExt cx="0" cy="0"/>
        </a:xfrm>
      </p:grpSpPr>
      <p:sp>
        <p:nvSpPr>
          <p:cNvPr id="19" name="Google Shape;19;p4"/>
          <p:cNvSpPr/>
          <p:nvPr/>
        </p:nvSpPr>
        <p:spPr>
          <a:xfrm>
            <a:off x="0" y="0"/>
            <a:ext cx="14630400" cy="8229600"/>
          </a:xfrm>
          <a:prstGeom prst="rect">
            <a:avLst/>
          </a:prstGeom>
          <a:solidFill>
            <a:srgbClr val="ECEC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0"/>
            <a:ext cx="14630400" cy="8229600"/>
          </a:xfrm>
          <a:prstGeom prst="rect">
            <a:avLst/>
          </a:prstGeom>
          <a:solidFill>
            <a:srgbClr val="FFFFFF">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 name="Google Shape;21;p4">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22" name="Shape 22"/>
        <p:cNvGrpSpPr/>
        <p:nvPr/>
      </p:nvGrpSpPr>
      <p:grpSpPr>
        <a:xfrm>
          <a:off x="0" y="0"/>
          <a:ext cx="0" cy="0"/>
          <a:chOff x="0" y="0"/>
          <a:chExt cx="0" cy="0"/>
        </a:xfrm>
      </p:grpSpPr>
      <p:sp>
        <p:nvSpPr>
          <p:cNvPr id="23" name="Google Shape;23;p5"/>
          <p:cNvSpPr/>
          <p:nvPr/>
        </p:nvSpPr>
        <p:spPr>
          <a:xfrm>
            <a:off x="0" y="0"/>
            <a:ext cx="14630400" cy="8229600"/>
          </a:xfrm>
          <a:prstGeom prst="rect">
            <a:avLst/>
          </a:prstGeom>
          <a:solidFill>
            <a:srgbClr val="ECEC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5"/>
          <p:cNvSpPr/>
          <p:nvPr/>
        </p:nvSpPr>
        <p:spPr>
          <a:xfrm>
            <a:off x="0" y="0"/>
            <a:ext cx="14630400" cy="8229600"/>
          </a:xfrm>
          <a:prstGeom prst="rect">
            <a:avLst/>
          </a:prstGeom>
          <a:solidFill>
            <a:srgbClr val="FFFFFF">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 name="Google Shape;25;p5">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6" name="Shape 26"/>
        <p:cNvGrpSpPr/>
        <p:nvPr/>
      </p:nvGrpSpPr>
      <p:grpSpPr>
        <a:xfrm>
          <a:off x="0" y="0"/>
          <a:ext cx="0" cy="0"/>
          <a:chOff x="0" y="0"/>
          <a:chExt cx="0" cy="0"/>
        </a:xfrm>
      </p:grpSpPr>
      <p:sp>
        <p:nvSpPr>
          <p:cNvPr id="27" name="Google Shape;27;p6"/>
          <p:cNvSpPr/>
          <p:nvPr/>
        </p:nvSpPr>
        <p:spPr>
          <a:xfrm>
            <a:off x="0" y="0"/>
            <a:ext cx="14630400" cy="8229600"/>
          </a:xfrm>
          <a:prstGeom prst="rect">
            <a:avLst/>
          </a:prstGeom>
          <a:solidFill>
            <a:srgbClr val="ECEC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6"/>
          <p:cNvSpPr/>
          <p:nvPr/>
        </p:nvSpPr>
        <p:spPr>
          <a:xfrm>
            <a:off x="0" y="0"/>
            <a:ext cx="14630400" cy="8229600"/>
          </a:xfrm>
          <a:prstGeom prst="rect">
            <a:avLst/>
          </a:prstGeom>
          <a:solidFill>
            <a:srgbClr val="FFFFFF">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 name="Google Shape;29;p6">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30" name="Shape 30"/>
        <p:cNvGrpSpPr/>
        <p:nvPr/>
      </p:nvGrpSpPr>
      <p:grpSpPr>
        <a:xfrm>
          <a:off x="0" y="0"/>
          <a:ext cx="0" cy="0"/>
          <a:chOff x="0" y="0"/>
          <a:chExt cx="0" cy="0"/>
        </a:xfrm>
      </p:grpSpPr>
      <p:sp>
        <p:nvSpPr>
          <p:cNvPr id="31" name="Google Shape;31;p7"/>
          <p:cNvSpPr/>
          <p:nvPr/>
        </p:nvSpPr>
        <p:spPr>
          <a:xfrm>
            <a:off x="0" y="0"/>
            <a:ext cx="14630400" cy="8229600"/>
          </a:xfrm>
          <a:prstGeom prst="rect">
            <a:avLst/>
          </a:prstGeom>
          <a:solidFill>
            <a:srgbClr val="ECEC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7"/>
          <p:cNvSpPr/>
          <p:nvPr/>
        </p:nvSpPr>
        <p:spPr>
          <a:xfrm>
            <a:off x="0" y="0"/>
            <a:ext cx="14630400" cy="8229600"/>
          </a:xfrm>
          <a:prstGeom prst="rect">
            <a:avLst/>
          </a:prstGeom>
          <a:solidFill>
            <a:srgbClr val="FFFFFF">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 name="Google Shape;33;p7">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34" name="Shape 34"/>
        <p:cNvGrpSpPr/>
        <p:nvPr/>
      </p:nvGrpSpPr>
      <p:grpSpPr>
        <a:xfrm>
          <a:off x="0" y="0"/>
          <a:ext cx="0" cy="0"/>
          <a:chOff x="0" y="0"/>
          <a:chExt cx="0" cy="0"/>
        </a:xfrm>
      </p:grpSpPr>
      <p:sp>
        <p:nvSpPr>
          <p:cNvPr id="35" name="Google Shape;35;p8"/>
          <p:cNvSpPr/>
          <p:nvPr/>
        </p:nvSpPr>
        <p:spPr>
          <a:xfrm>
            <a:off x="0" y="0"/>
            <a:ext cx="14630400" cy="8229600"/>
          </a:xfrm>
          <a:prstGeom prst="rect">
            <a:avLst/>
          </a:prstGeom>
          <a:solidFill>
            <a:srgbClr val="ECEC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8"/>
          <p:cNvSpPr/>
          <p:nvPr/>
        </p:nvSpPr>
        <p:spPr>
          <a:xfrm>
            <a:off x="0" y="0"/>
            <a:ext cx="14630400" cy="8229600"/>
          </a:xfrm>
          <a:prstGeom prst="rect">
            <a:avLst/>
          </a:prstGeom>
          <a:solidFill>
            <a:srgbClr val="FFFFFF">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 name="Google Shape;37;p8">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38" name="Shape 38"/>
        <p:cNvGrpSpPr/>
        <p:nvPr/>
      </p:nvGrpSpPr>
      <p:grpSpPr>
        <a:xfrm>
          <a:off x="0" y="0"/>
          <a:ext cx="0" cy="0"/>
          <a:chOff x="0" y="0"/>
          <a:chExt cx="0" cy="0"/>
        </a:xfrm>
      </p:grpSpPr>
      <p:sp>
        <p:nvSpPr>
          <p:cNvPr id="39" name="Google Shape;39;p9"/>
          <p:cNvSpPr/>
          <p:nvPr/>
        </p:nvSpPr>
        <p:spPr>
          <a:xfrm>
            <a:off x="0" y="0"/>
            <a:ext cx="14630400" cy="8229600"/>
          </a:xfrm>
          <a:prstGeom prst="rect">
            <a:avLst/>
          </a:prstGeom>
          <a:solidFill>
            <a:srgbClr val="ECEC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9"/>
          <p:cNvSpPr/>
          <p:nvPr/>
        </p:nvSpPr>
        <p:spPr>
          <a:xfrm>
            <a:off x="0" y="0"/>
            <a:ext cx="14630400" cy="8229600"/>
          </a:xfrm>
          <a:prstGeom prst="rect">
            <a:avLst/>
          </a:prstGeom>
          <a:solidFill>
            <a:srgbClr val="FFFFFF">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1" name="Google Shape;41;p9">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42" name="Shape 42"/>
        <p:cNvGrpSpPr/>
        <p:nvPr/>
      </p:nvGrpSpPr>
      <p:grpSpPr>
        <a:xfrm>
          <a:off x="0" y="0"/>
          <a:ext cx="0" cy="0"/>
          <a:chOff x="0" y="0"/>
          <a:chExt cx="0" cy="0"/>
        </a:xfrm>
      </p:grpSpPr>
      <p:sp>
        <p:nvSpPr>
          <p:cNvPr id="43" name="Google Shape;43;p10"/>
          <p:cNvSpPr/>
          <p:nvPr/>
        </p:nvSpPr>
        <p:spPr>
          <a:xfrm>
            <a:off x="0" y="0"/>
            <a:ext cx="14630400" cy="8229600"/>
          </a:xfrm>
          <a:prstGeom prst="rect">
            <a:avLst/>
          </a:prstGeom>
          <a:solidFill>
            <a:srgbClr val="ECEC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10"/>
          <p:cNvSpPr/>
          <p:nvPr/>
        </p:nvSpPr>
        <p:spPr>
          <a:xfrm>
            <a:off x="0" y="0"/>
            <a:ext cx="14630400" cy="8229600"/>
          </a:xfrm>
          <a:prstGeom prst="rect">
            <a:avLst/>
          </a:prstGeom>
          <a:solidFill>
            <a:srgbClr val="FFFFFF">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5" name="Google Shape;45;p10">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spTree>
      <p:nvGrpSpPr>
        <p:cNvPr id="46" name="Shape 46"/>
        <p:cNvGrpSpPr/>
        <p:nvPr/>
      </p:nvGrpSpPr>
      <p:grpSpPr>
        <a:xfrm>
          <a:off x="0" y="0"/>
          <a:ext cx="0" cy="0"/>
          <a:chOff x="0" y="0"/>
          <a:chExt cx="0" cy="0"/>
        </a:xfrm>
      </p:grpSpPr>
      <p:sp>
        <p:nvSpPr>
          <p:cNvPr id="47" name="Google Shape;47;p11"/>
          <p:cNvSpPr/>
          <p:nvPr/>
        </p:nvSpPr>
        <p:spPr>
          <a:xfrm>
            <a:off x="0" y="0"/>
            <a:ext cx="14630400" cy="8229600"/>
          </a:xfrm>
          <a:prstGeom prst="rect">
            <a:avLst/>
          </a:prstGeom>
          <a:solidFill>
            <a:srgbClr val="ECEC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11"/>
          <p:cNvSpPr/>
          <p:nvPr/>
        </p:nvSpPr>
        <p:spPr>
          <a:xfrm>
            <a:off x="0" y="0"/>
            <a:ext cx="14630400" cy="8229600"/>
          </a:xfrm>
          <a:prstGeom prst="rect">
            <a:avLst/>
          </a:prstGeom>
          <a:solidFill>
            <a:srgbClr val="FFFFFF">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9" name="Google Shape;49;p11">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0" name="Shape 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21.png"/><Relationship Id="rId4" Type="http://schemas.openxmlformats.org/officeDocument/2006/relationships/image" Target="../media/image24.png"/><Relationship Id="rId10" Type="http://schemas.openxmlformats.org/officeDocument/2006/relationships/image" Target="../media/image19.png"/><Relationship Id="rId9" Type="http://schemas.openxmlformats.org/officeDocument/2006/relationships/image" Target="../media/image11.png"/><Relationship Id="rId5" Type="http://schemas.openxmlformats.org/officeDocument/2006/relationships/image" Target="../media/image14.png"/><Relationship Id="rId6" Type="http://schemas.openxmlformats.org/officeDocument/2006/relationships/image" Target="../media/image9.png"/><Relationship Id="rId7" Type="http://schemas.openxmlformats.org/officeDocument/2006/relationships/image" Target="../media/image23.png"/><Relationship Id="rId8" Type="http://schemas.openxmlformats.org/officeDocument/2006/relationships/image" Target="../media/image2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17.png"/><Relationship Id="rId10" Type="http://schemas.openxmlformats.org/officeDocument/2006/relationships/image" Target="../media/image16.png"/><Relationship Id="rId9" Type="http://schemas.openxmlformats.org/officeDocument/2006/relationships/image" Target="../media/image26.png"/><Relationship Id="rId5" Type="http://schemas.openxmlformats.org/officeDocument/2006/relationships/image" Target="../media/image34.png"/><Relationship Id="rId6" Type="http://schemas.openxmlformats.org/officeDocument/2006/relationships/image" Target="../media/image18.png"/><Relationship Id="rId7" Type="http://schemas.openxmlformats.org/officeDocument/2006/relationships/image" Target="../media/image27.png"/><Relationship Id="rId8"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29.png"/><Relationship Id="rId4" Type="http://schemas.openxmlformats.org/officeDocument/2006/relationships/image" Target="../media/image28.png"/><Relationship Id="rId9"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1.png"/><Relationship Id="rId7" Type="http://schemas.openxmlformats.org/officeDocument/2006/relationships/image" Target="../media/image30.png"/><Relationship Id="rId8"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p:nvPr/>
        </p:nvSpPr>
        <p:spPr>
          <a:xfrm>
            <a:off x="793800" y="1803956"/>
            <a:ext cx="12588900" cy="25416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1B1B27"/>
              </a:buClr>
              <a:buSzPts val="4450"/>
              <a:buFont typeface="Raleway"/>
              <a:buNone/>
            </a:pPr>
            <a:r>
              <a:rPr b="1" i="0" lang="en-US" sz="7950" u="none" cap="none" strike="noStrike">
                <a:solidFill>
                  <a:srgbClr val="1B1B27"/>
                </a:solidFill>
                <a:latin typeface="Georgia"/>
                <a:ea typeface="Georgia"/>
                <a:cs typeface="Georgia"/>
                <a:sym typeface="Georgia"/>
              </a:rPr>
              <a:t>Demystifying AI &amp; Data Science</a:t>
            </a:r>
            <a:endParaRPr b="1" i="0" sz="7950" u="none" cap="none" strike="noStrike">
              <a:latin typeface="Georgia"/>
              <a:ea typeface="Georgia"/>
              <a:cs typeface="Georgia"/>
              <a:sym typeface="Georgia"/>
            </a:endParaRPr>
          </a:p>
        </p:txBody>
      </p:sp>
      <p:sp>
        <p:nvSpPr>
          <p:cNvPr id="57" name="Google Shape;57;p13"/>
          <p:cNvSpPr/>
          <p:nvPr/>
        </p:nvSpPr>
        <p:spPr>
          <a:xfrm>
            <a:off x="793799" y="4553990"/>
            <a:ext cx="7493400" cy="567000"/>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1B1B27"/>
              </a:buClr>
              <a:buSzPts val="3550"/>
              <a:buFont typeface="Raleway"/>
              <a:buNone/>
            </a:pPr>
            <a:r>
              <a:rPr b="0" i="0" lang="en-US" sz="3950" u="none" cap="none" strike="noStrike">
                <a:solidFill>
                  <a:srgbClr val="1B1B27"/>
                </a:solidFill>
                <a:latin typeface="Raleway"/>
                <a:ea typeface="Raleway"/>
                <a:cs typeface="Raleway"/>
                <a:sym typeface="Raleway"/>
              </a:rPr>
              <a:t>moyin.dev Free Class</a:t>
            </a:r>
            <a:endParaRPr b="0" i="0" sz="3950" u="none" cap="none" strike="noStrike"/>
          </a:p>
        </p:txBody>
      </p:sp>
      <p:sp>
        <p:nvSpPr>
          <p:cNvPr id="58" name="Google Shape;58;p13"/>
          <p:cNvSpPr/>
          <p:nvPr/>
        </p:nvSpPr>
        <p:spPr>
          <a:xfrm>
            <a:off x="793790" y="5509379"/>
            <a:ext cx="13042800" cy="906900"/>
          </a:xfrm>
          <a:prstGeom prst="rect">
            <a:avLst/>
          </a:prstGeom>
          <a:noFill/>
          <a:ln>
            <a:noFill/>
          </a:ln>
        </p:spPr>
        <p:txBody>
          <a:bodyPr anchorCtr="0" anchor="t" bIns="0" lIns="0" spcFirstLastPara="1" rIns="0" wrap="square" tIns="0">
            <a:noAutofit/>
          </a:bodyPr>
          <a:lstStyle/>
          <a:p>
            <a:pPr indent="0" lvl="0" marL="0" marR="0" rtl="0" algn="l">
              <a:lnSpc>
                <a:spcPct val="161363"/>
              </a:lnSpc>
              <a:spcBef>
                <a:spcPts val="0"/>
              </a:spcBef>
              <a:spcAft>
                <a:spcPts val="0"/>
              </a:spcAft>
              <a:buClr>
                <a:srgbClr val="3C3939"/>
              </a:buClr>
              <a:buSzPts val="2200"/>
              <a:buFont typeface="Roboto"/>
              <a:buNone/>
            </a:pPr>
            <a:r>
              <a:rPr b="1" i="0" lang="en-US" sz="3000" u="none" cap="none" strike="noStrike">
                <a:solidFill>
                  <a:srgbClr val="3C3939"/>
                </a:solidFill>
                <a:latin typeface="Georgia"/>
                <a:ea typeface="Georgia"/>
                <a:cs typeface="Georgia"/>
                <a:sym typeface="Georgia"/>
              </a:rPr>
              <a:t>By:</a:t>
            </a:r>
            <a:r>
              <a:rPr i="0" lang="en-US" sz="3000" u="none" cap="none" strike="noStrike">
                <a:solidFill>
                  <a:srgbClr val="3C3939"/>
                </a:solidFill>
                <a:latin typeface="Georgia"/>
                <a:ea typeface="Georgia"/>
                <a:cs typeface="Georgia"/>
                <a:sym typeface="Georgia"/>
              </a:rPr>
              <a:t> Moyinoluwalogo Oladipo</a:t>
            </a:r>
            <a:endParaRPr i="0" sz="3000" u="none" cap="none" strike="noStrike">
              <a:latin typeface="Georgia"/>
              <a:ea typeface="Georgia"/>
              <a:cs typeface="Georgia"/>
              <a:sym typeface="Georgia"/>
            </a:endParaRPr>
          </a:p>
        </p:txBody>
      </p:sp>
      <p:sp>
        <p:nvSpPr>
          <p:cNvPr id="59" name="Google Shape;59;p13"/>
          <p:cNvSpPr/>
          <p:nvPr/>
        </p:nvSpPr>
        <p:spPr>
          <a:xfrm>
            <a:off x="793790" y="6248531"/>
            <a:ext cx="13042800" cy="3630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3C3939"/>
              </a:buClr>
              <a:buSzPts val="1750"/>
              <a:buFont typeface="Roboto"/>
              <a:buNone/>
            </a:pPr>
            <a:r>
              <a:rPr i="0" lang="en-US" sz="2550" u="none" cap="none" strike="noStrike">
                <a:solidFill>
                  <a:srgbClr val="3C3939"/>
                </a:solidFill>
                <a:latin typeface="Georgia"/>
                <a:ea typeface="Georgia"/>
                <a:cs typeface="Georgia"/>
                <a:sym typeface="Georgia"/>
              </a:rPr>
              <a:t>Lead Tutor, moyin.dev</a:t>
            </a:r>
            <a:endParaRPr i="0" sz="2550" u="none" cap="none" strike="noStrike">
              <a:latin typeface="Georgia"/>
              <a:ea typeface="Georgia"/>
              <a:cs typeface="Georgia"/>
              <a:sym typeface="Georgi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p:nvPr/>
        </p:nvSpPr>
        <p:spPr>
          <a:xfrm>
            <a:off x="376949" y="535650"/>
            <a:ext cx="7278600" cy="6087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B1B27"/>
              </a:buClr>
              <a:buSzPts val="3800"/>
              <a:buFont typeface="Raleway"/>
              <a:buNone/>
            </a:pPr>
            <a:r>
              <a:rPr b="1" i="0" lang="en-US" sz="4200" u="none" cap="none" strike="noStrike">
                <a:solidFill>
                  <a:schemeClr val="dk1"/>
                </a:solidFill>
                <a:latin typeface="Raleway"/>
                <a:ea typeface="Raleway"/>
                <a:cs typeface="Raleway"/>
                <a:sym typeface="Raleway"/>
              </a:rPr>
              <a:t>Welcome to moyin.dev!</a:t>
            </a:r>
            <a:endParaRPr b="1" i="0" sz="4200" u="none" cap="none" strike="noStrike">
              <a:solidFill>
                <a:schemeClr val="dk1"/>
              </a:solidFill>
            </a:endParaRPr>
          </a:p>
        </p:txBody>
      </p:sp>
      <p:sp>
        <p:nvSpPr>
          <p:cNvPr id="66" name="Google Shape;66;p14"/>
          <p:cNvSpPr/>
          <p:nvPr/>
        </p:nvSpPr>
        <p:spPr>
          <a:xfrm>
            <a:off x="453150" y="1615075"/>
            <a:ext cx="8623200" cy="650700"/>
          </a:xfrm>
          <a:prstGeom prst="rect">
            <a:avLst/>
          </a:prstGeom>
          <a:noFill/>
          <a:ln>
            <a:noFill/>
          </a:ln>
        </p:spPr>
        <p:txBody>
          <a:bodyPr anchorCtr="0" anchor="t" bIns="0" lIns="0" spcFirstLastPara="1" rIns="0" wrap="square" tIns="0">
            <a:noAutofit/>
          </a:bodyPr>
          <a:lstStyle/>
          <a:p>
            <a:pPr indent="0" lvl="0" marL="0" marR="0" rtl="0" algn="l">
              <a:lnSpc>
                <a:spcPct val="124590"/>
              </a:lnSpc>
              <a:spcBef>
                <a:spcPts val="0"/>
              </a:spcBef>
              <a:spcAft>
                <a:spcPts val="0"/>
              </a:spcAft>
              <a:buClr>
                <a:srgbClr val="1B1B27"/>
              </a:buClr>
              <a:buSzPts val="3207"/>
              <a:buFont typeface="Raleway"/>
              <a:buNone/>
            </a:pPr>
            <a:r>
              <a:rPr b="0" i="0" lang="en-US" sz="3627" u="none" cap="none" strike="noStrike">
                <a:solidFill>
                  <a:schemeClr val="dk1"/>
                </a:solidFill>
                <a:latin typeface="Raleway"/>
                <a:ea typeface="Raleway"/>
                <a:cs typeface="Raleway"/>
                <a:sym typeface="Raleway"/>
              </a:rPr>
              <a:t>What We Do at moyin.dev</a:t>
            </a:r>
            <a:endParaRPr b="0" i="0" sz="3627" u="none" cap="none" strike="noStrike">
              <a:solidFill>
                <a:schemeClr val="dk1"/>
              </a:solidFill>
            </a:endParaRPr>
          </a:p>
        </p:txBody>
      </p:sp>
      <p:sp>
        <p:nvSpPr>
          <p:cNvPr id="67" name="Google Shape;67;p14"/>
          <p:cNvSpPr/>
          <p:nvPr/>
        </p:nvSpPr>
        <p:spPr>
          <a:xfrm>
            <a:off x="453154" y="2656137"/>
            <a:ext cx="6871800" cy="1935900"/>
          </a:xfrm>
          <a:prstGeom prst="roundRect">
            <a:avLst>
              <a:gd fmla="val 5646" name="adj"/>
            </a:avLst>
          </a:prstGeom>
          <a:solidFill>
            <a:srgbClr val="E1E1EA"/>
          </a:solidFill>
          <a:ln cap="flat" cmpd="sng" w="10025">
            <a:solidFill>
              <a:srgbClr val="C7C7D0"/>
            </a:solidFill>
            <a:prstDash val="solid"/>
            <a:round/>
            <a:headEnd len="sm" w="sm" type="none"/>
            <a:tailEnd len="sm" w="sm" type="none"/>
          </a:ln>
        </p:spPr>
        <p:txBody>
          <a:bodyPr anchorCtr="0" anchor="ctr" bIns="96125" lIns="96125" spcFirstLastPara="1" rIns="96125" wrap="square" tIns="96125">
            <a:noAutofit/>
          </a:bodyPr>
          <a:lstStyle/>
          <a:p>
            <a:pPr indent="0" lvl="0" marL="0" rtl="0" algn="l">
              <a:spcBef>
                <a:spcPts val="0"/>
              </a:spcBef>
              <a:spcAft>
                <a:spcPts val="0"/>
              </a:spcAft>
              <a:buNone/>
            </a:pPr>
            <a:r>
              <a:t/>
            </a:r>
            <a:endParaRPr sz="1892">
              <a:solidFill>
                <a:schemeClr val="dk1"/>
              </a:solidFill>
              <a:latin typeface="EB Garamond SemiBold"/>
              <a:ea typeface="EB Garamond SemiBold"/>
              <a:cs typeface="EB Garamond SemiBold"/>
              <a:sym typeface="EB Garamond SemiBold"/>
            </a:endParaRPr>
          </a:p>
        </p:txBody>
      </p:sp>
      <p:sp>
        <p:nvSpPr>
          <p:cNvPr id="68" name="Google Shape;68;p14"/>
          <p:cNvSpPr/>
          <p:nvPr/>
        </p:nvSpPr>
        <p:spPr>
          <a:xfrm>
            <a:off x="665960" y="2849669"/>
            <a:ext cx="2559900" cy="406500"/>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3C3939"/>
              </a:buClr>
              <a:buSzPts val="1998"/>
              <a:buFont typeface="Raleway"/>
              <a:buNone/>
            </a:pPr>
            <a:r>
              <a:rPr i="0" lang="en-US" sz="2818" u="none" cap="none" strike="noStrike">
                <a:solidFill>
                  <a:schemeClr val="dk1"/>
                </a:solidFill>
                <a:latin typeface="EB Garamond SemiBold"/>
                <a:ea typeface="EB Garamond SemiBold"/>
                <a:cs typeface="EB Garamond SemiBold"/>
                <a:sym typeface="EB Garamond SemiBold"/>
              </a:rPr>
              <a:t>Practical Skills</a:t>
            </a:r>
            <a:endParaRPr i="0" sz="2818" u="none" cap="none" strike="noStrike">
              <a:solidFill>
                <a:schemeClr val="dk1"/>
              </a:solidFill>
              <a:latin typeface="EB Garamond SemiBold"/>
              <a:ea typeface="EB Garamond SemiBold"/>
              <a:cs typeface="EB Garamond SemiBold"/>
              <a:sym typeface="EB Garamond SemiBold"/>
            </a:endParaRPr>
          </a:p>
        </p:txBody>
      </p:sp>
      <p:sp>
        <p:nvSpPr>
          <p:cNvPr id="69" name="Google Shape;69;p14"/>
          <p:cNvSpPr/>
          <p:nvPr/>
        </p:nvSpPr>
        <p:spPr>
          <a:xfrm>
            <a:off x="665960" y="3412352"/>
            <a:ext cx="6446100" cy="832800"/>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3C3939"/>
              </a:buClr>
              <a:buSzPts val="1577"/>
              <a:buFont typeface="Roboto"/>
              <a:buNone/>
            </a:pPr>
            <a:r>
              <a:rPr i="0" lang="en-US" sz="2397" u="none" cap="none" strike="noStrike">
                <a:solidFill>
                  <a:schemeClr val="dk1"/>
                </a:solidFill>
                <a:latin typeface="EB Garamond SemiBold"/>
                <a:ea typeface="EB Garamond SemiBold"/>
                <a:cs typeface="EB Garamond SemiBold"/>
                <a:sym typeface="EB Garamond SemiBold"/>
              </a:rPr>
              <a:t>Equipping learners with hands-on tech skills that are immediately applicable in the real world.</a:t>
            </a:r>
            <a:endParaRPr i="0" sz="2397" u="none" cap="none" strike="noStrike">
              <a:solidFill>
                <a:schemeClr val="dk1"/>
              </a:solidFill>
              <a:latin typeface="EB Garamond SemiBold"/>
              <a:ea typeface="EB Garamond SemiBold"/>
              <a:cs typeface="EB Garamond SemiBold"/>
              <a:sym typeface="EB Garamond SemiBold"/>
            </a:endParaRPr>
          </a:p>
        </p:txBody>
      </p:sp>
      <p:sp>
        <p:nvSpPr>
          <p:cNvPr id="70" name="Google Shape;70;p14"/>
          <p:cNvSpPr/>
          <p:nvPr/>
        </p:nvSpPr>
        <p:spPr>
          <a:xfrm>
            <a:off x="7529852" y="2656137"/>
            <a:ext cx="6871800" cy="1935900"/>
          </a:xfrm>
          <a:prstGeom prst="roundRect">
            <a:avLst>
              <a:gd fmla="val 5646" name="adj"/>
            </a:avLst>
          </a:prstGeom>
          <a:solidFill>
            <a:srgbClr val="E1E1EA"/>
          </a:solidFill>
          <a:ln cap="flat" cmpd="sng" w="10025">
            <a:solidFill>
              <a:srgbClr val="C7C7D0"/>
            </a:solidFill>
            <a:prstDash val="solid"/>
            <a:round/>
            <a:headEnd len="sm" w="sm" type="none"/>
            <a:tailEnd len="sm" w="sm" type="none"/>
          </a:ln>
        </p:spPr>
        <p:txBody>
          <a:bodyPr anchorCtr="0" anchor="ctr" bIns="96125" lIns="96125" spcFirstLastPara="1" rIns="96125" wrap="square" tIns="96125">
            <a:noAutofit/>
          </a:bodyPr>
          <a:lstStyle/>
          <a:p>
            <a:pPr indent="0" lvl="0" marL="0" rtl="0" algn="l">
              <a:spcBef>
                <a:spcPts val="0"/>
              </a:spcBef>
              <a:spcAft>
                <a:spcPts val="0"/>
              </a:spcAft>
              <a:buNone/>
            </a:pPr>
            <a:r>
              <a:t/>
            </a:r>
            <a:endParaRPr sz="1892">
              <a:solidFill>
                <a:schemeClr val="dk1"/>
              </a:solidFill>
              <a:latin typeface="EB Garamond SemiBold"/>
              <a:ea typeface="EB Garamond SemiBold"/>
              <a:cs typeface="EB Garamond SemiBold"/>
              <a:sym typeface="EB Garamond SemiBold"/>
            </a:endParaRPr>
          </a:p>
        </p:txBody>
      </p:sp>
      <p:sp>
        <p:nvSpPr>
          <p:cNvPr id="71" name="Google Shape;71;p14"/>
          <p:cNvSpPr/>
          <p:nvPr/>
        </p:nvSpPr>
        <p:spPr>
          <a:xfrm>
            <a:off x="7742658" y="2849669"/>
            <a:ext cx="2559900" cy="406500"/>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3C3939"/>
              </a:buClr>
              <a:buSzPts val="1998"/>
              <a:buFont typeface="Raleway"/>
              <a:buNone/>
            </a:pPr>
            <a:r>
              <a:rPr i="0" lang="en-US" sz="2818" u="none" cap="none" strike="noStrike">
                <a:solidFill>
                  <a:schemeClr val="dk1"/>
                </a:solidFill>
                <a:latin typeface="EB Garamond SemiBold"/>
                <a:ea typeface="EB Garamond SemiBold"/>
                <a:cs typeface="EB Garamond SemiBold"/>
                <a:sym typeface="EB Garamond SemiBold"/>
              </a:rPr>
              <a:t>Product Building</a:t>
            </a:r>
            <a:endParaRPr i="0" sz="2818" u="none" cap="none" strike="noStrike">
              <a:solidFill>
                <a:schemeClr val="dk1"/>
              </a:solidFill>
              <a:latin typeface="EB Garamond SemiBold"/>
              <a:ea typeface="EB Garamond SemiBold"/>
              <a:cs typeface="EB Garamond SemiBold"/>
              <a:sym typeface="EB Garamond SemiBold"/>
            </a:endParaRPr>
          </a:p>
        </p:txBody>
      </p:sp>
      <p:sp>
        <p:nvSpPr>
          <p:cNvPr id="72" name="Google Shape;72;p14"/>
          <p:cNvSpPr/>
          <p:nvPr/>
        </p:nvSpPr>
        <p:spPr>
          <a:xfrm>
            <a:off x="7742658" y="3412352"/>
            <a:ext cx="6446100" cy="832800"/>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3C3939"/>
              </a:buClr>
              <a:buSzPts val="1577"/>
              <a:buFont typeface="Roboto"/>
              <a:buNone/>
            </a:pPr>
            <a:r>
              <a:rPr i="0" lang="en-US" sz="2397" u="none" cap="none" strike="noStrike">
                <a:solidFill>
                  <a:schemeClr val="dk1"/>
                </a:solidFill>
                <a:latin typeface="EB Garamond SemiBold"/>
                <a:ea typeface="EB Garamond SemiBold"/>
                <a:cs typeface="EB Garamond SemiBold"/>
                <a:sym typeface="EB Garamond SemiBold"/>
              </a:rPr>
              <a:t>Fostering the creation of real-world AI/Data products from concept to completion.</a:t>
            </a:r>
            <a:endParaRPr i="0" sz="2397" u="none" cap="none" strike="noStrike">
              <a:solidFill>
                <a:schemeClr val="dk1"/>
              </a:solidFill>
              <a:latin typeface="EB Garamond SemiBold"/>
              <a:ea typeface="EB Garamond SemiBold"/>
              <a:cs typeface="EB Garamond SemiBold"/>
              <a:sym typeface="EB Garamond SemiBold"/>
            </a:endParaRPr>
          </a:p>
        </p:txBody>
      </p:sp>
      <p:sp>
        <p:nvSpPr>
          <p:cNvPr id="73" name="Google Shape;73;p14"/>
          <p:cNvSpPr/>
          <p:nvPr/>
        </p:nvSpPr>
        <p:spPr>
          <a:xfrm>
            <a:off x="453154" y="4852622"/>
            <a:ext cx="6871800" cy="1935900"/>
          </a:xfrm>
          <a:prstGeom prst="roundRect">
            <a:avLst>
              <a:gd fmla="val 5646" name="adj"/>
            </a:avLst>
          </a:prstGeom>
          <a:solidFill>
            <a:srgbClr val="E1E1EA"/>
          </a:solidFill>
          <a:ln cap="flat" cmpd="sng" w="10025">
            <a:solidFill>
              <a:srgbClr val="C7C7D0"/>
            </a:solidFill>
            <a:prstDash val="solid"/>
            <a:round/>
            <a:headEnd len="sm" w="sm" type="none"/>
            <a:tailEnd len="sm" w="sm" type="none"/>
          </a:ln>
        </p:spPr>
        <p:txBody>
          <a:bodyPr anchorCtr="0" anchor="ctr" bIns="96125" lIns="96125" spcFirstLastPara="1" rIns="96125" wrap="square" tIns="96125">
            <a:noAutofit/>
          </a:bodyPr>
          <a:lstStyle/>
          <a:p>
            <a:pPr indent="0" lvl="0" marL="0" rtl="0" algn="l">
              <a:spcBef>
                <a:spcPts val="0"/>
              </a:spcBef>
              <a:spcAft>
                <a:spcPts val="0"/>
              </a:spcAft>
              <a:buNone/>
            </a:pPr>
            <a:r>
              <a:t/>
            </a:r>
            <a:endParaRPr sz="1892">
              <a:solidFill>
                <a:schemeClr val="dk1"/>
              </a:solidFill>
              <a:latin typeface="EB Garamond SemiBold"/>
              <a:ea typeface="EB Garamond SemiBold"/>
              <a:cs typeface="EB Garamond SemiBold"/>
              <a:sym typeface="EB Garamond SemiBold"/>
            </a:endParaRPr>
          </a:p>
        </p:txBody>
      </p:sp>
      <p:sp>
        <p:nvSpPr>
          <p:cNvPr id="74" name="Google Shape;74;p14"/>
          <p:cNvSpPr/>
          <p:nvPr/>
        </p:nvSpPr>
        <p:spPr>
          <a:xfrm>
            <a:off x="665946" y="5046147"/>
            <a:ext cx="4225500" cy="406500"/>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3C3939"/>
              </a:buClr>
              <a:buSzPts val="1998"/>
              <a:buFont typeface="Raleway"/>
              <a:buNone/>
            </a:pPr>
            <a:r>
              <a:rPr i="0" lang="en-US" sz="2818" u="none" cap="none" strike="noStrike">
                <a:solidFill>
                  <a:schemeClr val="dk1"/>
                </a:solidFill>
                <a:latin typeface="EB Garamond SemiBold"/>
                <a:ea typeface="EB Garamond SemiBold"/>
                <a:cs typeface="EB Garamond SemiBold"/>
                <a:sym typeface="EB Garamond SemiBold"/>
              </a:rPr>
              <a:t>Mentorship &amp; Growth</a:t>
            </a:r>
            <a:endParaRPr i="0" sz="2818" u="none" cap="none" strike="noStrike">
              <a:solidFill>
                <a:schemeClr val="dk1"/>
              </a:solidFill>
              <a:latin typeface="EB Garamond SemiBold"/>
              <a:ea typeface="EB Garamond SemiBold"/>
              <a:cs typeface="EB Garamond SemiBold"/>
              <a:sym typeface="EB Garamond SemiBold"/>
            </a:endParaRPr>
          </a:p>
        </p:txBody>
      </p:sp>
      <p:sp>
        <p:nvSpPr>
          <p:cNvPr id="75" name="Google Shape;75;p14"/>
          <p:cNvSpPr/>
          <p:nvPr/>
        </p:nvSpPr>
        <p:spPr>
          <a:xfrm>
            <a:off x="665960" y="5608837"/>
            <a:ext cx="6446100" cy="832800"/>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3C3939"/>
              </a:buClr>
              <a:buSzPts val="1577"/>
              <a:buFont typeface="Roboto"/>
              <a:buNone/>
            </a:pPr>
            <a:r>
              <a:rPr i="0" lang="en-US" sz="2397" u="none" cap="none" strike="noStrike">
                <a:solidFill>
                  <a:schemeClr val="dk1"/>
                </a:solidFill>
                <a:latin typeface="EB Garamond SemiBold"/>
                <a:ea typeface="EB Garamond SemiBold"/>
                <a:cs typeface="EB Garamond SemiBold"/>
                <a:sym typeface="EB Garamond SemiBold"/>
              </a:rPr>
              <a:t>Providing structured mentorship and clear growth pathways for aspiring professionals.</a:t>
            </a:r>
            <a:endParaRPr i="0" sz="2397" u="none" cap="none" strike="noStrike">
              <a:solidFill>
                <a:schemeClr val="dk1"/>
              </a:solidFill>
              <a:latin typeface="EB Garamond SemiBold"/>
              <a:ea typeface="EB Garamond SemiBold"/>
              <a:cs typeface="EB Garamond SemiBold"/>
              <a:sym typeface="EB Garamond SemiBold"/>
            </a:endParaRPr>
          </a:p>
        </p:txBody>
      </p:sp>
      <p:sp>
        <p:nvSpPr>
          <p:cNvPr id="76" name="Google Shape;76;p14"/>
          <p:cNvSpPr/>
          <p:nvPr/>
        </p:nvSpPr>
        <p:spPr>
          <a:xfrm>
            <a:off x="7529852" y="4852622"/>
            <a:ext cx="6871800" cy="1935900"/>
          </a:xfrm>
          <a:prstGeom prst="roundRect">
            <a:avLst>
              <a:gd fmla="val 5646" name="adj"/>
            </a:avLst>
          </a:prstGeom>
          <a:solidFill>
            <a:srgbClr val="E1E1EA"/>
          </a:solidFill>
          <a:ln cap="flat" cmpd="sng" w="10025">
            <a:solidFill>
              <a:srgbClr val="C7C7D0"/>
            </a:solidFill>
            <a:prstDash val="solid"/>
            <a:round/>
            <a:headEnd len="sm" w="sm" type="none"/>
            <a:tailEnd len="sm" w="sm" type="none"/>
          </a:ln>
        </p:spPr>
        <p:txBody>
          <a:bodyPr anchorCtr="0" anchor="ctr" bIns="96125" lIns="96125" spcFirstLastPara="1" rIns="96125" wrap="square" tIns="96125">
            <a:noAutofit/>
          </a:bodyPr>
          <a:lstStyle/>
          <a:p>
            <a:pPr indent="0" lvl="0" marL="0" rtl="0" algn="l">
              <a:spcBef>
                <a:spcPts val="0"/>
              </a:spcBef>
              <a:spcAft>
                <a:spcPts val="0"/>
              </a:spcAft>
              <a:buNone/>
            </a:pPr>
            <a:r>
              <a:t/>
            </a:r>
            <a:endParaRPr sz="1892">
              <a:solidFill>
                <a:schemeClr val="dk1"/>
              </a:solidFill>
              <a:latin typeface="EB Garamond SemiBold"/>
              <a:ea typeface="EB Garamond SemiBold"/>
              <a:cs typeface="EB Garamond SemiBold"/>
              <a:sym typeface="EB Garamond SemiBold"/>
            </a:endParaRPr>
          </a:p>
        </p:txBody>
      </p:sp>
      <p:sp>
        <p:nvSpPr>
          <p:cNvPr id="77" name="Google Shape;77;p14"/>
          <p:cNvSpPr/>
          <p:nvPr/>
        </p:nvSpPr>
        <p:spPr>
          <a:xfrm>
            <a:off x="7742658" y="5046154"/>
            <a:ext cx="2559900" cy="406500"/>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3C3939"/>
              </a:buClr>
              <a:buSzPts val="1998"/>
              <a:buFont typeface="Raleway"/>
              <a:buNone/>
            </a:pPr>
            <a:r>
              <a:rPr i="0" lang="en-US" sz="2818" u="none" cap="none" strike="noStrike">
                <a:solidFill>
                  <a:schemeClr val="dk1"/>
                </a:solidFill>
                <a:latin typeface="EB Garamond SemiBold"/>
                <a:ea typeface="EB Garamond SemiBold"/>
                <a:cs typeface="EB Garamond SemiBold"/>
                <a:sym typeface="EB Garamond SemiBold"/>
              </a:rPr>
              <a:t>Community</a:t>
            </a:r>
            <a:endParaRPr i="0" sz="2818" u="none" cap="none" strike="noStrike">
              <a:solidFill>
                <a:schemeClr val="dk1"/>
              </a:solidFill>
              <a:latin typeface="EB Garamond SemiBold"/>
              <a:ea typeface="EB Garamond SemiBold"/>
              <a:cs typeface="EB Garamond SemiBold"/>
              <a:sym typeface="EB Garamond SemiBold"/>
            </a:endParaRPr>
          </a:p>
        </p:txBody>
      </p:sp>
      <p:sp>
        <p:nvSpPr>
          <p:cNvPr id="78" name="Google Shape;78;p14"/>
          <p:cNvSpPr/>
          <p:nvPr/>
        </p:nvSpPr>
        <p:spPr>
          <a:xfrm>
            <a:off x="7742658" y="5608837"/>
            <a:ext cx="6446100" cy="832800"/>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3C3939"/>
              </a:buClr>
              <a:buSzPts val="1577"/>
              <a:buFont typeface="Roboto"/>
              <a:buNone/>
            </a:pPr>
            <a:r>
              <a:rPr i="0" lang="en-US" sz="2397" u="none" cap="none" strike="noStrike">
                <a:solidFill>
                  <a:schemeClr val="dk1"/>
                </a:solidFill>
                <a:latin typeface="EB Garamond SemiBold"/>
                <a:ea typeface="EB Garamond SemiBold"/>
                <a:cs typeface="EB Garamond SemiBold"/>
                <a:sym typeface="EB Garamond SemiBold"/>
              </a:rPr>
              <a:t>Cultivating a vibrant community of innovative builders, problem-solvers, and tech enthusiasts.</a:t>
            </a:r>
            <a:endParaRPr i="0" sz="2397" u="none" cap="none" strike="noStrike">
              <a:solidFill>
                <a:schemeClr val="dk1"/>
              </a:solidFill>
              <a:latin typeface="EB Garamond SemiBold"/>
              <a:ea typeface="EB Garamond SemiBold"/>
              <a:cs typeface="EB Garamond SemiBold"/>
              <a:sym typeface="EB Garamond SemiBold"/>
            </a:endParaRPr>
          </a:p>
        </p:txBody>
      </p:sp>
      <p:sp>
        <p:nvSpPr>
          <p:cNvPr id="79" name="Google Shape;79;p14"/>
          <p:cNvSpPr/>
          <p:nvPr/>
        </p:nvSpPr>
        <p:spPr>
          <a:xfrm>
            <a:off x="453154" y="7081559"/>
            <a:ext cx="13948500" cy="416400"/>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3C3939"/>
              </a:buClr>
              <a:buSzPts val="1577"/>
              <a:buFont typeface="Roboto"/>
              <a:buNone/>
            </a:pPr>
            <a:r>
              <a:rPr i="0" lang="en-US" sz="2597" u="none" cap="none" strike="noStrike">
                <a:solidFill>
                  <a:schemeClr val="dk1"/>
                </a:solidFill>
                <a:latin typeface="EB Garamond SemiBold"/>
                <a:ea typeface="EB Garamond SemiBold"/>
                <a:cs typeface="EB Garamond SemiBold"/>
                <a:sym typeface="EB Garamond SemiBold"/>
              </a:rPr>
              <a:t>Our Mission: To empower developers to create digital products that truly make an impact.</a:t>
            </a:r>
            <a:endParaRPr i="0" sz="2597" u="none" cap="none" strike="noStrike">
              <a:solidFill>
                <a:schemeClr val="dk1"/>
              </a:solidFill>
              <a:latin typeface="EB Garamond SemiBold"/>
              <a:ea typeface="EB Garamond SemiBold"/>
              <a:cs typeface="EB Garamond SemiBold"/>
              <a:sym typeface="EB Garamond SemiBo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5"/>
          <p:cNvSpPr/>
          <p:nvPr/>
        </p:nvSpPr>
        <p:spPr>
          <a:xfrm>
            <a:off x="679978" y="229425"/>
            <a:ext cx="6396000" cy="6072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B1B27"/>
              </a:buClr>
              <a:buSzPts val="3800"/>
              <a:buFont typeface="Raleway"/>
              <a:buNone/>
            </a:pPr>
            <a:r>
              <a:rPr b="1" i="0" lang="en-US" sz="3800" u="none" cap="none" strike="noStrike">
                <a:solidFill>
                  <a:schemeClr val="dk1"/>
                </a:solidFill>
                <a:latin typeface="Raleway"/>
                <a:ea typeface="Raleway"/>
                <a:cs typeface="Raleway"/>
                <a:sym typeface="Raleway"/>
              </a:rPr>
              <a:t>What is Data Science?</a:t>
            </a:r>
            <a:endParaRPr b="1" i="0" sz="3800" u="none" cap="none" strike="noStrike">
              <a:solidFill>
                <a:schemeClr val="dk1"/>
              </a:solidFill>
            </a:endParaRPr>
          </a:p>
        </p:txBody>
      </p:sp>
      <p:sp>
        <p:nvSpPr>
          <p:cNvPr id="86" name="Google Shape;86;p15"/>
          <p:cNvSpPr/>
          <p:nvPr/>
        </p:nvSpPr>
        <p:spPr>
          <a:xfrm>
            <a:off x="679966" y="914281"/>
            <a:ext cx="9958200" cy="485700"/>
          </a:xfrm>
          <a:prstGeom prst="rect">
            <a:avLst/>
          </a:prstGeom>
          <a:noFill/>
          <a:ln>
            <a:noFill/>
          </a:ln>
        </p:spPr>
        <p:txBody>
          <a:bodyPr anchorCtr="0" anchor="t" bIns="0" lIns="0" spcFirstLastPara="1" rIns="0" wrap="square" tIns="0">
            <a:noAutofit/>
          </a:bodyPr>
          <a:lstStyle/>
          <a:p>
            <a:pPr indent="0" lvl="0" marL="0" marR="0" rtl="0" algn="l">
              <a:lnSpc>
                <a:spcPct val="124590"/>
              </a:lnSpc>
              <a:spcBef>
                <a:spcPts val="0"/>
              </a:spcBef>
              <a:spcAft>
                <a:spcPts val="0"/>
              </a:spcAft>
              <a:buClr>
                <a:srgbClr val="1B1B27"/>
              </a:buClr>
              <a:buSzPts val="3050"/>
              <a:buFont typeface="Raleway"/>
              <a:buNone/>
            </a:pPr>
            <a:r>
              <a:rPr b="0" i="0" lang="en-US" sz="3050" u="none" cap="none" strike="noStrike">
                <a:solidFill>
                  <a:schemeClr val="dk1"/>
                </a:solidFill>
                <a:latin typeface="Raleway"/>
                <a:ea typeface="Raleway"/>
                <a:cs typeface="Raleway"/>
                <a:sym typeface="Raleway"/>
              </a:rPr>
              <a:t>Data Science = Extracting meaningful insights from data</a:t>
            </a:r>
            <a:endParaRPr b="0" i="0" sz="3050" u="none" cap="none" strike="noStrike">
              <a:solidFill>
                <a:schemeClr val="dk1"/>
              </a:solidFill>
            </a:endParaRPr>
          </a:p>
        </p:txBody>
      </p:sp>
      <p:sp>
        <p:nvSpPr>
          <p:cNvPr id="87" name="Google Shape;87;p15"/>
          <p:cNvSpPr/>
          <p:nvPr/>
        </p:nvSpPr>
        <p:spPr>
          <a:xfrm>
            <a:off x="1882634" y="2249010"/>
            <a:ext cx="2677500" cy="333300"/>
          </a:xfrm>
          <a:prstGeom prst="rect">
            <a:avLst/>
          </a:prstGeom>
          <a:noFill/>
          <a:ln>
            <a:noFill/>
          </a:ln>
        </p:spPr>
        <p:txBody>
          <a:bodyPr anchorCtr="0" anchor="t" bIns="0" lIns="0" spcFirstLastPara="1" rIns="0" wrap="square" tIns="0">
            <a:noAutofit/>
          </a:bodyPr>
          <a:lstStyle/>
          <a:p>
            <a:pPr indent="0" lvl="0" marL="0" marR="0" rtl="0" algn="r">
              <a:lnSpc>
                <a:spcPct val="123684"/>
              </a:lnSpc>
              <a:spcBef>
                <a:spcPts val="0"/>
              </a:spcBef>
              <a:spcAft>
                <a:spcPts val="0"/>
              </a:spcAft>
              <a:buClr>
                <a:srgbClr val="3C3939"/>
              </a:buClr>
              <a:buSzPts val="2049"/>
              <a:buFont typeface="Raleway"/>
              <a:buNone/>
            </a:pPr>
            <a:r>
              <a:rPr i="0" lang="en-US" sz="2649" u="none" cap="none" strike="noStrike">
                <a:solidFill>
                  <a:schemeClr val="dk1"/>
                </a:solidFill>
                <a:latin typeface="EB Garamond SemiBold"/>
                <a:ea typeface="EB Garamond SemiBold"/>
                <a:cs typeface="EB Garamond SemiBold"/>
                <a:sym typeface="EB Garamond SemiBold"/>
              </a:rPr>
              <a:t>Statistics</a:t>
            </a:r>
            <a:endParaRPr i="0" sz="2649" u="none" cap="none" strike="noStrike">
              <a:solidFill>
                <a:schemeClr val="dk1"/>
              </a:solidFill>
              <a:latin typeface="EB Garamond SemiBold"/>
              <a:ea typeface="EB Garamond SemiBold"/>
              <a:cs typeface="EB Garamond SemiBold"/>
              <a:sym typeface="EB Garamond SemiBold"/>
            </a:endParaRPr>
          </a:p>
        </p:txBody>
      </p:sp>
      <p:sp>
        <p:nvSpPr>
          <p:cNvPr id="88" name="Google Shape;88;p15"/>
          <p:cNvSpPr/>
          <p:nvPr/>
        </p:nvSpPr>
        <p:spPr>
          <a:xfrm>
            <a:off x="126475" y="2710484"/>
            <a:ext cx="4433700" cy="1024800"/>
          </a:xfrm>
          <a:prstGeom prst="rect">
            <a:avLst/>
          </a:prstGeom>
          <a:noFill/>
          <a:ln>
            <a:noFill/>
          </a:ln>
        </p:spPr>
        <p:txBody>
          <a:bodyPr anchorCtr="0" anchor="t" bIns="0" lIns="0" spcFirstLastPara="1" rIns="0" wrap="square" tIns="0">
            <a:noAutofit/>
          </a:bodyPr>
          <a:lstStyle/>
          <a:p>
            <a:pPr indent="0" lvl="0" marL="0" marR="0" rtl="0" algn="r">
              <a:lnSpc>
                <a:spcPct val="160000"/>
              </a:lnSpc>
              <a:spcBef>
                <a:spcPts val="0"/>
              </a:spcBef>
              <a:spcAft>
                <a:spcPts val="0"/>
              </a:spcAft>
              <a:buClr>
                <a:srgbClr val="3C3939"/>
              </a:buClr>
              <a:buSzPts val="1618"/>
              <a:buFont typeface="Roboto"/>
              <a:buNone/>
            </a:pPr>
            <a:r>
              <a:rPr i="0" lang="en-US" sz="2217" u="none" cap="none" strike="noStrike">
                <a:solidFill>
                  <a:schemeClr val="dk1"/>
                </a:solidFill>
                <a:latin typeface="EB Garamond SemiBold"/>
                <a:ea typeface="EB Garamond SemiBold"/>
                <a:cs typeface="EB Garamond SemiBold"/>
                <a:sym typeface="EB Garamond SemiBold"/>
              </a:rPr>
              <a:t>The mathematical foundation for understanding data trends and making inferences.</a:t>
            </a:r>
            <a:endParaRPr i="0" sz="2217" u="none" cap="none" strike="noStrike">
              <a:solidFill>
                <a:schemeClr val="dk1"/>
              </a:solidFill>
              <a:latin typeface="EB Garamond SemiBold"/>
              <a:ea typeface="EB Garamond SemiBold"/>
              <a:cs typeface="EB Garamond SemiBold"/>
              <a:sym typeface="EB Garamond SemiBold"/>
            </a:endParaRPr>
          </a:p>
        </p:txBody>
      </p:sp>
      <p:pic>
        <p:nvPicPr>
          <p:cNvPr descr="preencoded.png" id="89" name="Google Shape;89;p15"/>
          <p:cNvPicPr preferRelativeResize="0"/>
          <p:nvPr/>
        </p:nvPicPr>
        <p:blipFill rotWithShape="1">
          <a:blip r:embed="rId3">
            <a:alphaModFix/>
          </a:blip>
          <a:srcRect b="0" l="0" r="0" t="0"/>
          <a:stretch/>
        </p:blipFill>
        <p:spPr>
          <a:xfrm>
            <a:off x="4881323" y="1711300"/>
            <a:ext cx="5120538" cy="5101186"/>
          </a:xfrm>
          <a:prstGeom prst="rect">
            <a:avLst/>
          </a:prstGeom>
          <a:noFill/>
          <a:ln>
            <a:noFill/>
          </a:ln>
        </p:spPr>
      </p:pic>
      <p:pic>
        <p:nvPicPr>
          <p:cNvPr descr="preencoded.png" id="90" name="Google Shape;90;p15"/>
          <p:cNvPicPr preferRelativeResize="0"/>
          <p:nvPr/>
        </p:nvPicPr>
        <p:blipFill rotWithShape="1">
          <a:blip r:embed="rId4">
            <a:alphaModFix/>
          </a:blip>
          <a:srcRect b="0" l="0" r="0" t="0"/>
          <a:stretch/>
        </p:blipFill>
        <p:spPr>
          <a:xfrm>
            <a:off x="6014052" y="2839615"/>
            <a:ext cx="320411" cy="319201"/>
          </a:xfrm>
          <a:prstGeom prst="rect">
            <a:avLst/>
          </a:prstGeom>
          <a:noFill/>
          <a:ln>
            <a:noFill/>
          </a:ln>
        </p:spPr>
      </p:pic>
      <p:sp>
        <p:nvSpPr>
          <p:cNvPr id="91" name="Google Shape;91;p15"/>
          <p:cNvSpPr/>
          <p:nvPr/>
        </p:nvSpPr>
        <p:spPr>
          <a:xfrm>
            <a:off x="10323067" y="2419791"/>
            <a:ext cx="2677500" cy="333300"/>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3C3939"/>
              </a:buClr>
              <a:buSzPts val="2049"/>
              <a:buFont typeface="Raleway"/>
              <a:buNone/>
            </a:pPr>
            <a:r>
              <a:rPr i="0" lang="en-US" sz="2649" u="none" cap="none" strike="noStrike">
                <a:solidFill>
                  <a:schemeClr val="dk1"/>
                </a:solidFill>
                <a:latin typeface="EB Garamond SemiBold"/>
                <a:ea typeface="EB Garamond SemiBold"/>
                <a:cs typeface="EB Garamond SemiBold"/>
                <a:sym typeface="EB Garamond SemiBold"/>
              </a:rPr>
              <a:t>Programming</a:t>
            </a:r>
            <a:endParaRPr i="0" sz="2649" u="none" cap="none" strike="noStrike">
              <a:solidFill>
                <a:schemeClr val="dk1"/>
              </a:solidFill>
              <a:latin typeface="EB Garamond SemiBold"/>
              <a:ea typeface="EB Garamond SemiBold"/>
              <a:cs typeface="EB Garamond SemiBold"/>
              <a:sym typeface="EB Garamond SemiBold"/>
            </a:endParaRPr>
          </a:p>
        </p:txBody>
      </p:sp>
      <p:sp>
        <p:nvSpPr>
          <p:cNvPr id="92" name="Google Shape;92;p15"/>
          <p:cNvSpPr/>
          <p:nvPr/>
        </p:nvSpPr>
        <p:spPr>
          <a:xfrm>
            <a:off x="10323067" y="2881264"/>
            <a:ext cx="4433700" cy="6825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3C3939"/>
              </a:buClr>
              <a:buSzPts val="1618"/>
              <a:buFont typeface="Roboto"/>
              <a:buNone/>
            </a:pPr>
            <a:r>
              <a:rPr i="0" lang="en-US" sz="2217" u="none" cap="none" strike="noStrike">
                <a:solidFill>
                  <a:schemeClr val="dk1"/>
                </a:solidFill>
                <a:latin typeface="EB Garamond SemiBold"/>
                <a:ea typeface="EB Garamond SemiBold"/>
                <a:cs typeface="EB Garamond SemiBold"/>
                <a:sym typeface="EB Garamond SemiBold"/>
              </a:rPr>
              <a:t>Utilizing languages like Python or R to manipulate, analyze, and visualize data.</a:t>
            </a:r>
            <a:endParaRPr i="0" sz="2217" u="none" cap="none" strike="noStrike">
              <a:solidFill>
                <a:schemeClr val="dk1"/>
              </a:solidFill>
              <a:latin typeface="EB Garamond SemiBold"/>
              <a:ea typeface="EB Garamond SemiBold"/>
              <a:cs typeface="EB Garamond SemiBold"/>
              <a:sym typeface="EB Garamond SemiBold"/>
            </a:endParaRPr>
          </a:p>
        </p:txBody>
      </p:sp>
      <p:pic>
        <p:nvPicPr>
          <p:cNvPr descr="preencoded.png" id="93" name="Google Shape;93;p15"/>
          <p:cNvPicPr preferRelativeResize="0"/>
          <p:nvPr/>
        </p:nvPicPr>
        <p:blipFill rotWithShape="1">
          <a:blip r:embed="rId5">
            <a:alphaModFix/>
          </a:blip>
          <a:srcRect b="0" l="0" r="0" t="0"/>
          <a:stretch/>
        </p:blipFill>
        <p:spPr>
          <a:xfrm>
            <a:off x="4881323" y="1711300"/>
            <a:ext cx="5120538" cy="5101186"/>
          </a:xfrm>
          <a:prstGeom prst="rect">
            <a:avLst/>
          </a:prstGeom>
          <a:noFill/>
          <a:ln>
            <a:noFill/>
          </a:ln>
        </p:spPr>
      </p:pic>
      <p:pic>
        <p:nvPicPr>
          <p:cNvPr descr="preencoded.png" id="94" name="Google Shape;94;p15"/>
          <p:cNvPicPr preferRelativeResize="0"/>
          <p:nvPr/>
        </p:nvPicPr>
        <p:blipFill rotWithShape="1">
          <a:blip r:embed="rId6">
            <a:alphaModFix/>
          </a:blip>
          <a:srcRect b="0" l="0" r="0" t="0"/>
          <a:stretch/>
        </p:blipFill>
        <p:spPr>
          <a:xfrm>
            <a:off x="8548597" y="2839615"/>
            <a:ext cx="320411" cy="319201"/>
          </a:xfrm>
          <a:prstGeom prst="rect">
            <a:avLst/>
          </a:prstGeom>
          <a:noFill/>
          <a:ln>
            <a:noFill/>
          </a:ln>
        </p:spPr>
      </p:pic>
      <p:sp>
        <p:nvSpPr>
          <p:cNvPr id="95" name="Google Shape;95;p15"/>
          <p:cNvSpPr/>
          <p:nvPr/>
        </p:nvSpPr>
        <p:spPr>
          <a:xfrm>
            <a:off x="10323067" y="4444510"/>
            <a:ext cx="2677500" cy="333300"/>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3C3939"/>
              </a:buClr>
              <a:buSzPts val="2049"/>
              <a:buFont typeface="Raleway"/>
              <a:buNone/>
            </a:pPr>
            <a:r>
              <a:rPr i="0" lang="en-US" sz="2649" u="none" cap="none" strike="noStrike">
                <a:solidFill>
                  <a:schemeClr val="dk1"/>
                </a:solidFill>
                <a:latin typeface="EB Garamond SemiBold"/>
                <a:ea typeface="EB Garamond SemiBold"/>
                <a:cs typeface="EB Garamond SemiBold"/>
                <a:sym typeface="EB Garamond SemiBold"/>
              </a:rPr>
              <a:t>Machine Learning</a:t>
            </a:r>
            <a:endParaRPr i="0" sz="2649" u="none" cap="none" strike="noStrike">
              <a:solidFill>
                <a:schemeClr val="dk1"/>
              </a:solidFill>
              <a:latin typeface="EB Garamond SemiBold"/>
              <a:ea typeface="EB Garamond SemiBold"/>
              <a:cs typeface="EB Garamond SemiBold"/>
              <a:sym typeface="EB Garamond SemiBold"/>
            </a:endParaRPr>
          </a:p>
        </p:txBody>
      </p:sp>
      <p:sp>
        <p:nvSpPr>
          <p:cNvPr id="96" name="Google Shape;96;p15"/>
          <p:cNvSpPr/>
          <p:nvPr/>
        </p:nvSpPr>
        <p:spPr>
          <a:xfrm>
            <a:off x="10323067" y="4905984"/>
            <a:ext cx="4433700" cy="6825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3C3939"/>
              </a:buClr>
              <a:buSzPts val="1618"/>
              <a:buFont typeface="Roboto"/>
              <a:buNone/>
            </a:pPr>
            <a:r>
              <a:rPr i="0" lang="en-US" sz="2217" u="none" cap="none" strike="noStrike">
                <a:solidFill>
                  <a:schemeClr val="dk1"/>
                </a:solidFill>
                <a:latin typeface="EB Garamond SemiBold"/>
                <a:ea typeface="EB Garamond SemiBold"/>
                <a:cs typeface="EB Garamond SemiBold"/>
                <a:sym typeface="EB Garamond SemiBold"/>
              </a:rPr>
              <a:t>Algorithms that enable systems to learn from data and make predictions or decisions.</a:t>
            </a:r>
            <a:endParaRPr i="0" sz="2217" u="none" cap="none" strike="noStrike">
              <a:solidFill>
                <a:schemeClr val="dk1"/>
              </a:solidFill>
              <a:latin typeface="EB Garamond SemiBold"/>
              <a:ea typeface="EB Garamond SemiBold"/>
              <a:cs typeface="EB Garamond SemiBold"/>
              <a:sym typeface="EB Garamond SemiBold"/>
            </a:endParaRPr>
          </a:p>
        </p:txBody>
      </p:sp>
      <p:pic>
        <p:nvPicPr>
          <p:cNvPr descr="preencoded.png" id="97" name="Google Shape;97;p15"/>
          <p:cNvPicPr preferRelativeResize="0"/>
          <p:nvPr/>
        </p:nvPicPr>
        <p:blipFill rotWithShape="1">
          <a:blip r:embed="rId7">
            <a:alphaModFix/>
          </a:blip>
          <a:srcRect b="0" l="0" r="0" t="0"/>
          <a:stretch/>
        </p:blipFill>
        <p:spPr>
          <a:xfrm>
            <a:off x="4881323" y="1711300"/>
            <a:ext cx="5120538" cy="5101186"/>
          </a:xfrm>
          <a:prstGeom prst="rect">
            <a:avLst/>
          </a:prstGeom>
          <a:noFill/>
          <a:ln>
            <a:noFill/>
          </a:ln>
        </p:spPr>
      </p:pic>
      <p:pic>
        <p:nvPicPr>
          <p:cNvPr descr="preencoded.png" id="98" name="Google Shape;98;p15"/>
          <p:cNvPicPr preferRelativeResize="0"/>
          <p:nvPr/>
        </p:nvPicPr>
        <p:blipFill rotWithShape="1">
          <a:blip r:embed="rId8">
            <a:alphaModFix/>
          </a:blip>
          <a:srcRect b="0" l="0" r="0" t="0"/>
          <a:stretch/>
        </p:blipFill>
        <p:spPr>
          <a:xfrm>
            <a:off x="8548597" y="5364578"/>
            <a:ext cx="320411" cy="319201"/>
          </a:xfrm>
          <a:prstGeom prst="rect">
            <a:avLst/>
          </a:prstGeom>
          <a:noFill/>
          <a:ln>
            <a:noFill/>
          </a:ln>
        </p:spPr>
      </p:pic>
      <p:sp>
        <p:nvSpPr>
          <p:cNvPr id="99" name="Google Shape;99;p15"/>
          <p:cNvSpPr/>
          <p:nvPr/>
        </p:nvSpPr>
        <p:spPr>
          <a:xfrm>
            <a:off x="679971" y="4444500"/>
            <a:ext cx="3880200" cy="333300"/>
          </a:xfrm>
          <a:prstGeom prst="rect">
            <a:avLst/>
          </a:prstGeom>
          <a:noFill/>
          <a:ln>
            <a:noFill/>
          </a:ln>
        </p:spPr>
        <p:txBody>
          <a:bodyPr anchorCtr="0" anchor="t" bIns="0" lIns="0" spcFirstLastPara="1" rIns="0" wrap="square" tIns="0">
            <a:noAutofit/>
          </a:bodyPr>
          <a:lstStyle/>
          <a:p>
            <a:pPr indent="0" lvl="0" marL="0" marR="0" rtl="0" algn="r">
              <a:lnSpc>
                <a:spcPct val="123684"/>
              </a:lnSpc>
              <a:spcBef>
                <a:spcPts val="0"/>
              </a:spcBef>
              <a:spcAft>
                <a:spcPts val="0"/>
              </a:spcAft>
              <a:buClr>
                <a:srgbClr val="3C3939"/>
              </a:buClr>
              <a:buSzPts val="2049"/>
              <a:buFont typeface="Raleway"/>
              <a:buNone/>
            </a:pPr>
            <a:r>
              <a:rPr i="0" lang="en-US" sz="2649" u="none" cap="none" strike="noStrike">
                <a:solidFill>
                  <a:schemeClr val="dk1"/>
                </a:solidFill>
                <a:latin typeface="EB Garamond SemiBold"/>
                <a:ea typeface="EB Garamond SemiBold"/>
                <a:cs typeface="EB Garamond SemiBold"/>
                <a:sym typeface="EB Garamond SemiBold"/>
              </a:rPr>
              <a:t>Domain Knowledge</a:t>
            </a:r>
            <a:endParaRPr i="0" sz="2649" u="none" cap="none" strike="noStrike">
              <a:solidFill>
                <a:schemeClr val="dk1"/>
              </a:solidFill>
              <a:latin typeface="EB Garamond SemiBold"/>
              <a:ea typeface="EB Garamond SemiBold"/>
              <a:cs typeface="EB Garamond SemiBold"/>
              <a:sym typeface="EB Garamond SemiBold"/>
            </a:endParaRPr>
          </a:p>
        </p:txBody>
      </p:sp>
      <p:sp>
        <p:nvSpPr>
          <p:cNvPr id="100" name="Google Shape;100;p15"/>
          <p:cNvSpPr/>
          <p:nvPr/>
        </p:nvSpPr>
        <p:spPr>
          <a:xfrm>
            <a:off x="126475" y="4905984"/>
            <a:ext cx="4433700" cy="682500"/>
          </a:xfrm>
          <a:prstGeom prst="rect">
            <a:avLst/>
          </a:prstGeom>
          <a:noFill/>
          <a:ln>
            <a:noFill/>
          </a:ln>
        </p:spPr>
        <p:txBody>
          <a:bodyPr anchorCtr="0" anchor="t" bIns="0" lIns="0" spcFirstLastPara="1" rIns="0" wrap="square" tIns="0">
            <a:noAutofit/>
          </a:bodyPr>
          <a:lstStyle/>
          <a:p>
            <a:pPr indent="0" lvl="0" marL="0" marR="0" rtl="0" algn="r">
              <a:lnSpc>
                <a:spcPct val="160000"/>
              </a:lnSpc>
              <a:spcBef>
                <a:spcPts val="0"/>
              </a:spcBef>
              <a:spcAft>
                <a:spcPts val="0"/>
              </a:spcAft>
              <a:buClr>
                <a:srgbClr val="3C3939"/>
              </a:buClr>
              <a:buSzPts val="1618"/>
              <a:buFont typeface="Roboto"/>
              <a:buNone/>
            </a:pPr>
            <a:r>
              <a:rPr i="0" lang="en-US" sz="2217" u="none" cap="none" strike="noStrike">
                <a:solidFill>
                  <a:schemeClr val="dk1"/>
                </a:solidFill>
                <a:latin typeface="EB Garamond SemiBold"/>
                <a:ea typeface="EB Garamond SemiBold"/>
                <a:cs typeface="EB Garamond SemiBold"/>
                <a:sym typeface="EB Garamond SemiBold"/>
              </a:rPr>
              <a:t>Expertise in the specific field to interpret data contextually and ask the right questions.</a:t>
            </a:r>
            <a:endParaRPr i="0" sz="2217" u="none" cap="none" strike="noStrike">
              <a:solidFill>
                <a:schemeClr val="dk1"/>
              </a:solidFill>
              <a:latin typeface="EB Garamond SemiBold"/>
              <a:ea typeface="EB Garamond SemiBold"/>
              <a:cs typeface="EB Garamond SemiBold"/>
              <a:sym typeface="EB Garamond SemiBold"/>
            </a:endParaRPr>
          </a:p>
        </p:txBody>
      </p:sp>
      <p:pic>
        <p:nvPicPr>
          <p:cNvPr descr="preencoded.png" id="101" name="Google Shape;101;p15"/>
          <p:cNvPicPr preferRelativeResize="0"/>
          <p:nvPr/>
        </p:nvPicPr>
        <p:blipFill rotWithShape="1">
          <a:blip r:embed="rId9">
            <a:alphaModFix/>
          </a:blip>
          <a:srcRect b="0" l="0" r="0" t="0"/>
          <a:stretch/>
        </p:blipFill>
        <p:spPr>
          <a:xfrm>
            <a:off x="4881323" y="1711300"/>
            <a:ext cx="5120538" cy="5101186"/>
          </a:xfrm>
          <a:prstGeom prst="rect">
            <a:avLst/>
          </a:prstGeom>
          <a:noFill/>
          <a:ln>
            <a:noFill/>
          </a:ln>
        </p:spPr>
      </p:pic>
      <p:pic>
        <p:nvPicPr>
          <p:cNvPr descr="preencoded.png" id="102" name="Google Shape;102;p15"/>
          <p:cNvPicPr preferRelativeResize="0"/>
          <p:nvPr/>
        </p:nvPicPr>
        <p:blipFill rotWithShape="1">
          <a:blip r:embed="rId10">
            <a:alphaModFix/>
          </a:blip>
          <a:srcRect b="0" l="0" r="0" t="0"/>
          <a:stretch/>
        </p:blipFill>
        <p:spPr>
          <a:xfrm>
            <a:off x="6014052" y="5364578"/>
            <a:ext cx="320411" cy="319201"/>
          </a:xfrm>
          <a:prstGeom prst="rect">
            <a:avLst/>
          </a:prstGeom>
          <a:noFill/>
          <a:ln>
            <a:noFill/>
          </a:ln>
        </p:spPr>
      </p:pic>
      <p:sp>
        <p:nvSpPr>
          <p:cNvPr id="103" name="Google Shape;103;p15"/>
          <p:cNvSpPr/>
          <p:nvPr/>
        </p:nvSpPr>
        <p:spPr>
          <a:xfrm>
            <a:off x="126475" y="7052464"/>
            <a:ext cx="14630400" cy="8886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3C3939"/>
              </a:buClr>
              <a:buSzPts val="1618"/>
              <a:buFont typeface="Roboto"/>
              <a:buNone/>
            </a:pPr>
            <a:r>
              <a:rPr lang="en-US" sz="2317" u="none" cap="none" strike="noStrike">
                <a:solidFill>
                  <a:schemeClr val="dk1"/>
                </a:solidFill>
                <a:latin typeface="EB Garamond SemiBold"/>
                <a:ea typeface="EB Garamond SemiBold"/>
                <a:cs typeface="EB Garamond SemiBold"/>
                <a:sym typeface="EB Garamond SemiBold"/>
              </a:rPr>
              <a:t>Goal: Use data to make better decisions, predictions, and solutions. It's about transforming raw information into strategic advantages.</a:t>
            </a:r>
            <a:endParaRPr sz="2317" u="none" cap="none" strike="noStrike">
              <a:solidFill>
                <a:schemeClr val="dk1"/>
              </a:solidFill>
              <a:latin typeface="EB Garamond SemiBold"/>
              <a:ea typeface="EB Garamond SemiBold"/>
              <a:cs typeface="EB Garamond SemiBold"/>
              <a:sym typeface="EB Garamond SemiBo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6"/>
          <p:cNvSpPr/>
          <p:nvPr/>
        </p:nvSpPr>
        <p:spPr>
          <a:xfrm>
            <a:off x="457674" y="463150"/>
            <a:ext cx="8964000" cy="408600"/>
          </a:xfrm>
          <a:prstGeom prst="rect">
            <a:avLst/>
          </a:prstGeom>
          <a:noFill/>
          <a:ln>
            <a:noFill/>
          </a:ln>
        </p:spPr>
        <p:txBody>
          <a:bodyPr anchorCtr="0" anchor="t" bIns="0" lIns="0" spcFirstLastPara="1" rIns="0" wrap="square" tIns="0">
            <a:noAutofit/>
          </a:bodyPr>
          <a:lstStyle/>
          <a:p>
            <a:pPr indent="0" lvl="0" marL="0" marR="0" rtl="0" algn="l">
              <a:lnSpc>
                <a:spcPct val="125490"/>
              </a:lnSpc>
              <a:spcBef>
                <a:spcPts val="0"/>
              </a:spcBef>
              <a:spcAft>
                <a:spcPts val="0"/>
              </a:spcAft>
              <a:buClr>
                <a:srgbClr val="1B1B27"/>
              </a:buClr>
              <a:buSzPts val="2550"/>
              <a:buFont typeface="Raleway"/>
              <a:buNone/>
            </a:pPr>
            <a:r>
              <a:rPr b="1" i="0" lang="en-US" sz="4250" u="none" cap="none" strike="noStrike">
                <a:solidFill>
                  <a:schemeClr val="dk1"/>
                </a:solidFill>
                <a:latin typeface="Raleway"/>
                <a:ea typeface="Raleway"/>
                <a:cs typeface="Raleway"/>
                <a:sym typeface="Raleway"/>
              </a:rPr>
              <a:t>The Data Science Workflow</a:t>
            </a:r>
            <a:endParaRPr b="1" i="0" sz="4250" u="none" cap="none" strike="noStrike">
              <a:solidFill>
                <a:schemeClr val="dk1"/>
              </a:solidFill>
            </a:endParaRPr>
          </a:p>
        </p:txBody>
      </p:sp>
      <p:pic>
        <p:nvPicPr>
          <p:cNvPr descr="preencoded.png" id="110" name="Google Shape;110;p16"/>
          <p:cNvPicPr preferRelativeResize="0"/>
          <p:nvPr/>
        </p:nvPicPr>
        <p:blipFill rotWithShape="1">
          <a:blip r:embed="rId3">
            <a:alphaModFix/>
          </a:blip>
          <a:srcRect b="0" l="0" r="0" t="0"/>
          <a:stretch/>
        </p:blipFill>
        <p:spPr>
          <a:xfrm>
            <a:off x="457676" y="1489353"/>
            <a:ext cx="653891" cy="784622"/>
          </a:xfrm>
          <a:prstGeom prst="rect">
            <a:avLst/>
          </a:prstGeom>
          <a:noFill/>
          <a:ln>
            <a:noFill/>
          </a:ln>
        </p:spPr>
      </p:pic>
      <p:sp>
        <p:nvSpPr>
          <p:cNvPr id="111" name="Google Shape;111;p16"/>
          <p:cNvSpPr/>
          <p:nvPr/>
        </p:nvSpPr>
        <p:spPr>
          <a:xfrm>
            <a:off x="1242300" y="1620000"/>
            <a:ext cx="7371900" cy="40860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3C3939"/>
              </a:buClr>
              <a:buSzPts val="1250"/>
              <a:buFont typeface="Raleway"/>
              <a:buNone/>
            </a:pPr>
            <a:r>
              <a:rPr i="0" lang="en-US" sz="3150" u="none" cap="none" strike="noStrike">
                <a:solidFill>
                  <a:schemeClr val="dk1"/>
                </a:solidFill>
                <a:latin typeface="EB Garamond SemiBold"/>
                <a:ea typeface="EB Garamond SemiBold"/>
                <a:cs typeface="EB Garamond SemiBold"/>
                <a:sym typeface="EB Garamond SemiBold"/>
              </a:rPr>
              <a:t>Problem Definition</a:t>
            </a:r>
            <a:endParaRPr i="0" sz="3150" u="none" cap="none" strike="noStrike">
              <a:solidFill>
                <a:schemeClr val="dk1"/>
              </a:solidFill>
              <a:latin typeface="EB Garamond SemiBold"/>
              <a:ea typeface="EB Garamond SemiBold"/>
              <a:cs typeface="EB Garamond SemiBold"/>
              <a:sym typeface="EB Garamond SemiBold"/>
            </a:endParaRPr>
          </a:p>
        </p:txBody>
      </p:sp>
      <p:pic>
        <p:nvPicPr>
          <p:cNvPr descr="preencoded.png" id="112" name="Google Shape;112;p16"/>
          <p:cNvPicPr preferRelativeResize="0"/>
          <p:nvPr/>
        </p:nvPicPr>
        <p:blipFill rotWithShape="1">
          <a:blip r:embed="rId4">
            <a:alphaModFix/>
          </a:blip>
          <a:srcRect b="0" l="0" r="0" t="0"/>
          <a:stretch/>
        </p:blipFill>
        <p:spPr>
          <a:xfrm>
            <a:off x="457676" y="2273975"/>
            <a:ext cx="653891" cy="784622"/>
          </a:xfrm>
          <a:prstGeom prst="rect">
            <a:avLst/>
          </a:prstGeom>
          <a:noFill/>
          <a:ln>
            <a:noFill/>
          </a:ln>
        </p:spPr>
      </p:pic>
      <p:sp>
        <p:nvSpPr>
          <p:cNvPr id="113" name="Google Shape;113;p16"/>
          <p:cNvSpPr/>
          <p:nvPr/>
        </p:nvSpPr>
        <p:spPr>
          <a:xfrm>
            <a:off x="1242304" y="2404698"/>
            <a:ext cx="4718400" cy="35760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3C3939"/>
              </a:buClr>
              <a:buSzPts val="1250"/>
              <a:buFont typeface="Raleway"/>
              <a:buNone/>
            </a:pPr>
            <a:r>
              <a:rPr i="0" lang="en-US" sz="3150" u="none" cap="none" strike="noStrike">
                <a:solidFill>
                  <a:schemeClr val="dk1"/>
                </a:solidFill>
                <a:latin typeface="EB Garamond SemiBold"/>
                <a:ea typeface="EB Garamond SemiBold"/>
                <a:cs typeface="EB Garamond SemiBold"/>
                <a:sym typeface="EB Garamond SemiBold"/>
              </a:rPr>
              <a:t>Data Collection</a:t>
            </a:r>
            <a:endParaRPr i="0" sz="3150" u="none" cap="none" strike="noStrike">
              <a:solidFill>
                <a:schemeClr val="dk1"/>
              </a:solidFill>
              <a:latin typeface="EB Garamond SemiBold"/>
              <a:ea typeface="EB Garamond SemiBold"/>
              <a:cs typeface="EB Garamond SemiBold"/>
              <a:sym typeface="EB Garamond SemiBold"/>
            </a:endParaRPr>
          </a:p>
        </p:txBody>
      </p:sp>
      <p:pic>
        <p:nvPicPr>
          <p:cNvPr descr="preencoded.png" id="114" name="Google Shape;114;p16"/>
          <p:cNvPicPr preferRelativeResize="0"/>
          <p:nvPr/>
        </p:nvPicPr>
        <p:blipFill rotWithShape="1">
          <a:blip r:embed="rId5">
            <a:alphaModFix/>
          </a:blip>
          <a:srcRect b="0" l="0" r="0" t="0"/>
          <a:stretch/>
        </p:blipFill>
        <p:spPr>
          <a:xfrm>
            <a:off x="457676" y="3058597"/>
            <a:ext cx="653891" cy="784622"/>
          </a:xfrm>
          <a:prstGeom prst="rect">
            <a:avLst/>
          </a:prstGeom>
          <a:noFill/>
          <a:ln>
            <a:noFill/>
          </a:ln>
        </p:spPr>
      </p:pic>
      <p:sp>
        <p:nvSpPr>
          <p:cNvPr id="115" name="Google Shape;115;p16"/>
          <p:cNvSpPr/>
          <p:nvPr/>
        </p:nvSpPr>
        <p:spPr>
          <a:xfrm>
            <a:off x="1242303" y="3189323"/>
            <a:ext cx="4353000" cy="40860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3C3939"/>
              </a:buClr>
              <a:buSzPts val="1250"/>
              <a:buFont typeface="Raleway"/>
              <a:buNone/>
            </a:pPr>
            <a:r>
              <a:rPr i="0" lang="en-US" sz="3150" u="none" cap="none" strike="noStrike">
                <a:solidFill>
                  <a:schemeClr val="dk1"/>
                </a:solidFill>
                <a:latin typeface="EB Garamond SemiBold"/>
                <a:ea typeface="EB Garamond SemiBold"/>
                <a:cs typeface="EB Garamond SemiBold"/>
                <a:sym typeface="EB Garamond SemiBold"/>
              </a:rPr>
              <a:t>Data Cleaning</a:t>
            </a:r>
            <a:endParaRPr i="0" sz="3150" u="none" cap="none" strike="noStrike">
              <a:solidFill>
                <a:schemeClr val="dk1"/>
              </a:solidFill>
              <a:latin typeface="EB Garamond SemiBold"/>
              <a:ea typeface="EB Garamond SemiBold"/>
              <a:cs typeface="EB Garamond SemiBold"/>
              <a:sym typeface="EB Garamond SemiBold"/>
            </a:endParaRPr>
          </a:p>
        </p:txBody>
      </p:sp>
      <p:pic>
        <p:nvPicPr>
          <p:cNvPr descr="preencoded.png" id="116" name="Google Shape;116;p16"/>
          <p:cNvPicPr preferRelativeResize="0"/>
          <p:nvPr/>
        </p:nvPicPr>
        <p:blipFill rotWithShape="1">
          <a:blip r:embed="rId6">
            <a:alphaModFix/>
          </a:blip>
          <a:srcRect b="0" l="0" r="0" t="0"/>
          <a:stretch/>
        </p:blipFill>
        <p:spPr>
          <a:xfrm>
            <a:off x="457676" y="3843218"/>
            <a:ext cx="653891" cy="784622"/>
          </a:xfrm>
          <a:prstGeom prst="rect">
            <a:avLst/>
          </a:prstGeom>
          <a:noFill/>
          <a:ln>
            <a:noFill/>
          </a:ln>
        </p:spPr>
      </p:pic>
      <p:sp>
        <p:nvSpPr>
          <p:cNvPr id="117" name="Google Shape;117;p16"/>
          <p:cNvSpPr/>
          <p:nvPr/>
        </p:nvSpPr>
        <p:spPr>
          <a:xfrm>
            <a:off x="1242303" y="3973951"/>
            <a:ext cx="5910600" cy="40860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3C3939"/>
              </a:buClr>
              <a:buSzPts val="1250"/>
              <a:buFont typeface="Raleway"/>
              <a:buNone/>
            </a:pPr>
            <a:r>
              <a:rPr i="0" lang="en-US" sz="3150" u="none" cap="none" strike="noStrike">
                <a:solidFill>
                  <a:schemeClr val="dk1"/>
                </a:solidFill>
                <a:latin typeface="EB Garamond SemiBold"/>
                <a:ea typeface="EB Garamond SemiBold"/>
                <a:cs typeface="EB Garamond SemiBold"/>
                <a:sym typeface="EB Garamond SemiBold"/>
              </a:rPr>
              <a:t>Exploratory Data Analysis (EDA)</a:t>
            </a:r>
            <a:endParaRPr i="0" sz="3150" u="none" cap="none" strike="noStrike">
              <a:solidFill>
                <a:schemeClr val="dk1"/>
              </a:solidFill>
              <a:latin typeface="EB Garamond SemiBold"/>
              <a:ea typeface="EB Garamond SemiBold"/>
              <a:cs typeface="EB Garamond SemiBold"/>
              <a:sym typeface="EB Garamond SemiBold"/>
            </a:endParaRPr>
          </a:p>
        </p:txBody>
      </p:sp>
      <p:pic>
        <p:nvPicPr>
          <p:cNvPr descr="preencoded.png" id="118" name="Google Shape;118;p16"/>
          <p:cNvPicPr preferRelativeResize="0"/>
          <p:nvPr/>
        </p:nvPicPr>
        <p:blipFill rotWithShape="1">
          <a:blip r:embed="rId7">
            <a:alphaModFix/>
          </a:blip>
          <a:srcRect b="0" l="0" r="0" t="0"/>
          <a:stretch/>
        </p:blipFill>
        <p:spPr>
          <a:xfrm>
            <a:off x="457676" y="4627840"/>
            <a:ext cx="653891" cy="784622"/>
          </a:xfrm>
          <a:prstGeom prst="rect">
            <a:avLst/>
          </a:prstGeom>
          <a:noFill/>
          <a:ln>
            <a:noFill/>
          </a:ln>
        </p:spPr>
      </p:pic>
      <p:sp>
        <p:nvSpPr>
          <p:cNvPr id="119" name="Google Shape;119;p16"/>
          <p:cNvSpPr/>
          <p:nvPr/>
        </p:nvSpPr>
        <p:spPr>
          <a:xfrm>
            <a:off x="1242305" y="4758579"/>
            <a:ext cx="5833500" cy="40860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3C3939"/>
              </a:buClr>
              <a:buSzPts val="1250"/>
              <a:buFont typeface="Raleway"/>
              <a:buNone/>
            </a:pPr>
            <a:r>
              <a:rPr i="0" lang="en-US" sz="3150" u="none" cap="none" strike="noStrike">
                <a:solidFill>
                  <a:schemeClr val="dk1"/>
                </a:solidFill>
                <a:latin typeface="EB Garamond SemiBold"/>
                <a:ea typeface="EB Garamond SemiBold"/>
                <a:cs typeface="EB Garamond SemiBold"/>
                <a:sym typeface="EB Garamond SemiBold"/>
              </a:rPr>
              <a:t>Feature Engineering</a:t>
            </a:r>
            <a:endParaRPr i="0" sz="3150" u="none" cap="none" strike="noStrike">
              <a:solidFill>
                <a:schemeClr val="dk1"/>
              </a:solidFill>
              <a:latin typeface="EB Garamond SemiBold"/>
              <a:ea typeface="EB Garamond SemiBold"/>
              <a:cs typeface="EB Garamond SemiBold"/>
              <a:sym typeface="EB Garamond SemiBold"/>
            </a:endParaRPr>
          </a:p>
        </p:txBody>
      </p:sp>
      <p:pic>
        <p:nvPicPr>
          <p:cNvPr descr="preencoded.png" id="120" name="Google Shape;120;p16"/>
          <p:cNvPicPr preferRelativeResize="0"/>
          <p:nvPr/>
        </p:nvPicPr>
        <p:blipFill rotWithShape="1">
          <a:blip r:embed="rId8">
            <a:alphaModFix/>
          </a:blip>
          <a:srcRect b="0" l="0" r="0" t="0"/>
          <a:stretch/>
        </p:blipFill>
        <p:spPr>
          <a:xfrm>
            <a:off x="457676" y="5412462"/>
            <a:ext cx="653891" cy="784622"/>
          </a:xfrm>
          <a:prstGeom prst="rect">
            <a:avLst/>
          </a:prstGeom>
          <a:noFill/>
          <a:ln>
            <a:noFill/>
          </a:ln>
        </p:spPr>
      </p:pic>
      <p:sp>
        <p:nvSpPr>
          <p:cNvPr id="121" name="Google Shape;121;p16"/>
          <p:cNvSpPr/>
          <p:nvPr/>
        </p:nvSpPr>
        <p:spPr>
          <a:xfrm>
            <a:off x="1242305" y="5543203"/>
            <a:ext cx="5910600" cy="35760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3C3939"/>
              </a:buClr>
              <a:buSzPts val="1250"/>
              <a:buFont typeface="Raleway"/>
              <a:buNone/>
            </a:pPr>
            <a:r>
              <a:rPr i="0" lang="en-US" sz="3150" u="none" cap="none" strike="noStrike">
                <a:solidFill>
                  <a:schemeClr val="dk1"/>
                </a:solidFill>
                <a:latin typeface="EB Garamond SemiBold"/>
                <a:ea typeface="EB Garamond SemiBold"/>
                <a:cs typeface="EB Garamond SemiBold"/>
                <a:sym typeface="EB Garamond SemiBold"/>
              </a:rPr>
              <a:t>Model Building</a:t>
            </a:r>
            <a:endParaRPr i="0" sz="3150" u="none" cap="none" strike="noStrike">
              <a:solidFill>
                <a:schemeClr val="dk1"/>
              </a:solidFill>
              <a:latin typeface="EB Garamond SemiBold"/>
              <a:ea typeface="EB Garamond SemiBold"/>
              <a:cs typeface="EB Garamond SemiBold"/>
              <a:sym typeface="EB Garamond SemiBold"/>
            </a:endParaRPr>
          </a:p>
        </p:txBody>
      </p:sp>
      <p:pic>
        <p:nvPicPr>
          <p:cNvPr descr="preencoded.png" id="122" name="Google Shape;122;p16"/>
          <p:cNvPicPr preferRelativeResize="0"/>
          <p:nvPr/>
        </p:nvPicPr>
        <p:blipFill rotWithShape="1">
          <a:blip r:embed="rId9">
            <a:alphaModFix/>
          </a:blip>
          <a:srcRect b="0" l="0" r="0" t="0"/>
          <a:stretch/>
        </p:blipFill>
        <p:spPr>
          <a:xfrm>
            <a:off x="457676" y="6197084"/>
            <a:ext cx="653891" cy="784622"/>
          </a:xfrm>
          <a:prstGeom prst="rect">
            <a:avLst/>
          </a:prstGeom>
          <a:noFill/>
          <a:ln>
            <a:noFill/>
          </a:ln>
        </p:spPr>
      </p:pic>
      <p:sp>
        <p:nvSpPr>
          <p:cNvPr id="123" name="Google Shape;123;p16"/>
          <p:cNvSpPr/>
          <p:nvPr/>
        </p:nvSpPr>
        <p:spPr>
          <a:xfrm>
            <a:off x="1242306" y="6327837"/>
            <a:ext cx="6795000" cy="40860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3C3939"/>
              </a:buClr>
              <a:buSzPts val="1250"/>
              <a:buFont typeface="Raleway"/>
              <a:buNone/>
            </a:pPr>
            <a:r>
              <a:rPr i="0" lang="en-US" sz="3150" u="none" cap="none" strike="noStrike">
                <a:solidFill>
                  <a:schemeClr val="dk1"/>
                </a:solidFill>
                <a:latin typeface="EB Garamond SemiBold"/>
                <a:ea typeface="EB Garamond SemiBold"/>
                <a:cs typeface="EB Garamond SemiBold"/>
                <a:sym typeface="EB Garamond SemiBold"/>
              </a:rPr>
              <a:t>Model Evaluation</a:t>
            </a:r>
            <a:endParaRPr i="0" sz="3150" u="none" cap="none" strike="noStrike">
              <a:solidFill>
                <a:schemeClr val="dk1"/>
              </a:solidFill>
              <a:latin typeface="EB Garamond SemiBold"/>
              <a:ea typeface="EB Garamond SemiBold"/>
              <a:cs typeface="EB Garamond SemiBold"/>
              <a:sym typeface="EB Garamond SemiBold"/>
            </a:endParaRPr>
          </a:p>
        </p:txBody>
      </p:sp>
      <p:pic>
        <p:nvPicPr>
          <p:cNvPr descr="preencoded.png" id="124" name="Google Shape;124;p16"/>
          <p:cNvPicPr preferRelativeResize="0"/>
          <p:nvPr/>
        </p:nvPicPr>
        <p:blipFill rotWithShape="1">
          <a:blip r:embed="rId10">
            <a:alphaModFix/>
          </a:blip>
          <a:srcRect b="0" l="0" r="0" t="0"/>
          <a:stretch/>
        </p:blipFill>
        <p:spPr>
          <a:xfrm>
            <a:off x="457676" y="6981706"/>
            <a:ext cx="653891" cy="784622"/>
          </a:xfrm>
          <a:prstGeom prst="rect">
            <a:avLst/>
          </a:prstGeom>
          <a:noFill/>
          <a:ln>
            <a:noFill/>
          </a:ln>
        </p:spPr>
      </p:pic>
      <p:sp>
        <p:nvSpPr>
          <p:cNvPr id="125" name="Google Shape;125;p16"/>
          <p:cNvSpPr/>
          <p:nvPr/>
        </p:nvSpPr>
        <p:spPr>
          <a:xfrm>
            <a:off x="1242305" y="7112411"/>
            <a:ext cx="7371900" cy="40860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3C3939"/>
              </a:buClr>
              <a:buSzPts val="1250"/>
              <a:buFont typeface="Raleway"/>
              <a:buNone/>
            </a:pPr>
            <a:r>
              <a:rPr i="0" lang="en-US" sz="3150" u="none" cap="none" strike="noStrike">
                <a:solidFill>
                  <a:schemeClr val="dk1"/>
                </a:solidFill>
                <a:latin typeface="EB Garamond SemiBold"/>
                <a:ea typeface="EB Garamond SemiBold"/>
                <a:cs typeface="EB Garamond SemiBold"/>
                <a:sym typeface="EB Garamond SemiBold"/>
              </a:rPr>
              <a:t>Deployment &amp; Monitoring</a:t>
            </a:r>
            <a:endParaRPr i="0" sz="3150" u="none" cap="none" strike="noStrike">
              <a:solidFill>
                <a:schemeClr val="dk1"/>
              </a:solidFill>
              <a:latin typeface="EB Garamond SemiBold"/>
              <a:ea typeface="EB Garamond SemiBold"/>
              <a:cs typeface="EB Garamond SemiBold"/>
              <a:sym typeface="EB Garamond SemiBo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7"/>
          <p:cNvSpPr/>
          <p:nvPr/>
        </p:nvSpPr>
        <p:spPr>
          <a:xfrm>
            <a:off x="488990" y="415647"/>
            <a:ext cx="5670600" cy="7089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1B1B27"/>
              </a:buClr>
              <a:buSzPts val="4450"/>
              <a:buFont typeface="Raleway"/>
              <a:buNone/>
            </a:pPr>
            <a:r>
              <a:rPr b="1" i="0" lang="en-US" sz="4450" u="none" cap="none" strike="noStrike">
                <a:solidFill>
                  <a:schemeClr val="dk1"/>
                </a:solidFill>
                <a:latin typeface="Raleway"/>
                <a:ea typeface="Raleway"/>
                <a:cs typeface="Raleway"/>
                <a:sym typeface="Raleway"/>
              </a:rPr>
              <a:t>What is AI &amp; ML?</a:t>
            </a:r>
            <a:endParaRPr b="1" i="0" sz="4450" u="none" cap="none" strike="noStrike">
              <a:solidFill>
                <a:schemeClr val="dk1"/>
              </a:solidFill>
            </a:endParaRPr>
          </a:p>
        </p:txBody>
      </p:sp>
      <p:sp>
        <p:nvSpPr>
          <p:cNvPr id="132" name="Google Shape;132;p17"/>
          <p:cNvSpPr/>
          <p:nvPr/>
        </p:nvSpPr>
        <p:spPr>
          <a:xfrm>
            <a:off x="449825" y="1521200"/>
            <a:ext cx="5258400" cy="741900"/>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1B1B27"/>
              </a:buClr>
              <a:buSzPts val="3550"/>
              <a:buFont typeface="Raleway"/>
              <a:buNone/>
            </a:pPr>
            <a:r>
              <a:rPr b="0" i="0" lang="en-US" sz="3550" u="none" cap="none" strike="noStrike">
                <a:solidFill>
                  <a:schemeClr val="dk1"/>
                </a:solidFill>
                <a:latin typeface="Raleway"/>
                <a:ea typeface="Raleway"/>
                <a:cs typeface="Raleway"/>
                <a:sym typeface="Raleway"/>
              </a:rPr>
              <a:t>Artificial Intelligence (AI)</a:t>
            </a:r>
            <a:endParaRPr b="0" i="0" sz="3550" u="none" cap="none" strike="noStrike">
              <a:solidFill>
                <a:schemeClr val="dk1"/>
              </a:solidFill>
            </a:endParaRPr>
          </a:p>
        </p:txBody>
      </p:sp>
      <p:sp>
        <p:nvSpPr>
          <p:cNvPr id="133" name="Google Shape;133;p17"/>
          <p:cNvSpPr/>
          <p:nvPr/>
        </p:nvSpPr>
        <p:spPr>
          <a:xfrm>
            <a:off x="449825" y="2252081"/>
            <a:ext cx="6539100" cy="18993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3C3939"/>
              </a:buClr>
              <a:buSzPts val="1750"/>
              <a:buFont typeface="Roboto"/>
              <a:buNone/>
            </a:pPr>
            <a:r>
              <a:rPr i="0" lang="en-US" sz="2550" u="none" cap="none" strike="noStrike">
                <a:solidFill>
                  <a:schemeClr val="dk1"/>
                </a:solidFill>
                <a:latin typeface="EB Garamond Medium"/>
                <a:ea typeface="EB Garamond Medium"/>
                <a:cs typeface="EB Garamond Medium"/>
                <a:sym typeface="EB Garamond Medium"/>
              </a:rPr>
              <a:t>AI refers to the broad concept of creating machines that can think, reason, and learn like humans. It encompasses various techniques that enable systems to perceive their environment, make decisions, and solve problems autonomously.</a:t>
            </a:r>
            <a:endParaRPr i="0" sz="2550" u="none" cap="none" strike="noStrike">
              <a:solidFill>
                <a:schemeClr val="dk1"/>
              </a:solidFill>
              <a:latin typeface="EB Garamond Medium"/>
              <a:ea typeface="EB Garamond Medium"/>
              <a:cs typeface="EB Garamond Medium"/>
              <a:sym typeface="EB Garamond Medium"/>
            </a:endParaRPr>
          </a:p>
        </p:txBody>
      </p:sp>
      <p:sp>
        <p:nvSpPr>
          <p:cNvPr id="134" name="Google Shape;134;p17"/>
          <p:cNvSpPr/>
          <p:nvPr/>
        </p:nvSpPr>
        <p:spPr>
          <a:xfrm>
            <a:off x="7576359" y="1521200"/>
            <a:ext cx="4986900" cy="741900"/>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1B1B27"/>
              </a:buClr>
              <a:buSzPts val="3550"/>
              <a:buFont typeface="Raleway"/>
              <a:buNone/>
            </a:pPr>
            <a:r>
              <a:rPr b="0" i="0" lang="en-US" sz="3550" u="none" cap="none" strike="noStrike">
                <a:solidFill>
                  <a:schemeClr val="dk1"/>
                </a:solidFill>
                <a:latin typeface="Raleway"/>
                <a:ea typeface="Raleway"/>
                <a:cs typeface="Raleway"/>
                <a:sym typeface="Raleway"/>
              </a:rPr>
              <a:t>Machine Learning (ML)</a:t>
            </a:r>
            <a:endParaRPr b="0" i="0" sz="3550" u="none" cap="none" strike="noStrike">
              <a:solidFill>
                <a:schemeClr val="dk1"/>
              </a:solidFill>
            </a:endParaRPr>
          </a:p>
        </p:txBody>
      </p:sp>
      <p:sp>
        <p:nvSpPr>
          <p:cNvPr id="135" name="Google Shape;135;p17"/>
          <p:cNvSpPr/>
          <p:nvPr/>
        </p:nvSpPr>
        <p:spPr>
          <a:xfrm>
            <a:off x="7576359" y="2252081"/>
            <a:ext cx="6539100" cy="23739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3C3939"/>
              </a:buClr>
              <a:buSzPts val="1750"/>
              <a:buFont typeface="Roboto"/>
              <a:buNone/>
            </a:pPr>
            <a:r>
              <a:rPr i="0" lang="en-US" sz="2550" u="none" cap="none" strike="noStrike">
                <a:solidFill>
                  <a:schemeClr val="dk1"/>
                </a:solidFill>
                <a:latin typeface="EB Garamond Medium"/>
                <a:ea typeface="EB Garamond Medium"/>
                <a:cs typeface="EB Garamond Medium"/>
                <a:sym typeface="EB Garamond Medium"/>
              </a:rPr>
              <a:t>ML is a specialized subset of AI that focuses on developing algorithms that allow computers to learn from data without being explicitly programmed. These algorithms identify patterns, build models, and make predictions based on the data they are trained on.</a:t>
            </a:r>
            <a:endParaRPr i="0" sz="2550" u="none" cap="none" strike="noStrike">
              <a:solidFill>
                <a:schemeClr val="dk1"/>
              </a:solidFill>
              <a:latin typeface="EB Garamond Medium"/>
              <a:ea typeface="EB Garamond Medium"/>
              <a:cs typeface="EB Garamond Medium"/>
              <a:sym typeface="EB Garamond Medium"/>
            </a:endParaRPr>
          </a:p>
        </p:txBody>
      </p:sp>
      <p:sp>
        <p:nvSpPr>
          <p:cNvPr id="136" name="Google Shape;136;p17"/>
          <p:cNvSpPr/>
          <p:nvPr/>
        </p:nvSpPr>
        <p:spPr>
          <a:xfrm>
            <a:off x="786792" y="6570623"/>
            <a:ext cx="13301400" cy="1112700"/>
          </a:xfrm>
          <a:prstGeom prst="rect">
            <a:avLst/>
          </a:prstGeom>
          <a:noFill/>
          <a:ln>
            <a:noFill/>
          </a:ln>
        </p:spPr>
        <p:txBody>
          <a:bodyPr anchorCtr="0" anchor="t" bIns="0" lIns="0" spcFirstLastPara="1" rIns="0" wrap="square" tIns="0">
            <a:noAutofit/>
          </a:bodyPr>
          <a:lstStyle/>
          <a:p>
            <a:pPr indent="0" lvl="0" marL="0" marR="0" rtl="0" algn="l">
              <a:lnSpc>
                <a:spcPct val="124528"/>
              </a:lnSpc>
              <a:spcBef>
                <a:spcPts val="0"/>
              </a:spcBef>
              <a:spcAft>
                <a:spcPts val="0"/>
              </a:spcAft>
              <a:buClr>
                <a:srgbClr val="1B1B27"/>
              </a:buClr>
              <a:buSzPts val="2650"/>
              <a:buFont typeface="Raleway"/>
              <a:buNone/>
            </a:pPr>
            <a:r>
              <a:rPr b="0" i="1" lang="en-US" sz="2650" u="none" cap="none" strike="noStrike">
                <a:solidFill>
                  <a:schemeClr val="dk1"/>
                </a:solidFill>
                <a:latin typeface="Raleway"/>
                <a:ea typeface="Raleway"/>
                <a:cs typeface="Raleway"/>
                <a:sym typeface="Raleway"/>
              </a:rPr>
              <a:t>Key Idea: AI is the ultimate goal, and ML is a powerful method to achieve that goal.</a:t>
            </a:r>
            <a:endParaRPr b="0" i="1" sz="2650" u="none" cap="none" strike="noStrike">
              <a:solidFill>
                <a:schemeClr val="dk1"/>
              </a:solidFill>
            </a:endParaRPr>
          </a:p>
        </p:txBody>
      </p:sp>
      <p:sp>
        <p:nvSpPr>
          <p:cNvPr id="137" name="Google Shape;137;p17"/>
          <p:cNvSpPr/>
          <p:nvPr/>
        </p:nvSpPr>
        <p:spPr>
          <a:xfrm>
            <a:off x="449825" y="6067900"/>
            <a:ext cx="32100" cy="1557900"/>
          </a:xfrm>
          <a:prstGeom prst="rect">
            <a:avLst/>
          </a:prstGeom>
          <a:solidFill>
            <a:srgbClr val="1B1B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8"/>
          <p:cNvSpPr/>
          <p:nvPr/>
        </p:nvSpPr>
        <p:spPr>
          <a:xfrm>
            <a:off x="403844" y="192887"/>
            <a:ext cx="9693000" cy="564600"/>
          </a:xfrm>
          <a:prstGeom prst="rect">
            <a:avLst/>
          </a:prstGeom>
          <a:noFill/>
          <a:ln>
            <a:noFill/>
          </a:ln>
        </p:spPr>
        <p:txBody>
          <a:bodyPr anchorCtr="0" anchor="t" bIns="0" lIns="0" spcFirstLastPara="1" rIns="0" wrap="square" tIns="0">
            <a:noAutofit/>
          </a:bodyPr>
          <a:lstStyle/>
          <a:p>
            <a:pPr indent="0" lvl="0" marL="0" marR="0" rtl="0" algn="l">
              <a:lnSpc>
                <a:spcPct val="123943"/>
              </a:lnSpc>
              <a:spcBef>
                <a:spcPts val="0"/>
              </a:spcBef>
              <a:spcAft>
                <a:spcPts val="0"/>
              </a:spcAft>
              <a:buClr>
                <a:srgbClr val="1B1B27"/>
              </a:buClr>
              <a:buSzPts val="3550"/>
              <a:buFont typeface="Raleway"/>
              <a:buNone/>
            </a:pPr>
            <a:r>
              <a:rPr b="1" lang="en-US" sz="3550">
                <a:solidFill>
                  <a:schemeClr val="dk1"/>
                </a:solidFill>
                <a:latin typeface="Raleway"/>
                <a:ea typeface="Raleway"/>
                <a:cs typeface="Raleway"/>
                <a:sym typeface="Raleway"/>
              </a:rPr>
              <a:t>Key Terminologies</a:t>
            </a:r>
            <a:endParaRPr b="1" i="0" sz="3550" u="none" cap="none" strike="noStrike">
              <a:solidFill>
                <a:schemeClr val="dk1"/>
              </a:solidFill>
            </a:endParaRPr>
          </a:p>
        </p:txBody>
      </p:sp>
      <p:sp>
        <p:nvSpPr>
          <p:cNvPr id="144" name="Google Shape;144;p18"/>
          <p:cNvSpPr/>
          <p:nvPr/>
        </p:nvSpPr>
        <p:spPr>
          <a:xfrm>
            <a:off x="480050" y="1499225"/>
            <a:ext cx="430800" cy="441900"/>
          </a:xfrm>
          <a:prstGeom prst="roundRect">
            <a:avLst>
              <a:gd fmla="val 18668" name="adj"/>
            </a:avLst>
          </a:prstGeom>
          <a:solidFill>
            <a:srgbClr val="E1E1EA"/>
          </a:solidFill>
          <a:ln cap="flat" cmpd="sng" w="952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700">
              <a:latin typeface="EB Garamond Medium"/>
              <a:ea typeface="EB Garamond Medium"/>
              <a:cs typeface="EB Garamond Medium"/>
              <a:sym typeface="EB Garamond Medium"/>
            </a:endParaRPr>
          </a:p>
        </p:txBody>
      </p:sp>
      <p:sp>
        <p:nvSpPr>
          <p:cNvPr id="145" name="Google Shape;145;p18"/>
          <p:cNvSpPr/>
          <p:nvPr/>
        </p:nvSpPr>
        <p:spPr>
          <a:xfrm>
            <a:off x="1102582" y="1490475"/>
            <a:ext cx="5085900" cy="3069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3C3939"/>
              </a:buClr>
              <a:buSzPts val="1750"/>
              <a:buFont typeface="Raleway"/>
              <a:buNone/>
            </a:pPr>
            <a:r>
              <a:rPr b="1" lang="en-US" sz="3050">
                <a:solidFill>
                  <a:schemeClr val="dk1"/>
                </a:solidFill>
                <a:latin typeface="EB Garamond"/>
                <a:ea typeface="EB Garamond"/>
                <a:cs typeface="EB Garamond"/>
                <a:sym typeface="EB Garamond"/>
              </a:rPr>
              <a:t>Datasets</a:t>
            </a:r>
            <a:endParaRPr b="1" i="0" sz="3050" u="none" cap="none" strike="noStrike">
              <a:solidFill>
                <a:schemeClr val="dk1"/>
              </a:solidFill>
              <a:latin typeface="EB Garamond"/>
              <a:ea typeface="EB Garamond"/>
              <a:cs typeface="EB Garamond"/>
              <a:sym typeface="EB Garamond"/>
            </a:endParaRPr>
          </a:p>
        </p:txBody>
      </p:sp>
      <p:sp>
        <p:nvSpPr>
          <p:cNvPr id="146" name="Google Shape;146;p18"/>
          <p:cNvSpPr/>
          <p:nvPr/>
        </p:nvSpPr>
        <p:spPr>
          <a:xfrm>
            <a:off x="480050" y="2555566"/>
            <a:ext cx="430800" cy="441900"/>
          </a:xfrm>
          <a:prstGeom prst="roundRect">
            <a:avLst>
              <a:gd fmla="val 18668" name="adj"/>
            </a:avLst>
          </a:prstGeom>
          <a:solidFill>
            <a:srgbClr val="E1E1EA"/>
          </a:solidFill>
          <a:ln cap="flat" cmpd="sng" w="952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700">
              <a:latin typeface="EB Garamond Medium"/>
              <a:ea typeface="EB Garamond Medium"/>
              <a:cs typeface="EB Garamond Medium"/>
              <a:sym typeface="EB Garamond Medium"/>
            </a:endParaRPr>
          </a:p>
        </p:txBody>
      </p:sp>
      <p:sp>
        <p:nvSpPr>
          <p:cNvPr id="147" name="Google Shape;147;p18"/>
          <p:cNvSpPr/>
          <p:nvPr/>
        </p:nvSpPr>
        <p:spPr>
          <a:xfrm>
            <a:off x="1102583" y="2546800"/>
            <a:ext cx="6066600" cy="3069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3C3939"/>
              </a:buClr>
              <a:buSzPts val="1750"/>
              <a:buFont typeface="Raleway"/>
              <a:buNone/>
            </a:pPr>
            <a:r>
              <a:rPr b="1" lang="en-US" sz="3050">
                <a:solidFill>
                  <a:schemeClr val="dk1"/>
                </a:solidFill>
                <a:latin typeface="EB Garamond"/>
                <a:ea typeface="EB Garamond"/>
                <a:cs typeface="EB Garamond"/>
                <a:sym typeface="EB Garamond"/>
              </a:rPr>
              <a:t>Models</a:t>
            </a:r>
            <a:endParaRPr b="1" i="0" sz="3050" u="none" cap="none" strike="noStrike">
              <a:solidFill>
                <a:schemeClr val="dk1"/>
              </a:solidFill>
              <a:latin typeface="EB Garamond"/>
              <a:ea typeface="EB Garamond"/>
              <a:cs typeface="EB Garamond"/>
              <a:sym typeface="EB Garamond"/>
            </a:endParaRPr>
          </a:p>
        </p:txBody>
      </p:sp>
      <p:sp>
        <p:nvSpPr>
          <p:cNvPr id="148" name="Google Shape;148;p18"/>
          <p:cNvSpPr/>
          <p:nvPr/>
        </p:nvSpPr>
        <p:spPr>
          <a:xfrm>
            <a:off x="480050" y="3620682"/>
            <a:ext cx="430800" cy="441900"/>
          </a:xfrm>
          <a:prstGeom prst="roundRect">
            <a:avLst>
              <a:gd fmla="val 18668" name="adj"/>
            </a:avLst>
          </a:prstGeom>
          <a:solidFill>
            <a:srgbClr val="E1E1EA"/>
          </a:solidFill>
          <a:ln cap="flat" cmpd="sng" w="952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700">
              <a:latin typeface="EB Garamond Medium"/>
              <a:ea typeface="EB Garamond Medium"/>
              <a:cs typeface="EB Garamond Medium"/>
              <a:sym typeface="EB Garamond Medium"/>
            </a:endParaRPr>
          </a:p>
        </p:txBody>
      </p:sp>
      <p:sp>
        <p:nvSpPr>
          <p:cNvPr id="149" name="Google Shape;149;p18"/>
          <p:cNvSpPr/>
          <p:nvPr/>
        </p:nvSpPr>
        <p:spPr>
          <a:xfrm>
            <a:off x="1102584" y="3611925"/>
            <a:ext cx="6143700" cy="3069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3C3939"/>
              </a:buClr>
              <a:buSzPts val="1750"/>
              <a:buFont typeface="Raleway"/>
              <a:buNone/>
            </a:pPr>
            <a:r>
              <a:rPr b="1" lang="en-US" sz="3050">
                <a:solidFill>
                  <a:schemeClr val="dk1"/>
                </a:solidFill>
                <a:latin typeface="EB Garamond"/>
                <a:ea typeface="EB Garamond"/>
                <a:cs typeface="EB Garamond"/>
                <a:sym typeface="EB Garamond"/>
              </a:rPr>
              <a:t>Features</a:t>
            </a:r>
            <a:endParaRPr b="1" i="0" sz="3050" u="none" cap="none" strike="noStrike">
              <a:solidFill>
                <a:schemeClr val="dk1"/>
              </a:solidFill>
              <a:latin typeface="EB Garamond"/>
              <a:ea typeface="EB Garamond"/>
              <a:cs typeface="EB Garamond"/>
              <a:sym typeface="EB Garamond"/>
            </a:endParaRPr>
          </a:p>
        </p:txBody>
      </p:sp>
      <p:sp>
        <p:nvSpPr>
          <p:cNvPr id="150" name="Google Shape;150;p18"/>
          <p:cNvSpPr/>
          <p:nvPr/>
        </p:nvSpPr>
        <p:spPr>
          <a:xfrm>
            <a:off x="480050" y="4694547"/>
            <a:ext cx="430800" cy="441900"/>
          </a:xfrm>
          <a:prstGeom prst="roundRect">
            <a:avLst>
              <a:gd fmla="val 18668" name="adj"/>
            </a:avLst>
          </a:prstGeom>
          <a:solidFill>
            <a:srgbClr val="E1E1EA"/>
          </a:solidFill>
          <a:ln cap="flat" cmpd="sng" w="952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700">
              <a:latin typeface="EB Garamond Medium"/>
              <a:ea typeface="EB Garamond Medium"/>
              <a:cs typeface="EB Garamond Medium"/>
              <a:sym typeface="EB Garamond Medium"/>
            </a:endParaRPr>
          </a:p>
        </p:txBody>
      </p:sp>
      <p:sp>
        <p:nvSpPr>
          <p:cNvPr id="151" name="Google Shape;151;p18"/>
          <p:cNvSpPr/>
          <p:nvPr/>
        </p:nvSpPr>
        <p:spPr>
          <a:xfrm>
            <a:off x="1102583" y="4685775"/>
            <a:ext cx="6547200" cy="3069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3C3939"/>
              </a:buClr>
              <a:buSzPts val="1750"/>
              <a:buFont typeface="Raleway"/>
              <a:buNone/>
            </a:pPr>
            <a:r>
              <a:rPr b="1" lang="en-US" sz="3050">
                <a:solidFill>
                  <a:schemeClr val="dk1"/>
                </a:solidFill>
                <a:latin typeface="EB Garamond"/>
                <a:ea typeface="EB Garamond"/>
                <a:cs typeface="EB Garamond"/>
                <a:sym typeface="EB Garamond"/>
              </a:rPr>
              <a:t>Training Accuracy</a:t>
            </a:r>
            <a:endParaRPr b="1" i="0" sz="3050" u="none" cap="none" strike="noStrike">
              <a:solidFill>
                <a:schemeClr val="dk1"/>
              </a:solidFill>
              <a:latin typeface="EB Garamond"/>
              <a:ea typeface="EB Garamond"/>
              <a:cs typeface="EB Garamond"/>
              <a:sym typeface="EB Garamon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9"/>
          <p:cNvSpPr/>
          <p:nvPr/>
        </p:nvSpPr>
        <p:spPr>
          <a:xfrm>
            <a:off x="787947" y="619125"/>
            <a:ext cx="10229700" cy="7038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B1B27"/>
              </a:buClr>
              <a:buSzPts val="4400"/>
              <a:buFont typeface="Raleway"/>
              <a:buNone/>
            </a:pPr>
            <a:r>
              <a:rPr b="1" i="0" lang="en-US" sz="4400" u="none" cap="none" strike="noStrike">
                <a:solidFill>
                  <a:schemeClr val="dk1"/>
                </a:solidFill>
                <a:latin typeface="Raleway"/>
                <a:ea typeface="Raleway"/>
                <a:cs typeface="Raleway"/>
                <a:sym typeface="Raleway"/>
              </a:rPr>
              <a:t>Types of Machine Learning</a:t>
            </a:r>
            <a:endParaRPr b="1" i="0" sz="4400" u="none" cap="none" strike="noStrike">
              <a:solidFill>
                <a:schemeClr val="dk1"/>
              </a:solidFill>
            </a:endParaRPr>
          </a:p>
        </p:txBody>
      </p:sp>
      <p:sp>
        <p:nvSpPr>
          <p:cNvPr id="158" name="Google Shape;158;p19"/>
          <p:cNvSpPr/>
          <p:nvPr/>
        </p:nvSpPr>
        <p:spPr>
          <a:xfrm>
            <a:off x="787956" y="1773079"/>
            <a:ext cx="4201358" cy="5837634"/>
          </a:xfrm>
          <a:prstGeom prst="roundRect">
            <a:avLst>
              <a:gd fmla="val 3482" name="adj"/>
            </a:avLst>
          </a:prstGeom>
          <a:solidFill>
            <a:srgbClr val="FFFFFF">
              <a:alpha val="94901"/>
            </a:srgbClr>
          </a:solidFill>
          <a:ln cap="flat" cmpd="sng" w="3047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59" name="Google Shape;159;p19"/>
          <p:cNvSpPr/>
          <p:nvPr/>
        </p:nvSpPr>
        <p:spPr>
          <a:xfrm>
            <a:off x="757476" y="1773079"/>
            <a:ext cx="121920" cy="5837634"/>
          </a:xfrm>
          <a:prstGeom prst="roundRect">
            <a:avLst>
              <a:gd fmla="val 77565" name="adj"/>
            </a:avLst>
          </a:prstGeom>
          <a:solidFill>
            <a:srgbClr val="1B1B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60" name="Google Shape;160;p19"/>
          <p:cNvSpPr/>
          <p:nvPr/>
        </p:nvSpPr>
        <p:spPr>
          <a:xfrm>
            <a:off x="1135026" y="2028700"/>
            <a:ext cx="3854400" cy="351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C3939"/>
              </a:buClr>
              <a:buSzPts val="2200"/>
              <a:buFont typeface="Raleway"/>
              <a:buNone/>
            </a:pPr>
            <a:r>
              <a:rPr b="0" i="0" lang="en-US" sz="2400" u="none" cap="none" strike="noStrike">
                <a:solidFill>
                  <a:schemeClr val="dk1"/>
                </a:solidFill>
                <a:latin typeface="Raleway"/>
                <a:ea typeface="Raleway"/>
                <a:cs typeface="Raleway"/>
                <a:sym typeface="Raleway"/>
              </a:rPr>
              <a:t>1. Supervised Learning</a:t>
            </a:r>
            <a:endParaRPr b="0" i="0" sz="2400" u="none" cap="none" strike="noStrike">
              <a:solidFill>
                <a:schemeClr val="dk1"/>
              </a:solidFill>
            </a:endParaRPr>
          </a:p>
        </p:txBody>
      </p:sp>
      <p:sp>
        <p:nvSpPr>
          <p:cNvPr id="161" name="Google Shape;161;p19"/>
          <p:cNvSpPr/>
          <p:nvPr/>
        </p:nvSpPr>
        <p:spPr>
          <a:xfrm>
            <a:off x="1135023" y="2515553"/>
            <a:ext cx="3598664" cy="1080492"/>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3C3939"/>
              </a:buClr>
              <a:buSzPts val="1750"/>
              <a:buFont typeface="Roboto"/>
              <a:buNone/>
            </a:pPr>
            <a:r>
              <a:rPr b="1" i="0" lang="en-US" sz="2250" u="none" cap="none" strike="noStrike">
                <a:solidFill>
                  <a:schemeClr val="dk1"/>
                </a:solidFill>
                <a:latin typeface="EB Garamond"/>
                <a:ea typeface="EB Garamond"/>
                <a:cs typeface="EB Garamond"/>
                <a:sym typeface="EB Garamond"/>
              </a:rPr>
              <a:t>Concept</a:t>
            </a:r>
            <a:r>
              <a:rPr i="0" lang="en-US" sz="2250" u="none" cap="none" strike="noStrike">
                <a:solidFill>
                  <a:schemeClr val="dk1"/>
                </a:solidFill>
                <a:latin typeface="EB Garamond Medium"/>
                <a:ea typeface="EB Garamond Medium"/>
                <a:cs typeface="EB Garamond Medium"/>
                <a:sym typeface="EB Garamond Medium"/>
              </a:rPr>
              <a:t>: Learns from labeled data, where both inputs and desired outputs are known.</a:t>
            </a:r>
            <a:endParaRPr i="0" sz="2250" u="none" cap="none" strike="noStrike">
              <a:solidFill>
                <a:schemeClr val="dk1"/>
              </a:solidFill>
              <a:latin typeface="EB Garamond Medium"/>
              <a:ea typeface="EB Garamond Medium"/>
              <a:cs typeface="EB Garamond Medium"/>
              <a:sym typeface="EB Garamond Medium"/>
            </a:endParaRPr>
          </a:p>
        </p:txBody>
      </p:sp>
      <p:sp>
        <p:nvSpPr>
          <p:cNvPr id="162" name="Google Shape;162;p19"/>
          <p:cNvSpPr/>
          <p:nvPr/>
        </p:nvSpPr>
        <p:spPr>
          <a:xfrm>
            <a:off x="1135023" y="4817745"/>
            <a:ext cx="3598800" cy="14406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3C3939"/>
              </a:buClr>
              <a:buSzPts val="1750"/>
              <a:buFont typeface="Roboto"/>
              <a:buNone/>
            </a:pPr>
            <a:r>
              <a:rPr b="1" i="0" lang="en-US" sz="2250" u="none" cap="none" strike="noStrike">
                <a:solidFill>
                  <a:schemeClr val="dk1"/>
                </a:solidFill>
                <a:latin typeface="EB Garamond"/>
                <a:ea typeface="EB Garamond"/>
                <a:cs typeface="EB Garamond"/>
                <a:sym typeface="EB Garamond"/>
              </a:rPr>
              <a:t>Tasks</a:t>
            </a:r>
            <a:r>
              <a:rPr i="0" lang="en-US" sz="2250" u="none" cap="none" strike="noStrike">
                <a:solidFill>
                  <a:schemeClr val="dk1"/>
                </a:solidFill>
                <a:latin typeface="EB Garamond Medium"/>
                <a:ea typeface="EB Garamond Medium"/>
                <a:cs typeface="EB Garamond Medium"/>
                <a:sym typeface="EB Garamond Medium"/>
              </a:rPr>
              <a:t>: Commonly used for classification (e.g., spam detection) and regression (e.g., predicting house prices).</a:t>
            </a:r>
            <a:endParaRPr i="0" sz="2250" u="none" cap="none" strike="noStrike">
              <a:solidFill>
                <a:schemeClr val="dk1"/>
              </a:solidFill>
              <a:latin typeface="EB Garamond Medium"/>
              <a:ea typeface="EB Garamond Medium"/>
              <a:cs typeface="EB Garamond Medium"/>
              <a:sym typeface="EB Garamond Medium"/>
            </a:endParaRPr>
          </a:p>
        </p:txBody>
      </p:sp>
      <p:sp>
        <p:nvSpPr>
          <p:cNvPr id="163" name="Google Shape;163;p19"/>
          <p:cNvSpPr/>
          <p:nvPr/>
        </p:nvSpPr>
        <p:spPr>
          <a:xfrm>
            <a:off x="5214461" y="1773079"/>
            <a:ext cx="4201358" cy="5837634"/>
          </a:xfrm>
          <a:prstGeom prst="roundRect">
            <a:avLst>
              <a:gd fmla="val 3482" name="adj"/>
            </a:avLst>
          </a:prstGeom>
          <a:solidFill>
            <a:srgbClr val="FFFFFF">
              <a:alpha val="94901"/>
            </a:srgbClr>
          </a:solidFill>
          <a:ln cap="flat" cmpd="sng" w="3047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64" name="Google Shape;164;p19"/>
          <p:cNvSpPr/>
          <p:nvPr/>
        </p:nvSpPr>
        <p:spPr>
          <a:xfrm>
            <a:off x="5183981" y="1773079"/>
            <a:ext cx="121920" cy="5837634"/>
          </a:xfrm>
          <a:prstGeom prst="roundRect">
            <a:avLst>
              <a:gd fmla="val 77565" name="adj"/>
            </a:avLst>
          </a:prstGeom>
          <a:solidFill>
            <a:srgbClr val="1B1B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65" name="Google Shape;165;p19"/>
          <p:cNvSpPr/>
          <p:nvPr/>
        </p:nvSpPr>
        <p:spPr>
          <a:xfrm>
            <a:off x="5561525" y="2028700"/>
            <a:ext cx="3854400" cy="351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C3939"/>
              </a:buClr>
              <a:buSzPts val="2200"/>
              <a:buFont typeface="Raleway"/>
              <a:buNone/>
            </a:pPr>
            <a:r>
              <a:rPr b="0" i="0" lang="en-US" sz="2400" u="none" cap="none" strike="noStrike">
                <a:solidFill>
                  <a:schemeClr val="dk1"/>
                </a:solidFill>
                <a:latin typeface="Raleway"/>
                <a:ea typeface="Raleway"/>
                <a:cs typeface="Raleway"/>
                <a:sym typeface="Raleway"/>
              </a:rPr>
              <a:t>2. Unsupervised Learning</a:t>
            </a:r>
            <a:endParaRPr b="0" i="0" sz="2400" u="none" cap="none" strike="noStrike">
              <a:solidFill>
                <a:schemeClr val="dk1"/>
              </a:solidFill>
            </a:endParaRPr>
          </a:p>
        </p:txBody>
      </p:sp>
      <p:sp>
        <p:nvSpPr>
          <p:cNvPr id="166" name="Google Shape;166;p19"/>
          <p:cNvSpPr/>
          <p:nvPr/>
        </p:nvSpPr>
        <p:spPr>
          <a:xfrm>
            <a:off x="5561528" y="2515553"/>
            <a:ext cx="3598664" cy="1440656"/>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3C3939"/>
              </a:buClr>
              <a:buSzPts val="1750"/>
              <a:buFont typeface="Roboto"/>
              <a:buNone/>
            </a:pPr>
            <a:r>
              <a:rPr b="1" i="0" lang="en-US" sz="2250" u="none" cap="none" strike="noStrike">
                <a:solidFill>
                  <a:schemeClr val="dk1"/>
                </a:solidFill>
                <a:latin typeface="EB Garamond"/>
                <a:ea typeface="EB Garamond"/>
                <a:cs typeface="EB Garamond"/>
                <a:sym typeface="EB Garamond"/>
              </a:rPr>
              <a:t>Concept</a:t>
            </a:r>
            <a:r>
              <a:rPr i="0" lang="en-US" sz="2250" u="none" cap="none" strike="noStrike">
                <a:solidFill>
                  <a:schemeClr val="dk1"/>
                </a:solidFill>
                <a:latin typeface="EB Garamond Medium"/>
                <a:ea typeface="EB Garamond Medium"/>
                <a:cs typeface="EB Garamond Medium"/>
                <a:sym typeface="EB Garamond Medium"/>
              </a:rPr>
              <a:t>: Discovers hidden patterns and structures within data that does not have pre-existing labels.</a:t>
            </a:r>
            <a:endParaRPr i="0" sz="2250" u="none" cap="none" strike="noStrike">
              <a:solidFill>
                <a:schemeClr val="dk1"/>
              </a:solidFill>
              <a:latin typeface="EB Garamond Medium"/>
              <a:ea typeface="EB Garamond Medium"/>
              <a:cs typeface="EB Garamond Medium"/>
              <a:sym typeface="EB Garamond Medium"/>
            </a:endParaRPr>
          </a:p>
        </p:txBody>
      </p:sp>
      <p:sp>
        <p:nvSpPr>
          <p:cNvPr id="167" name="Google Shape;167;p19"/>
          <p:cNvSpPr/>
          <p:nvPr/>
        </p:nvSpPr>
        <p:spPr>
          <a:xfrm>
            <a:off x="5561528" y="4949309"/>
            <a:ext cx="3598800" cy="18009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3C3939"/>
              </a:buClr>
              <a:buSzPts val="1750"/>
              <a:buFont typeface="Roboto"/>
              <a:buNone/>
            </a:pPr>
            <a:r>
              <a:rPr b="1" i="0" lang="en-US" sz="2250" u="none" cap="none" strike="noStrike">
                <a:solidFill>
                  <a:schemeClr val="dk1"/>
                </a:solidFill>
                <a:latin typeface="EB Garamond"/>
                <a:ea typeface="EB Garamond"/>
                <a:cs typeface="EB Garamond"/>
                <a:sym typeface="EB Garamond"/>
              </a:rPr>
              <a:t>Tasks</a:t>
            </a:r>
            <a:r>
              <a:rPr i="0" lang="en-US" sz="2250" u="none" cap="none" strike="noStrike">
                <a:solidFill>
                  <a:schemeClr val="dk1"/>
                </a:solidFill>
                <a:latin typeface="EB Garamond Medium"/>
                <a:ea typeface="EB Garamond Medium"/>
                <a:cs typeface="EB Garamond Medium"/>
                <a:sym typeface="EB Garamond Medium"/>
              </a:rPr>
              <a:t>: Primarily used for clustering (grouping similar data points) and association (finding relationships between variables).</a:t>
            </a:r>
            <a:endParaRPr i="0" sz="2250" u="none" cap="none" strike="noStrike">
              <a:solidFill>
                <a:schemeClr val="dk1"/>
              </a:solidFill>
              <a:latin typeface="EB Garamond Medium"/>
              <a:ea typeface="EB Garamond Medium"/>
              <a:cs typeface="EB Garamond Medium"/>
              <a:sym typeface="EB Garamond Medium"/>
            </a:endParaRPr>
          </a:p>
        </p:txBody>
      </p:sp>
      <p:sp>
        <p:nvSpPr>
          <p:cNvPr id="168" name="Google Shape;168;p19"/>
          <p:cNvSpPr/>
          <p:nvPr/>
        </p:nvSpPr>
        <p:spPr>
          <a:xfrm>
            <a:off x="9640967" y="1773079"/>
            <a:ext cx="4201358" cy="5837634"/>
          </a:xfrm>
          <a:prstGeom prst="roundRect">
            <a:avLst>
              <a:gd fmla="val 3482" name="adj"/>
            </a:avLst>
          </a:prstGeom>
          <a:solidFill>
            <a:srgbClr val="FFFFFF">
              <a:alpha val="94901"/>
            </a:srgbClr>
          </a:solidFill>
          <a:ln cap="flat" cmpd="sng" w="3047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69" name="Google Shape;169;p19"/>
          <p:cNvSpPr/>
          <p:nvPr/>
        </p:nvSpPr>
        <p:spPr>
          <a:xfrm>
            <a:off x="9610487" y="1773079"/>
            <a:ext cx="121920" cy="5837634"/>
          </a:xfrm>
          <a:prstGeom prst="roundRect">
            <a:avLst>
              <a:gd fmla="val 77565" name="adj"/>
            </a:avLst>
          </a:prstGeom>
          <a:solidFill>
            <a:srgbClr val="1B1B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70" name="Google Shape;170;p19"/>
          <p:cNvSpPr/>
          <p:nvPr/>
        </p:nvSpPr>
        <p:spPr>
          <a:xfrm>
            <a:off x="9930340" y="2028700"/>
            <a:ext cx="3740700" cy="351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C3939"/>
              </a:buClr>
              <a:buSzPts val="2200"/>
              <a:buFont typeface="Raleway"/>
              <a:buNone/>
            </a:pPr>
            <a:r>
              <a:rPr b="0" i="0" lang="en-US" sz="2400" u="none" cap="none" strike="noStrike">
                <a:solidFill>
                  <a:schemeClr val="dk1"/>
                </a:solidFill>
                <a:latin typeface="Raleway"/>
                <a:ea typeface="Raleway"/>
                <a:cs typeface="Raleway"/>
                <a:sym typeface="Raleway"/>
              </a:rPr>
              <a:t>3. Reinforcement Learning</a:t>
            </a:r>
            <a:endParaRPr b="0" i="0" sz="2400" u="none" cap="none" strike="noStrike">
              <a:solidFill>
                <a:schemeClr val="dk1"/>
              </a:solidFill>
            </a:endParaRPr>
          </a:p>
        </p:txBody>
      </p:sp>
      <p:sp>
        <p:nvSpPr>
          <p:cNvPr id="171" name="Google Shape;171;p19"/>
          <p:cNvSpPr/>
          <p:nvPr/>
        </p:nvSpPr>
        <p:spPr>
          <a:xfrm>
            <a:off x="9988034" y="2515553"/>
            <a:ext cx="3598664" cy="180082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3C3939"/>
              </a:buClr>
              <a:buSzPts val="1750"/>
              <a:buFont typeface="Roboto"/>
              <a:buNone/>
            </a:pPr>
            <a:r>
              <a:rPr b="1" i="0" lang="en-US" sz="2250" u="none" cap="none" strike="noStrike">
                <a:solidFill>
                  <a:schemeClr val="dk1"/>
                </a:solidFill>
                <a:latin typeface="EB Garamond"/>
                <a:ea typeface="EB Garamond"/>
                <a:cs typeface="EB Garamond"/>
                <a:sym typeface="EB Garamond"/>
              </a:rPr>
              <a:t>Concept</a:t>
            </a:r>
            <a:r>
              <a:rPr i="0" lang="en-US" sz="2250" u="none" cap="none" strike="noStrike">
                <a:solidFill>
                  <a:schemeClr val="dk1"/>
                </a:solidFill>
                <a:latin typeface="EB Garamond Medium"/>
                <a:ea typeface="EB Garamond Medium"/>
                <a:cs typeface="EB Garamond Medium"/>
                <a:sym typeface="EB Garamond Medium"/>
              </a:rPr>
              <a:t>: An agent learns to make decisions by interacting with an environment, receiving rewards for desired actions and penalties for undesired ones.</a:t>
            </a:r>
            <a:endParaRPr i="0" sz="2250" u="none" cap="none" strike="noStrike">
              <a:solidFill>
                <a:schemeClr val="dk1"/>
              </a:solidFill>
              <a:latin typeface="EB Garamond Medium"/>
              <a:ea typeface="EB Garamond Medium"/>
              <a:cs typeface="EB Garamond Medium"/>
              <a:sym typeface="EB Garamond Medium"/>
            </a:endParaRPr>
          </a:p>
        </p:txBody>
      </p:sp>
      <p:sp>
        <p:nvSpPr>
          <p:cNvPr id="172" name="Google Shape;172;p19"/>
          <p:cNvSpPr/>
          <p:nvPr/>
        </p:nvSpPr>
        <p:spPr>
          <a:xfrm>
            <a:off x="9988034" y="5461873"/>
            <a:ext cx="3598800" cy="14406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3C3939"/>
              </a:buClr>
              <a:buSzPts val="1750"/>
              <a:buFont typeface="Roboto"/>
              <a:buNone/>
            </a:pPr>
            <a:r>
              <a:rPr b="1" i="0" lang="en-US" sz="2250" u="none" cap="none" strike="noStrike">
                <a:solidFill>
                  <a:schemeClr val="dk1"/>
                </a:solidFill>
                <a:latin typeface="EB Garamond"/>
                <a:ea typeface="EB Garamond"/>
                <a:cs typeface="EB Garamond"/>
                <a:sym typeface="EB Garamond"/>
              </a:rPr>
              <a:t>Applications</a:t>
            </a:r>
            <a:r>
              <a:rPr i="0" lang="en-US" sz="2250" u="none" cap="none" strike="noStrike">
                <a:solidFill>
                  <a:schemeClr val="dk1"/>
                </a:solidFill>
                <a:latin typeface="EB Garamond Medium"/>
                <a:ea typeface="EB Garamond Medium"/>
                <a:cs typeface="EB Garamond Medium"/>
                <a:sym typeface="EB Garamond Medium"/>
              </a:rPr>
              <a:t>: Widely applied in areas like robotics, autonomous systems, and advanced game AI.</a:t>
            </a:r>
            <a:endParaRPr i="0" sz="2250" u="none" cap="none" strike="noStrike">
              <a:solidFill>
                <a:schemeClr val="dk1"/>
              </a:solidFill>
              <a:latin typeface="EB Garamond Medium"/>
              <a:ea typeface="EB Garamond Medium"/>
              <a:cs typeface="EB Garamond Medium"/>
              <a:sym typeface="EB Garamond Medium"/>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0"/>
          <p:cNvSpPr/>
          <p:nvPr/>
        </p:nvSpPr>
        <p:spPr>
          <a:xfrm>
            <a:off x="616151" y="612100"/>
            <a:ext cx="10747500" cy="550200"/>
          </a:xfrm>
          <a:prstGeom prst="rect">
            <a:avLst/>
          </a:prstGeom>
          <a:noFill/>
          <a:ln>
            <a:noFill/>
          </a:ln>
        </p:spPr>
        <p:txBody>
          <a:bodyPr anchorCtr="0" anchor="t" bIns="0" lIns="0" spcFirstLastPara="1" rIns="0" wrap="square" tIns="0">
            <a:noAutofit/>
          </a:bodyPr>
          <a:lstStyle/>
          <a:p>
            <a:pPr indent="0" lvl="0" marL="0" marR="0" rtl="0" algn="l">
              <a:lnSpc>
                <a:spcPct val="124637"/>
              </a:lnSpc>
              <a:spcBef>
                <a:spcPts val="0"/>
              </a:spcBef>
              <a:spcAft>
                <a:spcPts val="0"/>
              </a:spcAft>
              <a:buClr>
                <a:srgbClr val="1B1B27"/>
              </a:buClr>
              <a:buSzPts val="3450"/>
              <a:buFont typeface="Raleway"/>
              <a:buNone/>
            </a:pPr>
            <a:r>
              <a:rPr b="1" lang="en-US" sz="3450">
                <a:solidFill>
                  <a:schemeClr val="dk1"/>
                </a:solidFill>
                <a:latin typeface="Raleway"/>
                <a:ea typeface="Raleway"/>
                <a:cs typeface="Raleway"/>
                <a:sym typeface="Raleway"/>
              </a:rPr>
              <a:t>Applications </a:t>
            </a:r>
            <a:r>
              <a:rPr b="1" i="0" lang="en-US" sz="3450" u="none" cap="none" strike="noStrike">
                <a:solidFill>
                  <a:schemeClr val="dk1"/>
                </a:solidFill>
                <a:latin typeface="Raleway"/>
                <a:ea typeface="Raleway"/>
                <a:cs typeface="Raleway"/>
                <a:sym typeface="Raleway"/>
              </a:rPr>
              <a:t>of Machine Learning in Real Life</a:t>
            </a:r>
            <a:endParaRPr b="1" i="0" sz="3450" u="none" cap="none" strike="noStrike">
              <a:solidFill>
                <a:schemeClr val="dk1"/>
              </a:solidFill>
            </a:endParaRPr>
          </a:p>
        </p:txBody>
      </p:sp>
      <p:pic>
        <p:nvPicPr>
          <p:cNvPr descr="preencoded.png" id="179" name="Google Shape;179;p20"/>
          <p:cNvPicPr preferRelativeResize="0"/>
          <p:nvPr/>
        </p:nvPicPr>
        <p:blipFill rotWithShape="1">
          <a:blip r:embed="rId3">
            <a:alphaModFix/>
          </a:blip>
          <a:srcRect b="0" l="0" r="0" t="0"/>
          <a:stretch/>
        </p:blipFill>
        <p:spPr>
          <a:xfrm>
            <a:off x="692348" y="1666756"/>
            <a:ext cx="440055" cy="440055"/>
          </a:xfrm>
          <a:prstGeom prst="rect">
            <a:avLst/>
          </a:prstGeom>
          <a:noFill/>
          <a:ln>
            <a:noFill/>
          </a:ln>
        </p:spPr>
      </p:pic>
      <p:sp>
        <p:nvSpPr>
          <p:cNvPr id="180" name="Google Shape;180;p20"/>
          <p:cNvSpPr/>
          <p:nvPr/>
        </p:nvSpPr>
        <p:spPr>
          <a:xfrm>
            <a:off x="635376" y="2326838"/>
            <a:ext cx="2200800" cy="275100"/>
          </a:xfrm>
          <a:prstGeom prst="rect">
            <a:avLst/>
          </a:prstGeom>
          <a:noFill/>
          <a:ln>
            <a:noFill/>
          </a:ln>
        </p:spPr>
        <p:txBody>
          <a:bodyPr anchorCtr="0" anchor="t" bIns="0" lIns="0" spcFirstLastPara="1" rIns="0" wrap="square" tIns="0">
            <a:noAutofit/>
          </a:bodyPr>
          <a:lstStyle/>
          <a:p>
            <a:pPr indent="0" lvl="0" marL="0" marR="0" rtl="0" algn="l">
              <a:lnSpc>
                <a:spcPct val="126470"/>
              </a:lnSpc>
              <a:spcBef>
                <a:spcPts val="0"/>
              </a:spcBef>
              <a:spcAft>
                <a:spcPts val="0"/>
              </a:spcAft>
              <a:buClr>
                <a:srgbClr val="3C3939"/>
              </a:buClr>
              <a:buSzPts val="1700"/>
              <a:buFont typeface="Raleway"/>
              <a:buNone/>
            </a:pPr>
            <a:r>
              <a:rPr b="1" i="0" lang="en-US" sz="3000" u="none" cap="none" strike="noStrike">
                <a:solidFill>
                  <a:schemeClr val="dk1"/>
                </a:solidFill>
                <a:latin typeface="EB Garamond"/>
                <a:ea typeface="EB Garamond"/>
                <a:cs typeface="EB Garamond"/>
                <a:sym typeface="EB Garamond"/>
              </a:rPr>
              <a:t>Spam Detection</a:t>
            </a:r>
            <a:endParaRPr b="1" i="0" sz="3000" u="none" cap="none" strike="noStrike">
              <a:solidFill>
                <a:schemeClr val="dk1"/>
              </a:solidFill>
              <a:latin typeface="EB Garamond"/>
              <a:ea typeface="EB Garamond"/>
              <a:cs typeface="EB Garamond"/>
              <a:sym typeface="EB Garamond"/>
            </a:endParaRPr>
          </a:p>
        </p:txBody>
      </p:sp>
      <p:pic>
        <p:nvPicPr>
          <p:cNvPr descr="preencoded.png" id="181" name="Google Shape;181;p20"/>
          <p:cNvPicPr preferRelativeResize="0"/>
          <p:nvPr/>
        </p:nvPicPr>
        <p:blipFill rotWithShape="1">
          <a:blip r:embed="rId4">
            <a:alphaModFix/>
          </a:blip>
          <a:srcRect b="0" l="0" r="0" t="0"/>
          <a:stretch/>
        </p:blipFill>
        <p:spPr>
          <a:xfrm>
            <a:off x="5231725" y="1666756"/>
            <a:ext cx="440055" cy="440055"/>
          </a:xfrm>
          <a:prstGeom prst="rect">
            <a:avLst/>
          </a:prstGeom>
          <a:noFill/>
          <a:ln>
            <a:noFill/>
          </a:ln>
        </p:spPr>
      </p:pic>
      <p:sp>
        <p:nvSpPr>
          <p:cNvPr id="182" name="Google Shape;182;p20"/>
          <p:cNvSpPr/>
          <p:nvPr/>
        </p:nvSpPr>
        <p:spPr>
          <a:xfrm>
            <a:off x="5174749" y="2326850"/>
            <a:ext cx="3497100" cy="275100"/>
          </a:xfrm>
          <a:prstGeom prst="rect">
            <a:avLst/>
          </a:prstGeom>
          <a:noFill/>
          <a:ln>
            <a:noFill/>
          </a:ln>
        </p:spPr>
        <p:txBody>
          <a:bodyPr anchorCtr="0" anchor="t" bIns="0" lIns="0" spcFirstLastPara="1" rIns="0" wrap="square" tIns="0">
            <a:noAutofit/>
          </a:bodyPr>
          <a:lstStyle/>
          <a:p>
            <a:pPr indent="0" lvl="0" marL="0" marR="0" rtl="0" algn="l">
              <a:lnSpc>
                <a:spcPct val="126470"/>
              </a:lnSpc>
              <a:spcBef>
                <a:spcPts val="0"/>
              </a:spcBef>
              <a:spcAft>
                <a:spcPts val="0"/>
              </a:spcAft>
              <a:buClr>
                <a:srgbClr val="3C3939"/>
              </a:buClr>
              <a:buSzPts val="1700"/>
              <a:buFont typeface="Raleway"/>
              <a:buNone/>
            </a:pPr>
            <a:r>
              <a:rPr b="1" i="0" lang="en-US" sz="3000" u="none" cap="none" strike="noStrike">
                <a:solidFill>
                  <a:schemeClr val="dk1"/>
                </a:solidFill>
                <a:latin typeface="EB Garamond"/>
                <a:ea typeface="EB Garamond"/>
                <a:cs typeface="EB Garamond"/>
                <a:sym typeface="EB Garamond"/>
              </a:rPr>
              <a:t>Product Recommendations</a:t>
            </a:r>
            <a:endParaRPr b="1" i="0" sz="3000" u="none" cap="none" strike="noStrike">
              <a:solidFill>
                <a:schemeClr val="dk1"/>
              </a:solidFill>
              <a:latin typeface="EB Garamond"/>
              <a:ea typeface="EB Garamond"/>
              <a:cs typeface="EB Garamond"/>
              <a:sym typeface="EB Garamond"/>
            </a:endParaRPr>
          </a:p>
        </p:txBody>
      </p:sp>
      <p:pic>
        <p:nvPicPr>
          <p:cNvPr descr="preencoded.png" id="183" name="Google Shape;183;p20"/>
          <p:cNvPicPr preferRelativeResize="0"/>
          <p:nvPr/>
        </p:nvPicPr>
        <p:blipFill rotWithShape="1">
          <a:blip r:embed="rId5">
            <a:alphaModFix/>
          </a:blip>
          <a:srcRect b="0" l="0" r="0" t="0"/>
          <a:stretch/>
        </p:blipFill>
        <p:spPr>
          <a:xfrm>
            <a:off x="9771102" y="1666756"/>
            <a:ext cx="440055" cy="440055"/>
          </a:xfrm>
          <a:prstGeom prst="rect">
            <a:avLst/>
          </a:prstGeom>
          <a:noFill/>
          <a:ln>
            <a:noFill/>
          </a:ln>
        </p:spPr>
      </p:pic>
      <p:sp>
        <p:nvSpPr>
          <p:cNvPr id="184" name="Google Shape;184;p20"/>
          <p:cNvSpPr/>
          <p:nvPr/>
        </p:nvSpPr>
        <p:spPr>
          <a:xfrm>
            <a:off x="9714130" y="2326838"/>
            <a:ext cx="2200800" cy="275100"/>
          </a:xfrm>
          <a:prstGeom prst="rect">
            <a:avLst/>
          </a:prstGeom>
          <a:noFill/>
          <a:ln>
            <a:noFill/>
          </a:ln>
        </p:spPr>
        <p:txBody>
          <a:bodyPr anchorCtr="0" anchor="t" bIns="0" lIns="0" spcFirstLastPara="1" rIns="0" wrap="square" tIns="0">
            <a:noAutofit/>
          </a:bodyPr>
          <a:lstStyle/>
          <a:p>
            <a:pPr indent="0" lvl="0" marL="0" marR="0" rtl="0" algn="l">
              <a:lnSpc>
                <a:spcPct val="126470"/>
              </a:lnSpc>
              <a:spcBef>
                <a:spcPts val="0"/>
              </a:spcBef>
              <a:spcAft>
                <a:spcPts val="0"/>
              </a:spcAft>
              <a:buClr>
                <a:srgbClr val="3C3939"/>
              </a:buClr>
              <a:buSzPts val="1700"/>
              <a:buFont typeface="Raleway"/>
              <a:buNone/>
            </a:pPr>
            <a:r>
              <a:rPr b="1" i="0" lang="en-US" sz="3000" u="none" cap="none" strike="noStrike">
                <a:solidFill>
                  <a:schemeClr val="dk1"/>
                </a:solidFill>
                <a:latin typeface="EB Garamond"/>
                <a:ea typeface="EB Garamond"/>
                <a:cs typeface="EB Garamond"/>
                <a:sym typeface="EB Garamond"/>
              </a:rPr>
              <a:t>Fraud Detection</a:t>
            </a:r>
            <a:endParaRPr b="1" i="0" sz="3000" u="none" cap="none" strike="noStrike">
              <a:solidFill>
                <a:schemeClr val="dk1"/>
              </a:solidFill>
              <a:latin typeface="EB Garamond"/>
              <a:ea typeface="EB Garamond"/>
              <a:cs typeface="EB Garamond"/>
              <a:sym typeface="EB Garamond"/>
            </a:endParaRPr>
          </a:p>
        </p:txBody>
      </p:sp>
      <p:pic>
        <p:nvPicPr>
          <p:cNvPr descr="preencoded.png" id="185" name="Google Shape;185;p20"/>
          <p:cNvPicPr preferRelativeResize="0"/>
          <p:nvPr/>
        </p:nvPicPr>
        <p:blipFill rotWithShape="1">
          <a:blip r:embed="rId6">
            <a:alphaModFix/>
          </a:blip>
          <a:srcRect b="0" l="0" r="0" t="0"/>
          <a:stretch/>
        </p:blipFill>
        <p:spPr>
          <a:xfrm>
            <a:off x="692348" y="3622953"/>
            <a:ext cx="440055" cy="440055"/>
          </a:xfrm>
          <a:prstGeom prst="rect">
            <a:avLst/>
          </a:prstGeom>
          <a:noFill/>
          <a:ln>
            <a:noFill/>
          </a:ln>
        </p:spPr>
      </p:pic>
      <p:sp>
        <p:nvSpPr>
          <p:cNvPr id="186" name="Google Shape;186;p20"/>
          <p:cNvSpPr/>
          <p:nvPr/>
        </p:nvSpPr>
        <p:spPr>
          <a:xfrm>
            <a:off x="635376" y="4283035"/>
            <a:ext cx="2200800" cy="275100"/>
          </a:xfrm>
          <a:prstGeom prst="rect">
            <a:avLst/>
          </a:prstGeom>
          <a:noFill/>
          <a:ln>
            <a:noFill/>
          </a:ln>
        </p:spPr>
        <p:txBody>
          <a:bodyPr anchorCtr="0" anchor="t" bIns="0" lIns="0" spcFirstLastPara="1" rIns="0" wrap="square" tIns="0">
            <a:noAutofit/>
          </a:bodyPr>
          <a:lstStyle/>
          <a:p>
            <a:pPr indent="0" lvl="0" marL="0" marR="0" rtl="0" algn="l">
              <a:lnSpc>
                <a:spcPct val="126470"/>
              </a:lnSpc>
              <a:spcBef>
                <a:spcPts val="0"/>
              </a:spcBef>
              <a:spcAft>
                <a:spcPts val="0"/>
              </a:spcAft>
              <a:buClr>
                <a:srgbClr val="3C3939"/>
              </a:buClr>
              <a:buSzPts val="1700"/>
              <a:buFont typeface="Raleway"/>
              <a:buNone/>
            </a:pPr>
            <a:r>
              <a:rPr b="1" i="0" lang="en-US" sz="3000" u="none" cap="none" strike="noStrike">
                <a:solidFill>
                  <a:schemeClr val="dk1"/>
                </a:solidFill>
                <a:latin typeface="EB Garamond"/>
                <a:ea typeface="EB Garamond"/>
                <a:cs typeface="EB Garamond"/>
                <a:sym typeface="EB Garamond"/>
              </a:rPr>
              <a:t>Voice Assistants</a:t>
            </a:r>
            <a:endParaRPr b="1" i="0" sz="3000" u="none" cap="none" strike="noStrike">
              <a:solidFill>
                <a:schemeClr val="dk1"/>
              </a:solidFill>
              <a:latin typeface="EB Garamond"/>
              <a:ea typeface="EB Garamond"/>
              <a:cs typeface="EB Garamond"/>
              <a:sym typeface="EB Garamond"/>
            </a:endParaRPr>
          </a:p>
        </p:txBody>
      </p:sp>
      <p:pic>
        <p:nvPicPr>
          <p:cNvPr descr="preencoded.png" id="187" name="Google Shape;187;p20"/>
          <p:cNvPicPr preferRelativeResize="0"/>
          <p:nvPr/>
        </p:nvPicPr>
        <p:blipFill rotWithShape="1">
          <a:blip r:embed="rId7">
            <a:alphaModFix/>
          </a:blip>
          <a:srcRect b="0" l="0" r="0" t="0"/>
          <a:stretch/>
        </p:blipFill>
        <p:spPr>
          <a:xfrm>
            <a:off x="5231725" y="3622953"/>
            <a:ext cx="440055" cy="440055"/>
          </a:xfrm>
          <a:prstGeom prst="rect">
            <a:avLst/>
          </a:prstGeom>
          <a:noFill/>
          <a:ln>
            <a:noFill/>
          </a:ln>
        </p:spPr>
      </p:pic>
      <p:sp>
        <p:nvSpPr>
          <p:cNvPr id="188" name="Google Shape;188;p20"/>
          <p:cNvSpPr/>
          <p:nvPr/>
        </p:nvSpPr>
        <p:spPr>
          <a:xfrm>
            <a:off x="5174753" y="4283035"/>
            <a:ext cx="2200800" cy="275100"/>
          </a:xfrm>
          <a:prstGeom prst="rect">
            <a:avLst/>
          </a:prstGeom>
          <a:noFill/>
          <a:ln>
            <a:noFill/>
          </a:ln>
        </p:spPr>
        <p:txBody>
          <a:bodyPr anchorCtr="0" anchor="t" bIns="0" lIns="0" spcFirstLastPara="1" rIns="0" wrap="square" tIns="0">
            <a:noAutofit/>
          </a:bodyPr>
          <a:lstStyle/>
          <a:p>
            <a:pPr indent="0" lvl="0" marL="0" marR="0" rtl="0" algn="l">
              <a:lnSpc>
                <a:spcPct val="126470"/>
              </a:lnSpc>
              <a:spcBef>
                <a:spcPts val="0"/>
              </a:spcBef>
              <a:spcAft>
                <a:spcPts val="0"/>
              </a:spcAft>
              <a:buClr>
                <a:srgbClr val="3C3939"/>
              </a:buClr>
              <a:buSzPts val="1700"/>
              <a:buFont typeface="Raleway"/>
              <a:buNone/>
            </a:pPr>
            <a:r>
              <a:rPr b="1" i="0" lang="en-US" sz="3000" u="none" cap="none" strike="noStrike">
                <a:solidFill>
                  <a:schemeClr val="dk1"/>
                </a:solidFill>
                <a:latin typeface="EB Garamond"/>
                <a:ea typeface="EB Garamond"/>
                <a:cs typeface="EB Garamond"/>
                <a:sym typeface="EB Garamond"/>
              </a:rPr>
              <a:t>Self-Driving Cars</a:t>
            </a:r>
            <a:endParaRPr b="1" i="0" sz="3000" u="none" cap="none" strike="noStrike">
              <a:solidFill>
                <a:schemeClr val="dk1"/>
              </a:solidFill>
              <a:latin typeface="EB Garamond"/>
              <a:ea typeface="EB Garamond"/>
              <a:cs typeface="EB Garamond"/>
              <a:sym typeface="EB Garamond"/>
            </a:endParaRPr>
          </a:p>
        </p:txBody>
      </p:sp>
      <p:pic>
        <p:nvPicPr>
          <p:cNvPr descr="preencoded.png" id="189" name="Google Shape;189;p20"/>
          <p:cNvPicPr preferRelativeResize="0"/>
          <p:nvPr/>
        </p:nvPicPr>
        <p:blipFill rotWithShape="1">
          <a:blip r:embed="rId8">
            <a:alphaModFix/>
          </a:blip>
          <a:srcRect b="0" l="0" r="0" t="0"/>
          <a:stretch/>
        </p:blipFill>
        <p:spPr>
          <a:xfrm>
            <a:off x="9771102" y="3622953"/>
            <a:ext cx="440055" cy="440055"/>
          </a:xfrm>
          <a:prstGeom prst="rect">
            <a:avLst/>
          </a:prstGeom>
          <a:noFill/>
          <a:ln>
            <a:noFill/>
          </a:ln>
        </p:spPr>
      </p:pic>
      <p:sp>
        <p:nvSpPr>
          <p:cNvPr id="190" name="Google Shape;190;p20"/>
          <p:cNvSpPr/>
          <p:nvPr/>
        </p:nvSpPr>
        <p:spPr>
          <a:xfrm>
            <a:off x="9714130" y="4283035"/>
            <a:ext cx="2200800" cy="275100"/>
          </a:xfrm>
          <a:prstGeom prst="rect">
            <a:avLst/>
          </a:prstGeom>
          <a:noFill/>
          <a:ln>
            <a:noFill/>
          </a:ln>
        </p:spPr>
        <p:txBody>
          <a:bodyPr anchorCtr="0" anchor="t" bIns="0" lIns="0" spcFirstLastPara="1" rIns="0" wrap="square" tIns="0">
            <a:noAutofit/>
          </a:bodyPr>
          <a:lstStyle/>
          <a:p>
            <a:pPr indent="0" lvl="0" marL="0" marR="0" rtl="0" algn="l">
              <a:lnSpc>
                <a:spcPct val="126470"/>
              </a:lnSpc>
              <a:spcBef>
                <a:spcPts val="0"/>
              </a:spcBef>
              <a:spcAft>
                <a:spcPts val="0"/>
              </a:spcAft>
              <a:buClr>
                <a:srgbClr val="3C3939"/>
              </a:buClr>
              <a:buSzPts val="1700"/>
              <a:buFont typeface="Raleway"/>
              <a:buNone/>
            </a:pPr>
            <a:r>
              <a:rPr b="1" i="0" lang="en-US" sz="3000" u="none" cap="none" strike="noStrike">
                <a:solidFill>
                  <a:schemeClr val="dk1"/>
                </a:solidFill>
                <a:latin typeface="EB Garamond"/>
                <a:ea typeface="EB Garamond"/>
                <a:cs typeface="EB Garamond"/>
                <a:sym typeface="EB Garamond"/>
              </a:rPr>
              <a:t>Medical Diagnosis</a:t>
            </a:r>
            <a:endParaRPr b="1" i="0" sz="3000" u="none" cap="none" strike="noStrike">
              <a:solidFill>
                <a:schemeClr val="dk1"/>
              </a:solidFill>
              <a:latin typeface="EB Garamond"/>
              <a:ea typeface="EB Garamond"/>
              <a:cs typeface="EB Garamond"/>
              <a:sym typeface="EB Garamond"/>
            </a:endParaRPr>
          </a:p>
        </p:txBody>
      </p:sp>
      <p:pic>
        <p:nvPicPr>
          <p:cNvPr descr="preencoded.png" id="191" name="Google Shape;191;p20"/>
          <p:cNvPicPr preferRelativeResize="0"/>
          <p:nvPr/>
        </p:nvPicPr>
        <p:blipFill rotWithShape="1">
          <a:blip r:embed="rId9">
            <a:alphaModFix/>
          </a:blip>
          <a:srcRect b="0" l="0" r="0" t="0"/>
          <a:stretch/>
        </p:blipFill>
        <p:spPr>
          <a:xfrm>
            <a:off x="692348" y="5860852"/>
            <a:ext cx="440055" cy="440055"/>
          </a:xfrm>
          <a:prstGeom prst="rect">
            <a:avLst/>
          </a:prstGeom>
          <a:noFill/>
          <a:ln>
            <a:noFill/>
          </a:ln>
        </p:spPr>
      </p:pic>
      <p:sp>
        <p:nvSpPr>
          <p:cNvPr id="192" name="Google Shape;192;p20"/>
          <p:cNvSpPr/>
          <p:nvPr/>
        </p:nvSpPr>
        <p:spPr>
          <a:xfrm>
            <a:off x="635376" y="6520934"/>
            <a:ext cx="2413200" cy="275100"/>
          </a:xfrm>
          <a:prstGeom prst="rect">
            <a:avLst/>
          </a:prstGeom>
          <a:noFill/>
          <a:ln>
            <a:noFill/>
          </a:ln>
        </p:spPr>
        <p:txBody>
          <a:bodyPr anchorCtr="0" anchor="t" bIns="0" lIns="0" spcFirstLastPara="1" rIns="0" wrap="square" tIns="0">
            <a:noAutofit/>
          </a:bodyPr>
          <a:lstStyle/>
          <a:p>
            <a:pPr indent="0" lvl="0" marL="0" marR="0" rtl="0" algn="l">
              <a:lnSpc>
                <a:spcPct val="126470"/>
              </a:lnSpc>
              <a:spcBef>
                <a:spcPts val="0"/>
              </a:spcBef>
              <a:spcAft>
                <a:spcPts val="0"/>
              </a:spcAft>
              <a:buClr>
                <a:srgbClr val="3C3939"/>
              </a:buClr>
              <a:buSzPts val="1700"/>
              <a:buFont typeface="Raleway"/>
              <a:buNone/>
            </a:pPr>
            <a:r>
              <a:rPr b="1" i="0" lang="en-US" sz="3000" u="none" cap="none" strike="noStrike">
                <a:solidFill>
                  <a:schemeClr val="dk1"/>
                </a:solidFill>
                <a:latin typeface="EB Garamond"/>
                <a:ea typeface="EB Garamond"/>
                <a:cs typeface="EB Garamond"/>
                <a:sym typeface="EB Garamond"/>
              </a:rPr>
              <a:t>House Price Predictions</a:t>
            </a:r>
            <a:endParaRPr b="1" i="0" sz="3000" u="none" cap="none" strike="noStrike">
              <a:solidFill>
                <a:schemeClr val="dk1"/>
              </a:solidFill>
              <a:latin typeface="EB Garamond"/>
              <a:ea typeface="EB Garamond"/>
              <a:cs typeface="EB Garamond"/>
              <a:sym typeface="EB Garamon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pic>
        <p:nvPicPr>
          <p:cNvPr id="198" name="Google Shape;198;p21"/>
          <p:cNvPicPr preferRelativeResize="0"/>
          <p:nvPr/>
        </p:nvPicPr>
        <p:blipFill>
          <a:blip r:embed="rId3">
            <a:alphaModFix/>
          </a:blip>
          <a:stretch>
            <a:fillRect/>
          </a:stretch>
        </p:blipFill>
        <p:spPr>
          <a:xfrm>
            <a:off x="152400" y="385375"/>
            <a:ext cx="14478000" cy="7844225"/>
          </a:xfrm>
          <a:prstGeom prst="rect">
            <a:avLst/>
          </a:prstGeom>
          <a:noFill/>
          <a:ln>
            <a:noFill/>
          </a:ln>
        </p:spPr>
      </p:pic>
      <p:sp>
        <p:nvSpPr>
          <p:cNvPr id="199" name="Google Shape;199;p21"/>
          <p:cNvSpPr/>
          <p:nvPr/>
        </p:nvSpPr>
        <p:spPr>
          <a:xfrm>
            <a:off x="184206" y="34650"/>
            <a:ext cx="8865600" cy="708900"/>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1B1B27"/>
              </a:buClr>
              <a:buSzPts val="4450"/>
              <a:buFont typeface="Raleway"/>
              <a:buNone/>
            </a:pPr>
            <a:r>
              <a:rPr b="1" i="0" lang="en-US" sz="4450" u="none" cap="none" strike="noStrike">
                <a:solidFill>
                  <a:schemeClr val="dk1"/>
                </a:solidFill>
                <a:latin typeface="Raleway"/>
                <a:ea typeface="Raleway"/>
                <a:cs typeface="Raleway"/>
                <a:sym typeface="Raleway"/>
              </a:rPr>
              <a:t>What </a:t>
            </a:r>
            <a:r>
              <a:rPr b="1" lang="en-US" sz="4450">
                <a:solidFill>
                  <a:schemeClr val="dk1"/>
                </a:solidFill>
                <a:latin typeface="Raleway"/>
                <a:ea typeface="Raleway"/>
                <a:cs typeface="Raleway"/>
                <a:sym typeface="Raleway"/>
              </a:rPr>
              <a:t>are Neural Networks</a:t>
            </a:r>
            <a:r>
              <a:rPr b="1" i="0" lang="en-US" sz="4450" u="none" cap="none" strike="noStrike">
                <a:solidFill>
                  <a:schemeClr val="dk1"/>
                </a:solidFill>
                <a:latin typeface="Raleway"/>
                <a:ea typeface="Raleway"/>
                <a:cs typeface="Raleway"/>
                <a:sym typeface="Raleway"/>
              </a:rPr>
              <a:t>?</a:t>
            </a:r>
            <a:endParaRPr b="1" i="0" sz="4450" u="none" cap="none" strike="noStrike">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