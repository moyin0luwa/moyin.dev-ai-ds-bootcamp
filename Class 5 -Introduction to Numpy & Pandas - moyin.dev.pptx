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Figtree"/>
      <p:regular r:id="rId24"/>
      <p:bold r:id="rId25"/>
      <p:italic r:id="rId26"/>
      <p:boldItalic r:id="rId27"/>
    </p:embeddedFont>
    <p:embeddedFont>
      <p:font typeface="Figtree ExtraBold"/>
      <p:bold r:id="rId28"/>
      <p:boldItalic r:id="rId29"/>
    </p:embeddedFont>
    <p:embeddedFont>
      <p:font typeface="Montserrat"/>
      <p:regular r:id="rId30"/>
      <p:bold r:id="rId31"/>
      <p:italic r:id="rId32"/>
      <p:boldItalic r:id="rId33"/>
    </p:embeddedFont>
    <p:embeddedFont>
      <p:font typeface="EB Garamond SemiBold"/>
      <p:regular r:id="rId34"/>
      <p:bold r:id="rId35"/>
      <p:italic r:id="rId36"/>
      <p:boldItalic r:id="rId37"/>
    </p:embeddedFont>
    <p:embeddedFont>
      <p:font typeface="Figtree SemiBold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4D724B-B6CD-4D75-8B7B-F3DE55CA9BBF}">
  <a:tblStyle styleId="{074D724B-B6CD-4D75-8B7B-F3DE55CA9BB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gtreeSemiBold-italic.fntdata"/><Relationship Id="rId20" Type="http://schemas.openxmlformats.org/officeDocument/2006/relationships/slide" Target="slides/slide14.xml"/><Relationship Id="rId41" Type="http://schemas.openxmlformats.org/officeDocument/2006/relationships/font" Target="fonts/FigtreeSemiBold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Figtree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Figtree-italic.fntdata"/><Relationship Id="rId25" Type="http://schemas.openxmlformats.org/officeDocument/2006/relationships/font" Target="fonts/Figtree-bold.fntdata"/><Relationship Id="rId28" Type="http://schemas.openxmlformats.org/officeDocument/2006/relationships/font" Target="fonts/FigtreeExtraBold-bold.fntdata"/><Relationship Id="rId27" Type="http://schemas.openxmlformats.org/officeDocument/2006/relationships/font" Target="fonts/Figtree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FigtreeExtra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5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7.xml"/><Relationship Id="rId35" Type="http://schemas.openxmlformats.org/officeDocument/2006/relationships/font" Target="fonts/EBGaramondSemiBold-bold.fntdata"/><Relationship Id="rId12" Type="http://schemas.openxmlformats.org/officeDocument/2006/relationships/slide" Target="slides/slide6.xml"/><Relationship Id="rId34" Type="http://schemas.openxmlformats.org/officeDocument/2006/relationships/font" Target="fonts/EBGaramond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EBGaramond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EBGaramondSemiBold-italic.fntdata"/><Relationship Id="rId17" Type="http://schemas.openxmlformats.org/officeDocument/2006/relationships/slide" Target="slides/slide11.xml"/><Relationship Id="rId39" Type="http://schemas.openxmlformats.org/officeDocument/2006/relationships/font" Target="fonts/FigtreeSemiBold-bold.fntdata"/><Relationship Id="rId16" Type="http://schemas.openxmlformats.org/officeDocument/2006/relationships/slide" Target="slides/slide10.xml"/><Relationship Id="rId38" Type="http://schemas.openxmlformats.org/officeDocument/2006/relationships/font" Target="fonts/FigtreeSemiBol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b5ce48b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b5ce48b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5ce48b7c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b5ce48b7c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b71978bfb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b71978bfb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bdd4610a8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bdd4610a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5ce48b7c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b5ce48b7c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b5ce48b7c5_0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b5ce48b7c5_0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bdd4610a8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bdd4610a8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bdd4610a8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bdd4610a8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dd4610a8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bdd4610a8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bdd4610a8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bdd4610a8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bdd4610a8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bdd4610a8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bdd4610a8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bdd4610a8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bdd4610a8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bdd4610a8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5ce48b7c5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b5ce48b7c5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bdd4610a8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bdd4610a8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5ce48b7c5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b5ce48b7c5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b5ce48b7c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b5ce48b7c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" name="Google Shape;51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2"/>
          <p:cNvGrpSpPr/>
          <p:nvPr/>
        </p:nvGrpSpPr>
        <p:grpSpPr>
          <a:xfrm>
            <a:off x="81" y="-57"/>
            <a:ext cx="9144360" cy="5143800"/>
            <a:chOff x="81" y="-57"/>
            <a:chExt cx="9144360" cy="5143800"/>
          </a:xfrm>
        </p:grpSpPr>
        <p:sp>
          <p:nvSpPr>
            <p:cNvPr id="129" name="Google Shape;129;p22"/>
            <p:cNvSpPr/>
            <p:nvPr/>
          </p:nvSpPr>
          <p:spPr>
            <a:xfrm rot="-5400000">
              <a:off x="-735519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 rot="-5400000">
              <a:off x="200036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 rot="-5400000">
              <a:off x="473624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32" name="Google Shape;132;p22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34" name="Google Shape;13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1pPr>
            <a:lvl2pPr lvl="1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2pPr>
            <a:lvl3pPr lvl="2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3pPr>
            <a:lvl4pPr lvl="3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4pPr>
            <a:lvl5pPr lvl="4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5pPr>
            <a:lvl6pPr lvl="5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6pPr>
            <a:lvl7pPr lvl="6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7pPr>
            <a:lvl8pPr lvl="7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8pPr>
            <a:lvl9pPr lvl="8" algn="r">
              <a:buNone/>
              <a:defRPr sz="13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 type="secHead">
  <p:cSld name="SECTION_HEADER">
    <p:bg>
      <p:bgPr>
        <a:solidFill>
          <a:schemeClr val="l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3"/>
          <p:cNvGrpSpPr/>
          <p:nvPr/>
        </p:nvGrpSpPr>
        <p:grpSpPr>
          <a:xfrm>
            <a:off x="1500" y="656450"/>
            <a:ext cx="9144473" cy="4268250"/>
            <a:chOff x="1500" y="656450"/>
            <a:chExt cx="9144473" cy="4268250"/>
          </a:xfrm>
        </p:grpSpPr>
        <p:sp>
          <p:nvSpPr>
            <p:cNvPr id="137" name="Google Shape;137;p23"/>
            <p:cNvSpPr/>
            <p:nvPr/>
          </p:nvSpPr>
          <p:spPr>
            <a:xfrm rot="-5400000">
              <a:off x="3342986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 rot="-5400000">
              <a:off x="462150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9" name="Google Shape;139;p23"/>
            <p:cNvSpPr/>
            <p:nvPr/>
          </p:nvSpPr>
          <p:spPr>
            <a:xfrm>
              <a:off x="2401856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40" name="Google Shape;140;p23"/>
            <p:cNvSpPr/>
            <p:nvPr/>
          </p:nvSpPr>
          <p:spPr>
            <a:xfrm rot="-5400000">
              <a:off x="6223823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rot="-5400000">
              <a:off x="3342986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2" name="Google Shape;142;p23"/>
            <p:cNvSpPr/>
            <p:nvPr/>
          </p:nvSpPr>
          <p:spPr>
            <a:xfrm rot="-5400000">
              <a:off x="462150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 rot="-5400000">
              <a:off x="6223823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4" name="Google Shape;144;p23"/>
            <p:cNvSpPr/>
            <p:nvPr/>
          </p:nvSpPr>
          <p:spPr>
            <a:xfrm>
              <a:off x="5282615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47" name="Google Shape;147;p2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9" name="Google Shape;149;p2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" name="Google Shape;150;p2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1" name="Google Shape;151;p2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2" name="Google Shape;152;p23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SECTION_HEADER_1">
    <p:bg>
      <p:bgPr>
        <a:solidFill>
          <a:schemeClr val="lt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57" name="Google Shape;157;p2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9" name="Google Shape;159;p2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" name="Google Shape;160;p2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2" name="Google Shape;162;p24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 type="tx">
  <p:cSld name="TITLE_AND_BODY">
    <p:bg>
      <p:bgPr>
        <a:solidFill>
          <a:schemeClr val="accen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/>
          <p:nvPr/>
        </p:nvSpPr>
        <p:spPr>
          <a:xfrm>
            <a:off x="0" y="635100"/>
            <a:ext cx="4572000" cy="4289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5"/>
          <p:cNvSpPr/>
          <p:nvPr>
            <p:ph idx="2" type="pic"/>
          </p:nvPr>
        </p:nvSpPr>
        <p:spPr>
          <a:xfrm>
            <a:off x="4572000" y="635100"/>
            <a:ext cx="4572000" cy="428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9pPr>
          </a:lstStyle>
          <a:p/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69" name="Google Shape;169;p2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1" name="Google Shape;171;p2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3" name="Google Shape;173;p2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4" name="Google Shape;174;p25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1" type="twoColTx">
  <p:cSld name="TITLE_AND_TWO_COLUMNS">
    <p:bg>
      <p:bgPr>
        <a:solidFill>
          <a:schemeClr val="accent2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8" name="Google Shape;178;p2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9" name="Google Shape;179;p2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26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grpSp>
        <p:nvGrpSpPr>
          <p:cNvPr id="181" name="Google Shape;181;p26"/>
          <p:cNvGrpSpPr/>
          <p:nvPr/>
        </p:nvGrpSpPr>
        <p:grpSpPr>
          <a:xfrm>
            <a:off x="1275" y="1477575"/>
            <a:ext cx="9142725" cy="3447039"/>
            <a:chOff x="1275" y="1477575"/>
            <a:chExt cx="9142725" cy="3447039"/>
          </a:xfrm>
        </p:grpSpPr>
        <p:sp>
          <p:nvSpPr>
            <p:cNvPr id="182" name="Google Shape;182;p26"/>
            <p:cNvSpPr/>
            <p:nvPr/>
          </p:nvSpPr>
          <p:spPr>
            <a:xfrm rot="5400000">
              <a:off x="644025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 rot="5400000">
              <a:off x="3690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 rot="5400000">
              <a:off x="6738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5400000">
              <a:off x="644025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 rot="5400000">
              <a:off x="3691388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7" name="Google Shape;187;p26"/>
            <p:cNvSpPr/>
            <p:nvPr/>
          </p:nvSpPr>
          <p:spPr>
            <a:xfrm rot="5400000">
              <a:off x="6738750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88" name="Google Shape;188;p26"/>
          <p:cNvSpPr txBox="1"/>
          <p:nvPr>
            <p:ph idx="2" type="title"/>
          </p:nvPr>
        </p:nvSpPr>
        <p:spPr>
          <a:xfrm>
            <a:off x="3409838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409838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3" type="title"/>
          </p:nvPr>
        </p:nvSpPr>
        <p:spPr>
          <a:xfrm>
            <a:off x="362475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1" name="Google Shape;191;p26"/>
          <p:cNvSpPr txBox="1"/>
          <p:nvPr>
            <p:ph idx="4" type="body"/>
          </p:nvPr>
        </p:nvSpPr>
        <p:spPr>
          <a:xfrm>
            <a:off x="362475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5" type="title"/>
          </p:nvPr>
        </p:nvSpPr>
        <p:spPr>
          <a:xfrm>
            <a:off x="6457200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3" name="Google Shape;193;p26"/>
          <p:cNvSpPr txBox="1"/>
          <p:nvPr>
            <p:ph idx="6" type="body"/>
          </p:nvPr>
        </p:nvSpPr>
        <p:spPr>
          <a:xfrm>
            <a:off x="6457200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4" name="Google Shape;194;p26"/>
          <p:cNvSpPr txBox="1"/>
          <p:nvPr>
            <p:ph idx="7" type="title"/>
          </p:nvPr>
        </p:nvSpPr>
        <p:spPr>
          <a:xfrm>
            <a:off x="362475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5" name="Google Shape;195;p26"/>
          <p:cNvSpPr txBox="1"/>
          <p:nvPr>
            <p:ph idx="8" type="body"/>
          </p:nvPr>
        </p:nvSpPr>
        <p:spPr>
          <a:xfrm>
            <a:off x="362475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9" type="title"/>
          </p:nvPr>
        </p:nvSpPr>
        <p:spPr>
          <a:xfrm>
            <a:off x="340920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7" name="Google Shape;197;p26"/>
          <p:cNvSpPr txBox="1"/>
          <p:nvPr>
            <p:ph idx="13" type="body"/>
          </p:nvPr>
        </p:nvSpPr>
        <p:spPr>
          <a:xfrm>
            <a:off x="340920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8" name="Google Shape;198;p26"/>
          <p:cNvSpPr txBox="1"/>
          <p:nvPr>
            <p:ph idx="14" type="title"/>
          </p:nvPr>
        </p:nvSpPr>
        <p:spPr>
          <a:xfrm>
            <a:off x="638115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9" name="Google Shape;199;p26"/>
          <p:cNvSpPr txBox="1"/>
          <p:nvPr>
            <p:ph idx="15" type="body"/>
          </p:nvPr>
        </p:nvSpPr>
        <p:spPr>
          <a:xfrm>
            <a:off x="638115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00" name="Google Shape;200;p2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2" name="Google Shape;202;p26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1" type="titleOnly">
  <p:cSld name="TITLE_ONLY">
    <p:bg>
      <p:bgPr>
        <a:solidFill>
          <a:schemeClr val="accent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6" name="Google Shape;206;p2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7" name="Google Shape;207;p2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8" name="Google Shape;208;p27"/>
          <p:cNvGrpSpPr/>
          <p:nvPr/>
        </p:nvGrpSpPr>
        <p:grpSpPr>
          <a:xfrm>
            <a:off x="1" y="656600"/>
            <a:ext cx="9143948" cy="4268310"/>
            <a:chOff x="1" y="656600"/>
            <a:chExt cx="9143948" cy="4268310"/>
          </a:xfrm>
        </p:grpSpPr>
        <p:sp>
          <p:nvSpPr>
            <p:cNvPr id="209" name="Google Shape;209;p27"/>
            <p:cNvSpPr/>
            <p:nvPr/>
          </p:nvSpPr>
          <p:spPr>
            <a:xfrm>
              <a:off x="1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2193874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1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193874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873232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4533576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6727449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4533576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6727449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5406807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9" name="Google Shape;219;p2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20" name="Google Shape;220;p27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1" name="Google Shape;221;p27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3" name="Google Shape;223;p27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4" name="Google Shape;224;p2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5" name="Google Shape;225;p2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6" name="Google Shape;226;p2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27" name="Google Shape;227;p2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1">
  <p:cSld name="ONE_COLUMN_TEXT">
    <p:bg>
      <p:bgPr>
        <a:solidFill>
          <a:schemeClr val="dk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30" name="Google Shape;230;p2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2" name="Google Shape;232;p28"/>
          <p:cNvGrpSpPr/>
          <p:nvPr/>
        </p:nvGrpSpPr>
        <p:grpSpPr>
          <a:xfrm>
            <a:off x="1675" y="656598"/>
            <a:ext cx="9143766" cy="4268100"/>
            <a:chOff x="1675" y="656598"/>
            <a:chExt cx="9143766" cy="4268100"/>
          </a:xfrm>
        </p:grpSpPr>
        <p:sp>
          <p:nvSpPr>
            <p:cNvPr id="233" name="Google Shape;233;p28"/>
            <p:cNvSpPr/>
            <p:nvPr/>
          </p:nvSpPr>
          <p:spPr>
            <a:xfrm>
              <a:off x="1675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2977708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5" name="Google Shape;235;p28"/>
            <p:cNvSpPr/>
            <p:nvPr/>
          </p:nvSpPr>
          <p:spPr>
            <a:xfrm>
              <a:off x="5953741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6" name="Google Shape;236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" name="Google Shape;237;p2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38" name="Google Shape;238;p28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0" name="Google Shape;240;p28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41" name="Google Shape;241;p28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2" name="Google Shape;242;p2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4" name="Google Shape;244;p2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45" name="Google Shape;245;p2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2">
  <p:cSld name="MAIN_POINT">
    <p:bg>
      <p:bgPr>
        <a:solidFill>
          <a:schemeClr val="lt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29"/>
          <p:cNvGrpSpPr/>
          <p:nvPr/>
        </p:nvGrpSpPr>
        <p:grpSpPr>
          <a:xfrm>
            <a:off x="-25" y="656852"/>
            <a:ext cx="9144036" cy="4268100"/>
            <a:chOff x="-25" y="656852"/>
            <a:chExt cx="9144036" cy="4268100"/>
          </a:xfrm>
        </p:grpSpPr>
        <p:sp>
          <p:nvSpPr>
            <p:cNvPr id="248" name="Google Shape;248;p29"/>
            <p:cNvSpPr/>
            <p:nvPr/>
          </p:nvSpPr>
          <p:spPr>
            <a:xfrm rot="-5400000">
              <a:off x="3345537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 rot="-5400000">
              <a:off x="4657144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 rot="-5400000">
              <a:off x="5968811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 rot="-5400000">
              <a:off x="-1092925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 rot="-5400000">
              <a:off x="218682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3" name="Google Shape;253;p29"/>
            <p:cNvSpPr/>
            <p:nvPr/>
          </p:nvSpPr>
          <p:spPr>
            <a:xfrm rot="-5400000">
              <a:off x="1530349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254" name="Google Shape;254;p2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55" name="Google Shape;255;p2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6" name="Google Shape;256;p2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29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58" name="Google Shape;258;p29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59" name="Google Shape;259;p29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0" name="Google Shape;260;p29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61" name="Google Shape;261;p29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2" name="Google Shape;262;p2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3" name="Google Shape;263;p2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4" name="Google Shape;264;p2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65" name="Google Shape;265;p2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2">
  <p:cSld name="SECTION_TITLE_AND_DESCRIPTION_1">
    <p:bg>
      <p:bgPr>
        <a:solidFill>
          <a:schemeClr val="accen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0"/>
          <p:cNvGrpSpPr/>
          <p:nvPr/>
        </p:nvGrpSpPr>
        <p:grpSpPr>
          <a:xfrm>
            <a:off x="0" y="655700"/>
            <a:ext cx="9143980" cy="4282350"/>
            <a:chOff x="0" y="655700"/>
            <a:chExt cx="9143980" cy="4282350"/>
          </a:xfrm>
        </p:grpSpPr>
        <p:sp>
          <p:nvSpPr>
            <p:cNvPr id="268" name="Google Shape;268;p30"/>
            <p:cNvSpPr/>
            <p:nvPr/>
          </p:nvSpPr>
          <p:spPr>
            <a:xfrm>
              <a:off x="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 flipH="1" rot="10800000">
              <a:off x="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>
              <a:off x="301799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 flipH="1" rot="10800000">
              <a:off x="301799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>
              <a:off x="603598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3" name="Google Shape;273;p30"/>
            <p:cNvSpPr/>
            <p:nvPr/>
          </p:nvSpPr>
          <p:spPr>
            <a:xfrm flipH="1" rot="10800000">
              <a:off x="603598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74" name="Google Shape;274;p30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75" name="Google Shape;275;p3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6" name="Google Shape;276;p30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8" name="Google Shape;278;p3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79" name="Google Shape;279;p30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0" name="Google Shape;280;p30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1" name="Google Shape;281;p30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2" name="Google Shape;282;p30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3" name="Google Shape;283;p30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5" name="Google Shape;285;p3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6" name="Google Shape;286;p3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3">
  <p:cSld name="CAPTION_ONLY_1">
    <p:bg>
      <p:bgPr>
        <a:solidFill>
          <a:schemeClr val="accen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31"/>
          <p:cNvGrpSpPr/>
          <p:nvPr/>
        </p:nvGrpSpPr>
        <p:grpSpPr>
          <a:xfrm>
            <a:off x="45" y="656725"/>
            <a:ext cx="9144010" cy="4268100"/>
            <a:chOff x="45" y="656725"/>
            <a:chExt cx="9144010" cy="4268100"/>
          </a:xfrm>
        </p:grpSpPr>
        <p:sp>
          <p:nvSpPr>
            <p:cNvPr id="289" name="Google Shape;289;p31"/>
            <p:cNvSpPr/>
            <p:nvPr/>
          </p:nvSpPr>
          <p:spPr>
            <a:xfrm flipH="1" rot="-5400000">
              <a:off x="120255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 rot="5400000">
              <a:off x="-892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 flipH="1" rot="5400000">
              <a:off x="367344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 rot="-5400000">
              <a:off x="5768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3" name="Google Shape;293;p31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94" name="Google Shape;294;p3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5" name="Google Shape;295;p31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1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97" name="Google Shape;297;p31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8" name="Google Shape;298;p31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9" name="Google Shape;299;p31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00" name="Google Shape;300;p31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1" name="Google Shape;301;p31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3" name="Google Shape;303;p3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4" name="Google Shape;304;p3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3">
  <p:cSld name="BIG_NUMBER_2">
    <p:bg>
      <p:bgPr>
        <a:solidFill>
          <a:schemeClr val="accent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32"/>
          <p:cNvGrpSpPr/>
          <p:nvPr/>
        </p:nvGrpSpPr>
        <p:grpSpPr>
          <a:xfrm>
            <a:off x="0" y="650025"/>
            <a:ext cx="9143966" cy="4268100"/>
            <a:chOff x="0" y="650025"/>
            <a:chExt cx="9143966" cy="4268100"/>
          </a:xfrm>
        </p:grpSpPr>
        <p:sp>
          <p:nvSpPr>
            <p:cNvPr id="307" name="Google Shape;307;p32"/>
            <p:cNvSpPr/>
            <p:nvPr/>
          </p:nvSpPr>
          <p:spPr>
            <a:xfrm>
              <a:off x="0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3037633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9" name="Google Shape;309;p32"/>
            <p:cNvSpPr/>
            <p:nvPr/>
          </p:nvSpPr>
          <p:spPr>
            <a:xfrm>
              <a:off x="6075266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10" name="Google Shape;310;p32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1" name="Google Shape;311;p3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2" name="Google Shape;312;p32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" name="Google Shape;313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4" name="Google Shape;314;p32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315" name="Google Shape;315;p32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6" name="Google Shape;316;p32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7" name="Google Shape;317;p32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8" name="Google Shape;318;p32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9" name="Google Shape;319;p32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0" name="Google Shape;320;p32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1" name="Google Shape;321;p3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2" name="Google Shape;322;p3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2">
  <p:cSld name="BIG_NUMBER_1_2">
    <p:bg>
      <p:bgPr>
        <a:solidFill>
          <a:schemeClr val="dk2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3"/>
          <p:cNvGrpSpPr/>
          <p:nvPr/>
        </p:nvGrpSpPr>
        <p:grpSpPr>
          <a:xfrm>
            <a:off x="0" y="1477575"/>
            <a:ext cx="9145300" cy="3447050"/>
            <a:chOff x="0" y="1477575"/>
            <a:chExt cx="9145300" cy="3447050"/>
          </a:xfrm>
        </p:grpSpPr>
        <p:sp>
          <p:nvSpPr>
            <p:cNvPr id="325" name="Google Shape;325;p33"/>
            <p:cNvSpPr/>
            <p:nvPr/>
          </p:nvSpPr>
          <p:spPr>
            <a:xfrm>
              <a:off x="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60973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60973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30480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30480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3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32" name="Google Shape;332;p3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3" name="Google Shape;333;p3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3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sp>
        <p:nvSpPr>
          <p:cNvPr id="335" name="Google Shape;335;p33"/>
          <p:cNvSpPr txBox="1"/>
          <p:nvPr>
            <p:ph idx="2" type="title"/>
          </p:nvPr>
        </p:nvSpPr>
        <p:spPr>
          <a:xfrm>
            <a:off x="3409838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6" name="Google Shape;336;p33"/>
          <p:cNvSpPr txBox="1"/>
          <p:nvPr>
            <p:ph idx="1" type="body"/>
          </p:nvPr>
        </p:nvSpPr>
        <p:spPr>
          <a:xfrm>
            <a:off x="3409838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7" name="Google Shape;337;p33"/>
          <p:cNvSpPr txBox="1"/>
          <p:nvPr>
            <p:ph idx="3" type="title"/>
          </p:nvPr>
        </p:nvSpPr>
        <p:spPr>
          <a:xfrm>
            <a:off x="362475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8" name="Google Shape;338;p33"/>
          <p:cNvSpPr txBox="1"/>
          <p:nvPr>
            <p:ph idx="4" type="body"/>
          </p:nvPr>
        </p:nvSpPr>
        <p:spPr>
          <a:xfrm>
            <a:off x="362475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9" name="Google Shape;339;p33"/>
          <p:cNvSpPr txBox="1"/>
          <p:nvPr>
            <p:ph idx="5" type="title"/>
          </p:nvPr>
        </p:nvSpPr>
        <p:spPr>
          <a:xfrm>
            <a:off x="6457200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0" name="Google Shape;340;p33"/>
          <p:cNvSpPr txBox="1"/>
          <p:nvPr>
            <p:ph idx="6" type="body"/>
          </p:nvPr>
        </p:nvSpPr>
        <p:spPr>
          <a:xfrm>
            <a:off x="6457200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1" name="Google Shape;341;p33"/>
          <p:cNvSpPr txBox="1"/>
          <p:nvPr>
            <p:ph idx="7" type="title"/>
          </p:nvPr>
        </p:nvSpPr>
        <p:spPr>
          <a:xfrm>
            <a:off x="362475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2" name="Google Shape;342;p33"/>
          <p:cNvSpPr txBox="1"/>
          <p:nvPr>
            <p:ph idx="8" type="body"/>
          </p:nvPr>
        </p:nvSpPr>
        <p:spPr>
          <a:xfrm>
            <a:off x="362475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3" name="Google Shape;343;p33"/>
          <p:cNvSpPr txBox="1"/>
          <p:nvPr>
            <p:ph idx="9" type="title"/>
          </p:nvPr>
        </p:nvSpPr>
        <p:spPr>
          <a:xfrm>
            <a:off x="340920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4" name="Google Shape;344;p33"/>
          <p:cNvSpPr txBox="1"/>
          <p:nvPr>
            <p:ph idx="13" type="body"/>
          </p:nvPr>
        </p:nvSpPr>
        <p:spPr>
          <a:xfrm>
            <a:off x="340920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5" name="Google Shape;345;p33"/>
          <p:cNvSpPr txBox="1"/>
          <p:nvPr>
            <p:ph idx="14" type="title"/>
          </p:nvPr>
        </p:nvSpPr>
        <p:spPr>
          <a:xfrm>
            <a:off x="638115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6" name="Google Shape;346;p33"/>
          <p:cNvSpPr txBox="1"/>
          <p:nvPr>
            <p:ph idx="15" type="body"/>
          </p:nvPr>
        </p:nvSpPr>
        <p:spPr>
          <a:xfrm>
            <a:off x="638115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7" name="Google Shape;347;p3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9" name="Google Shape;349;p33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0" name="Google Shape;350;p33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BIG_NUMBER_1_1">
    <p:bg>
      <p:bgPr>
        <a:solidFill>
          <a:schemeClr val="lt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3" name="Google Shape;353;p3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4" name="Google Shape;354;p3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4"/>
          <p:cNvSpPr/>
          <p:nvPr/>
        </p:nvSpPr>
        <p:spPr>
          <a:xfrm>
            <a:off x="-150" y="656513"/>
            <a:ext cx="9144300" cy="4268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6" name="Google Shape;356;p3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57" name="Google Shape;357;p3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9" name="Google Shape;359;p3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60" name="Google Shape;360;p3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">
  <p:cSld name="BIG_NUMBER_1_1_1_1">
    <p:bg>
      <p:bgPr>
        <a:solidFill>
          <a:schemeClr val="accent2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5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63" name="Google Shape;363;p35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8" name="Google Shape;368;p35"/>
          <p:cNvSpPr txBox="1"/>
          <p:nvPr>
            <p:ph idx="1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9" name="Google Shape;369;p35"/>
          <p:cNvSpPr txBox="1"/>
          <p:nvPr>
            <p:ph idx="2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0" name="Google Shape;370;p35"/>
          <p:cNvSpPr txBox="1"/>
          <p:nvPr>
            <p:ph idx="3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371" name="Google Shape;371;p35"/>
          <p:cNvSpPr txBox="1"/>
          <p:nvPr>
            <p:ph idx="4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2" name="Google Shape;372;p35"/>
          <p:cNvSpPr txBox="1"/>
          <p:nvPr>
            <p:ph idx="5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3" name="Google Shape;373;p35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374" name="Google Shape;374;p35"/>
          <p:cNvSpPr txBox="1"/>
          <p:nvPr>
            <p:ph idx="6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5" name="Google Shape;375;p35"/>
          <p:cNvSpPr txBox="1"/>
          <p:nvPr>
            <p:ph idx="7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6" name="Google Shape;376;p3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7" name="Google Shape;377;p3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3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9" name="Google Shape;379;p3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380" name="Google Shape;380;p3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, response">
  <p:cSld name="BIG_NUMBER_1_1_1_1_1">
    <p:bg>
      <p:bgPr>
        <a:solidFill>
          <a:schemeClr val="accent3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36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85" name="Google Shape;385;p36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9" name="Google Shape;389;p36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90" name="Google Shape;390;p3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1" name="Google Shape;391;p3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2" name="Google Shape;392;p3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94" name="Google Shape;394;p3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6" name="Google Shape;396;p3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97" name="Google Shape;397;p3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">
  <p:cSld name="BIG_NUMBER_1_1_1_1_2">
    <p:bg>
      <p:bgPr>
        <a:solidFill>
          <a:schemeClr val="accent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37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00" name="Google Shape;400;p37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2" name="Google Shape;402;p37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03" name="Google Shape;403;p37"/>
          <p:cNvSpPr txBox="1"/>
          <p:nvPr>
            <p:ph idx="1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404" name="Google Shape;404;p37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405" name="Google Shape;405;p37"/>
          <p:cNvSpPr txBox="1"/>
          <p:nvPr>
            <p:ph idx="2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3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7" name="Google Shape;407;p37"/>
          <p:cNvSpPr txBox="1"/>
          <p:nvPr>
            <p:ph idx="4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8" name="Google Shape;408;p37"/>
          <p:cNvSpPr txBox="1"/>
          <p:nvPr>
            <p:ph idx="5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9" name="Google Shape;409;p37"/>
          <p:cNvSpPr txBox="1"/>
          <p:nvPr>
            <p:ph idx="6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0" name="Google Shape;410;p37"/>
          <p:cNvSpPr txBox="1"/>
          <p:nvPr>
            <p:ph idx="7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1" name="Google Shape;411;p3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2" name="Google Shape;412;p3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3" name="Google Shape;413;p3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415" name="Google Shape;415;p3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" name="Google Shape;416;p37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, response">
  <p:cSld name="BIG_NUMBER_1_1_1_1_1_2">
    <p:bg>
      <p:bgPr>
        <a:solidFill>
          <a:schemeClr val="accent3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38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20" name="Google Shape;420;p38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2" name="Google Shape;422;p38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23" name="Google Shape;423;p3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4" name="Google Shape;424;p3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5" name="Google Shape;425;p3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6" name="Google Shape;426;p3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27" name="Google Shape;427;p3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9" name="Google Shape;429;p3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0" name="Google Shape;430;p3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dk2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3" name="Google Shape;433;p3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4" name="Google Shape;434;p3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3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6" name="Google Shape;436;p3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7" name="Google Shape;437;p39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8" name="Google Shape;438;p39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0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4700">
                <a:latin typeface="Montserrat"/>
                <a:ea typeface="Montserrat"/>
                <a:cs typeface="Montserrat"/>
                <a:sym typeface="Montserrat"/>
              </a:rPr>
              <a:t>Introduction to NumPy and Pandas</a:t>
            </a:r>
            <a:endParaRPr b="1" sz="4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40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EB Garamond SemiBold"/>
                <a:ea typeface="EB Garamond SemiBold"/>
                <a:cs typeface="EB Garamond SemiBold"/>
                <a:sym typeface="EB Garamond SemiBold"/>
              </a:rPr>
              <a:t>moyin.dev – AI &amp; Data Science Bootcamp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latin typeface="EB Garamond SemiBold"/>
                <a:ea typeface="EB Garamond SemiBold"/>
                <a:cs typeface="EB Garamond SemiBold"/>
                <a:sym typeface="EB Garamond SemiBold"/>
              </a:rPr>
              <a:t>Learning by doing. Understanding by building.</a:t>
            </a:r>
            <a:endParaRPr i="1" sz="1400"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  <p:sp>
        <p:nvSpPr>
          <p:cNvPr id="445" name="Google Shape;44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1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Objectives</a:t>
            </a:r>
            <a:endParaRPr/>
          </a:p>
        </p:txBody>
      </p:sp>
      <p:sp>
        <p:nvSpPr>
          <p:cNvPr id="451" name="Google Shape;451;p4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2" name="Google Shape;452;p41"/>
          <p:cNvSpPr txBox="1"/>
          <p:nvPr>
            <p:ph idx="2" type="title"/>
          </p:nvPr>
        </p:nvSpPr>
        <p:spPr>
          <a:xfrm>
            <a:off x="3409838" y="171480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53" name="Google Shape;453;p41"/>
          <p:cNvSpPr txBox="1"/>
          <p:nvPr>
            <p:ph idx="1" type="body"/>
          </p:nvPr>
        </p:nvSpPr>
        <p:spPr>
          <a:xfrm>
            <a:off x="3409838" y="195452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Work with Pandas Series and DataFrames</a:t>
            </a:r>
            <a:endParaRPr sz="1700"/>
          </a:p>
        </p:txBody>
      </p:sp>
      <p:sp>
        <p:nvSpPr>
          <p:cNvPr id="454" name="Google Shape;454;p41"/>
          <p:cNvSpPr txBox="1"/>
          <p:nvPr>
            <p:ph idx="3" type="title"/>
          </p:nvPr>
        </p:nvSpPr>
        <p:spPr>
          <a:xfrm>
            <a:off x="362475" y="171480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55" name="Google Shape;455;p41"/>
          <p:cNvSpPr txBox="1"/>
          <p:nvPr>
            <p:ph idx="4" type="body"/>
          </p:nvPr>
        </p:nvSpPr>
        <p:spPr>
          <a:xfrm>
            <a:off x="362475" y="195452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latin typeface="Figtree SemiBold"/>
                <a:ea typeface="Figtree SemiBold"/>
                <a:cs typeface="Figtree SemiBold"/>
                <a:sym typeface="Figtree SemiBold"/>
              </a:rPr>
              <a:t>Understand the difference between arrays and lists</a:t>
            </a:r>
            <a:endParaRPr sz="1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56" name="Google Shape;456;p41"/>
          <p:cNvSpPr txBox="1"/>
          <p:nvPr>
            <p:ph idx="5" type="title"/>
          </p:nvPr>
        </p:nvSpPr>
        <p:spPr>
          <a:xfrm>
            <a:off x="6457200" y="171480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57" name="Google Shape;457;p41"/>
          <p:cNvSpPr txBox="1"/>
          <p:nvPr>
            <p:ph idx="6" type="body"/>
          </p:nvPr>
        </p:nvSpPr>
        <p:spPr>
          <a:xfrm>
            <a:off x="6457200" y="195452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Load CSV files into Python</a:t>
            </a:r>
            <a:endParaRPr sz="17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58" name="Google Shape;458;p41"/>
          <p:cNvSpPr txBox="1"/>
          <p:nvPr>
            <p:ph idx="7" type="title"/>
          </p:nvPr>
        </p:nvSpPr>
        <p:spPr>
          <a:xfrm>
            <a:off x="362475" y="339935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59" name="Google Shape;459;p41"/>
          <p:cNvSpPr txBox="1"/>
          <p:nvPr>
            <p:ph idx="8" type="body"/>
          </p:nvPr>
        </p:nvSpPr>
        <p:spPr>
          <a:xfrm>
            <a:off x="362475" y="363907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Index and slice data efficiently</a:t>
            </a:r>
            <a:endParaRPr sz="1700"/>
          </a:p>
        </p:txBody>
      </p:sp>
      <p:sp>
        <p:nvSpPr>
          <p:cNvPr id="460" name="Google Shape;460;p41"/>
          <p:cNvSpPr txBox="1"/>
          <p:nvPr>
            <p:ph idx="9" type="title"/>
          </p:nvPr>
        </p:nvSpPr>
        <p:spPr>
          <a:xfrm>
            <a:off x="3409200" y="339935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461" name="Google Shape;461;p41"/>
          <p:cNvSpPr txBox="1"/>
          <p:nvPr>
            <p:ph idx="13" type="body"/>
          </p:nvPr>
        </p:nvSpPr>
        <p:spPr>
          <a:xfrm>
            <a:off x="3409200" y="3639075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Figtree SemiBold"/>
                <a:ea typeface="Figtree SemiBold"/>
                <a:cs typeface="Figtree SemiBold"/>
                <a:sym typeface="Figtree SemiBold"/>
              </a:rPr>
              <a:t>Prepare datasets for analysis</a:t>
            </a:r>
            <a:endParaRPr sz="1700"/>
          </a:p>
        </p:txBody>
      </p:sp>
      <p:sp>
        <p:nvSpPr>
          <p:cNvPr id="462" name="Google Shape;462;p41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63" name="Google Shape;463;p41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7B7B7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9" name="Google Shape;469;p4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70" name="Google Shape;470;p4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71" name="Google Shape;471;p42"/>
          <p:cNvSpPr txBox="1"/>
          <p:nvPr>
            <p:ph idx="1" type="body"/>
          </p:nvPr>
        </p:nvSpPr>
        <p:spPr>
          <a:xfrm>
            <a:off x="4910275" y="1432350"/>
            <a:ext cx="3731100" cy="27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Python gives us multiple ways to store data: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Lists (built-in Python)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Arrays (NumPy)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They look similar, but behave very differently.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72" name="Google Shape;472;p42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 vs Lists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43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79" name="Google Shape;479;p43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80" name="Google Shape;480;p43"/>
          <p:cNvSpPr txBox="1"/>
          <p:nvPr>
            <p:ph idx="1" type="body"/>
          </p:nvPr>
        </p:nvSpPr>
        <p:spPr>
          <a:xfrm>
            <a:off x="4910275" y="1432350"/>
            <a:ext cx="3731100" cy="277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Figtree SemiBold"/>
              <a:buChar char="●"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Built-in Python data structure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Arial"/>
              <a:buChar char="●"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Can store different data types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Figtree SemiBold"/>
              <a:buChar char="●"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Flexible and easy to use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Figtree SemiBold"/>
              <a:buChar char="●"/>
            </a:pPr>
            <a:r>
              <a:rPr lang="en" sz="2300">
                <a:latin typeface="Figtree SemiBold"/>
                <a:ea typeface="Figtree SemiBold"/>
                <a:cs typeface="Figtree SemiBold"/>
                <a:sym typeface="Figtree SemiBold"/>
              </a:rPr>
              <a:t>Slower for numerical operations</a:t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81" name="Google Shape;481;p43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Lists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44"/>
          <p:cNvSpPr txBox="1"/>
          <p:nvPr>
            <p:ph idx="4294967295" type="title"/>
          </p:nvPr>
        </p:nvSpPr>
        <p:spPr>
          <a:xfrm>
            <a:off x="954600" y="231013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 (NumPy)</a:t>
            </a:r>
            <a:endParaRPr/>
          </a:p>
        </p:txBody>
      </p:sp>
      <p:sp>
        <p:nvSpPr>
          <p:cNvPr id="488" name="Google Shape;488;p44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89" name="Google Shape;489;p44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90" name="Google Shape;490;p44"/>
          <p:cNvSpPr txBox="1"/>
          <p:nvPr/>
        </p:nvSpPr>
        <p:spPr>
          <a:xfrm>
            <a:off x="4831200" y="1229650"/>
            <a:ext cx="3927600" cy="3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 SemiBold"/>
              <a:buChar char="●"/>
            </a:pPr>
            <a:r>
              <a:rPr lang="en" sz="25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Designed for numerical computing</a:t>
            </a:r>
            <a:endParaRPr sz="25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 SemiBold"/>
              <a:buChar char="●"/>
            </a:pPr>
            <a:r>
              <a:rPr lang="en" sz="25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Store one data type</a:t>
            </a:r>
            <a:endParaRPr sz="25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 SemiBold"/>
              <a:buChar char="●"/>
            </a:pPr>
            <a:r>
              <a:rPr lang="en" sz="25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Faster and more memory-efficient</a:t>
            </a:r>
            <a:endParaRPr sz="25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 SemiBold"/>
              <a:buChar char="●"/>
            </a:pPr>
            <a:r>
              <a:rPr lang="en" sz="25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Support vectorized operation</a:t>
            </a:r>
            <a:r>
              <a:rPr lang="en" sz="25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s</a:t>
            </a:r>
            <a:endParaRPr sz="25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7BA0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5"/>
          <p:cNvSpPr txBox="1"/>
          <p:nvPr>
            <p:ph type="title"/>
          </p:nvPr>
        </p:nvSpPr>
        <p:spPr>
          <a:xfrm>
            <a:off x="282400" y="25176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Lists vs Arrays</a:t>
            </a:r>
            <a:endParaRPr sz="4500"/>
          </a:p>
        </p:txBody>
      </p:sp>
      <p:sp>
        <p:nvSpPr>
          <p:cNvPr id="496" name="Google Shape;496;p45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497" name="Google Shape;497;p45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498" name="Google Shape;498;p4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99" name="Google Shape;499;p45"/>
          <p:cNvGraphicFramePr/>
          <p:nvPr/>
        </p:nvGraphicFramePr>
        <p:xfrm>
          <a:off x="3362325" y="141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{074D724B-B6CD-4D75-8B7B-F3DE55CA9BBF}</a:tableStyleId>
              </a:tblPr>
              <a:tblGrid>
                <a:gridCol w="2381675"/>
                <a:gridCol w="1158050"/>
                <a:gridCol w="2010225"/>
              </a:tblGrid>
              <a:tr h="533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Feature</a:t>
                      </a:r>
                      <a:endParaRPr b="1" sz="22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List</a:t>
                      </a:r>
                      <a:endParaRPr b="1" sz="22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200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Array</a:t>
                      </a:r>
                      <a:endParaRPr b="1" sz="2200"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/>
                </a:tc>
              </a:tr>
              <a:tr h="5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Data types</a:t>
                      </a:r>
                      <a:endParaRPr sz="22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Mixed</a:t>
                      </a:r>
                      <a:endParaRPr sz="22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Single</a:t>
                      </a:r>
                      <a:endParaRPr sz="22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</a:tr>
              <a:tr h="5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Speed</a:t>
                      </a:r>
                      <a:endParaRPr sz="22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Slower</a:t>
                      </a:r>
                      <a:endParaRPr sz="22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Faster</a:t>
                      </a:r>
                      <a:endParaRPr sz="22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</a:tr>
              <a:tr h="5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Math operations</a:t>
                      </a:r>
                      <a:endParaRPr sz="22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Limited</a:t>
                      </a:r>
                      <a:endParaRPr sz="22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Optimized</a:t>
                      </a:r>
                      <a:endParaRPr sz="22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</a:tr>
              <a:tr h="560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Data science use</a:t>
                      </a:r>
                      <a:endParaRPr sz="22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Rare</a:t>
                      </a:r>
                      <a:endParaRPr sz="22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Very common</a:t>
                      </a:r>
                      <a:endParaRPr sz="2200"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7BA0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6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When Should You Use Each?</a:t>
            </a:r>
            <a:endParaRPr sz="4500"/>
          </a:p>
        </p:txBody>
      </p:sp>
      <p:sp>
        <p:nvSpPr>
          <p:cNvPr id="505" name="Google Shape;505;p46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06" name="Google Shape;506;p46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07" name="Google Shape;507;p4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8" name="Google Shape;508;p46"/>
          <p:cNvSpPr txBox="1"/>
          <p:nvPr>
            <p:ph idx="1" type="body"/>
          </p:nvPr>
        </p:nvSpPr>
        <p:spPr>
          <a:xfrm>
            <a:off x="3410824" y="1768575"/>
            <a:ext cx="25551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Use lists when: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600"/>
              <a:buFont typeface="Figtree SemiBold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Data is small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SemiBold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Data types vary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9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509" name="Google Shape;509;p46"/>
          <p:cNvSpPr txBox="1"/>
          <p:nvPr>
            <p:ph idx="4" type="body"/>
          </p:nvPr>
        </p:nvSpPr>
        <p:spPr>
          <a:xfrm>
            <a:off x="6454256" y="1616173"/>
            <a:ext cx="2325600" cy="6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Use arrays when: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Working with numbers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Performance matters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Preparing data for analysis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5" name="Google Shape;515;p47"/>
          <p:cNvSpPr txBox="1"/>
          <p:nvPr>
            <p:ph idx="4294967295" type="title"/>
          </p:nvPr>
        </p:nvSpPr>
        <p:spPr>
          <a:xfrm>
            <a:off x="954600" y="2736182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Pandas</a:t>
            </a:r>
            <a:endParaRPr/>
          </a:p>
        </p:txBody>
      </p:sp>
      <p:sp>
        <p:nvSpPr>
          <p:cNvPr id="516" name="Google Shape;516;p4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17" name="Google Shape;517;p4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18" name="Google Shape;518;p47"/>
          <p:cNvSpPr txBox="1"/>
          <p:nvPr/>
        </p:nvSpPr>
        <p:spPr>
          <a:xfrm>
            <a:off x="4831200" y="1229650"/>
            <a:ext cx="3927600" cy="3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Pandas is a powerful Python library for:</a:t>
            </a:r>
            <a:endParaRPr sz="27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7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Data manipulation</a:t>
            </a:r>
            <a:endParaRPr sz="27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7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Data analysis</a:t>
            </a:r>
            <a:endParaRPr sz="27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27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Working with structured data</a:t>
            </a:r>
            <a:endParaRPr sz="27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7BA0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Pandas Series</a:t>
            </a:r>
            <a:endParaRPr sz="4500"/>
          </a:p>
        </p:txBody>
      </p:sp>
      <p:sp>
        <p:nvSpPr>
          <p:cNvPr id="524" name="Google Shape;524;p4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25" name="Google Shape;525;p4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26" name="Google Shape;526;p4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7" name="Google Shape;527;p48"/>
          <p:cNvSpPr txBox="1"/>
          <p:nvPr>
            <p:ph idx="1" type="body"/>
          </p:nvPr>
        </p:nvSpPr>
        <p:spPr>
          <a:xfrm>
            <a:off x="3591002" y="1117025"/>
            <a:ext cx="5392800" cy="30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A Series is: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One-dimensional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Labeled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Similar to a single column in a table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Key ideas</a:t>
            </a: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: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Each value has an index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Figtree SemiBold"/>
              <a:buChar char="●"/>
            </a:pPr>
            <a:r>
              <a:rPr lang="en" sz="2200">
                <a:latin typeface="Figtree SemiBold"/>
                <a:ea typeface="Figtree SemiBold"/>
                <a:cs typeface="Figtree SemiBold"/>
                <a:sym typeface="Figtree SemiBold"/>
              </a:rPr>
              <a:t>Index doesn’t have to be numbers</a:t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7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9"/>
          <p:cNvSpPr txBox="1"/>
          <p:nvPr>
            <p:ph type="title"/>
          </p:nvPr>
        </p:nvSpPr>
        <p:spPr>
          <a:xfrm>
            <a:off x="143700" y="2738750"/>
            <a:ext cx="2616600" cy="24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Pandas DataFrames</a:t>
            </a:r>
            <a:endParaRPr sz="4500"/>
          </a:p>
        </p:txBody>
      </p:sp>
      <p:sp>
        <p:nvSpPr>
          <p:cNvPr id="533" name="Google Shape;533;p4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34" name="Google Shape;534;p4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35" name="Google Shape;535;p4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6" name="Google Shape;536;p49"/>
          <p:cNvSpPr txBox="1"/>
          <p:nvPr>
            <p:ph idx="1" type="body"/>
          </p:nvPr>
        </p:nvSpPr>
        <p:spPr>
          <a:xfrm>
            <a:off x="3591002" y="1252158"/>
            <a:ext cx="5392800" cy="30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A DataFrame is: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Figtree SemiBold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Two-dimensional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Made up of rows and columns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SemiBold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Similar to a spreadsheet or SQL table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This is the most important Pandas structure.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3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2" name="Google Shape;542;p50"/>
          <p:cNvSpPr txBox="1"/>
          <p:nvPr>
            <p:ph idx="4294967295" type="title"/>
          </p:nvPr>
        </p:nvSpPr>
        <p:spPr>
          <a:xfrm>
            <a:off x="954600" y="2736182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Loading CSV Files with Pandas</a:t>
            </a:r>
            <a:endParaRPr/>
          </a:p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45" name="Google Shape;545;p50"/>
          <p:cNvSpPr txBox="1"/>
          <p:nvPr/>
        </p:nvSpPr>
        <p:spPr>
          <a:xfrm>
            <a:off x="4831200" y="1229650"/>
            <a:ext cx="3927600" cy="3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With Pandas, loading data is simple:</a:t>
            </a:r>
            <a:endParaRPr sz="22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 SemiBold"/>
              <a:buChar char="●"/>
            </a:pPr>
            <a:r>
              <a:rPr lang="en"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One line of code</a:t>
            </a:r>
            <a:endParaRPr sz="22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Figtree SemiBold"/>
              <a:buChar char="●"/>
            </a:pPr>
            <a:r>
              <a:rPr lang="en"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Automatically creates a DataFrame</a:t>
            </a:r>
            <a:endParaRPr sz="22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This is usually the first step in any data project.</a:t>
            </a:r>
            <a:endParaRPr sz="22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27BA0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1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Exploring Your Data</a:t>
            </a:r>
            <a:endParaRPr sz="4500"/>
          </a:p>
        </p:txBody>
      </p:sp>
      <p:sp>
        <p:nvSpPr>
          <p:cNvPr id="551" name="Google Shape;551;p5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52" name="Google Shape;552;p5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53" name="Google Shape;553;p5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4" name="Google Shape;554;p51"/>
          <p:cNvSpPr txBox="1"/>
          <p:nvPr>
            <p:ph idx="1" type="body"/>
          </p:nvPr>
        </p:nvSpPr>
        <p:spPr>
          <a:xfrm>
            <a:off x="3511044" y="1269425"/>
            <a:ext cx="5670300" cy="304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Once data is loaded, you should: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View the first few rows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Check column names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Understand data types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Look for missing or strange values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Figtree SemiBold"/>
                <a:ea typeface="Figtree SemiBold"/>
                <a:cs typeface="Figtree SemiBold"/>
                <a:sym typeface="Figtree SemiBold"/>
              </a:rPr>
              <a:t>Never analyze data you haven’t explored.</a:t>
            </a:r>
            <a:endParaRPr sz="24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2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Indexing and Slicing</a:t>
            </a:r>
            <a:endParaRPr sz="4500"/>
          </a:p>
        </p:txBody>
      </p:sp>
      <p:sp>
        <p:nvSpPr>
          <p:cNvPr id="560" name="Google Shape;560;p5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61" name="Google Shape;561;p5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62" name="Google Shape;562;p5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3" name="Google Shape;563;p52"/>
          <p:cNvSpPr txBox="1"/>
          <p:nvPr>
            <p:ph idx="1" type="body"/>
          </p:nvPr>
        </p:nvSpPr>
        <p:spPr>
          <a:xfrm>
            <a:off x="3410825" y="1229653"/>
            <a:ext cx="5622300" cy="27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latin typeface="Figtree SemiBold"/>
                <a:ea typeface="Figtree SemiBold"/>
                <a:cs typeface="Figtree SemiBold"/>
                <a:sym typeface="Figtree SemiBold"/>
              </a:rPr>
              <a:t>Indexing allows you to:</a:t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2700">
                <a:latin typeface="Figtree SemiBold"/>
                <a:ea typeface="Figtree SemiBold"/>
                <a:cs typeface="Figtree SemiBold"/>
                <a:sym typeface="Figtree SemiBold"/>
              </a:rPr>
              <a:t>Access specific rows</a:t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2700">
                <a:latin typeface="Figtree SemiBold"/>
                <a:ea typeface="Figtree SemiBold"/>
                <a:cs typeface="Figtree SemiBold"/>
                <a:sym typeface="Figtree SemiBold"/>
              </a:rPr>
              <a:t>Access specific columns</a:t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 sz="2700">
                <a:latin typeface="Figtree SemiBold"/>
                <a:ea typeface="Figtree SemiBold"/>
                <a:cs typeface="Figtree SemiBold"/>
                <a:sym typeface="Figtree SemiBold"/>
              </a:rPr>
              <a:t>Select subsets of data</a:t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>
                <a:latin typeface="Figtree SemiBold"/>
                <a:ea typeface="Figtree SemiBold"/>
                <a:cs typeface="Figtree SemiBold"/>
                <a:sym typeface="Figtree SemiBold"/>
              </a:rPr>
              <a:t>Essential skill for Analysis, Cleaning, Feature selection</a:t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7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41B47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3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69" name="Google Shape;569;p53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70" name="Google Shape;570;p5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1" name="Google Shape;571;p53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Indexing</a:t>
            </a:r>
            <a:endParaRPr/>
          </a:p>
        </p:txBody>
      </p:sp>
      <p:sp>
        <p:nvSpPr>
          <p:cNvPr id="572" name="Google Shape;572;p53"/>
          <p:cNvSpPr txBox="1"/>
          <p:nvPr>
            <p:ph idx="1" type="body"/>
          </p:nvPr>
        </p:nvSpPr>
        <p:spPr>
          <a:xfrm>
            <a:off x="4839850" y="1297211"/>
            <a:ext cx="3990600" cy="28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You can select data using: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Figtree SemiBold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Position (row number)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Figtree SemiBold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Labels (row or column names)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Figtree SemiBold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Slices (ranges of data)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4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78" name="Google Shape;578;p54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moyin.dev</a:t>
            </a:r>
            <a:endParaRPr/>
          </a:p>
        </p:txBody>
      </p:sp>
      <p:sp>
        <p:nvSpPr>
          <p:cNvPr id="579" name="Google Shape;579;p5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0" name="Google Shape;580;p54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Indexing Matters</a:t>
            </a:r>
            <a:endParaRPr/>
          </a:p>
        </p:txBody>
      </p:sp>
      <p:sp>
        <p:nvSpPr>
          <p:cNvPr id="581" name="Google Shape;581;p54"/>
          <p:cNvSpPr txBox="1"/>
          <p:nvPr>
            <p:ph idx="1" type="body"/>
          </p:nvPr>
        </p:nvSpPr>
        <p:spPr>
          <a:xfrm>
            <a:off x="4839850" y="1297211"/>
            <a:ext cx="3990600" cy="286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Indexing allows you to: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Answer specific questions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Filter datasets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2600">
                <a:latin typeface="Figtree SemiBold"/>
                <a:ea typeface="Figtree SemiBold"/>
                <a:cs typeface="Figtree SemiBold"/>
                <a:sym typeface="Figtree SemiBold"/>
              </a:rPr>
              <a:t>Work efficiently with large data</a:t>
            </a:r>
            <a:endParaRPr sz="2600"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C1130"/>
        </a:solidFill>
      </p:bgPr>
    </p:bg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7" name="Google Shape;587;p55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Hands-on Workshop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9009"/>
              <a:buFont typeface="Arial"/>
              <a:buNone/>
            </a:pPr>
            <a:r>
              <a:rPr b="0" lang="en" sz="2244">
                <a:latin typeface="Courier New"/>
                <a:ea typeface="Courier New"/>
                <a:cs typeface="Courier New"/>
                <a:sym typeface="Courier New"/>
              </a:rPr>
              <a:t>https://colab.research.google.com/drive/1cwS8RhzRiuc2XA2QbPdU5q7ORov_hu82?usp=sharing</a:t>
            </a:r>
            <a:endParaRPr b="0" sz="2244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8" name="Google Shape;588;p55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89" name="Google Shape;589;p55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5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596" name="Google Shape;596;p5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AI|DS Bootcamp</a:t>
            </a:r>
            <a:endParaRPr/>
          </a:p>
        </p:txBody>
      </p:sp>
      <p:sp>
        <p:nvSpPr>
          <p:cNvPr id="597" name="Google Shape;597;p5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moyin.dev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sson 2">
  <a:themeElements>
    <a:clrScheme name="Simple Light">
      <a:dk1>
        <a:srgbClr val="000000"/>
      </a:dk1>
      <a:lt1>
        <a:srgbClr val="F4F3F0"/>
      </a:lt1>
      <a:dk2>
        <a:srgbClr val="FFC700"/>
      </a:dk2>
      <a:lt2>
        <a:srgbClr val="0EAA57"/>
      </a:lt2>
      <a:accent1>
        <a:srgbClr val="349EEA"/>
      </a:accent1>
      <a:accent2>
        <a:srgbClr val="C6B9FF"/>
      </a:accent2>
      <a:accent3>
        <a:srgbClr val="F66F6F"/>
      </a:accent3>
      <a:accent4>
        <a:srgbClr val="8E7CC3"/>
      </a:accent4>
      <a:accent5>
        <a:srgbClr val="FFE599"/>
      </a:accent5>
      <a:accent6>
        <a:srgbClr val="A4C2F4"/>
      </a:accent6>
      <a:hlink>
        <a:srgbClr val="FFC7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