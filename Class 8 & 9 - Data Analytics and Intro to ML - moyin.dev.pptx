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Figtree"/>
      <p:regular r:id="rId21"/>
      <p:bold r:id="rId22"/>
      <p:italic r:id="rId23"/>
      <p:boldItalic r:id="rId24"/>
    </p:embeddedFont>
    <p:embeddedFont>
      <p:font typeface="Figtree Medium"/>
      <p:regular r:id="rId25"/>
      <p:bold r:id="rId26"/>
      <p:italic r:id="rId27"/>
      <p:boldItalic r:id="rId28"/>
    </p:embeddedFont>
    <p:embeddedFont>
      <p:font typeface="Figtree ExtraBold"/>
      <p:bold r:id="rId29"/>
      <p:boldItalic r:id="rId30"/>
    </p:embeddedFont>
    <p:embeddedFont>
      <p:font typeface="EB Garamond SemiBold"/>
      <p:regular r:id="rId31"/>
      <p:bold r:id="rId32"/>
      <p:italic r:id="rId33"/>
      <p:boldItalic r:id="rId34"/>
    </p:embeddedFont>
    <p:embeddedFont>
      <p:font typeface="Figtree SemiBold"/>
      <p:regular r:id="rId35"/>
      <p:bold r:id="rId36"/>
      <p:italic r:id="rId37"/>
      <p:boldItalic r:id="rId38"/>
    </p:embeddedFont>
    <p:embeddedFont>
      <p:font typeface="Montserrat ExtraBold"/>
      <p:bold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Italic.fntdata"/><Relationship Id="rId20" Type="http://schemas.openxmlformats.org/officeDocument/2006/relationships/slide" Target="slides/slide15.xml"/><Relationship Id="rId22" Type="http://schemas.openxmlformats.org/officeDocument/2006/relationships/font" Target="fonts/Figtree-bold.fntdata"/><Relationship Id="rId21" Type="http://schemas.openxmlformats.org/officeDocument/2006/relationships/font" Target="fonts/Figtree-regular.fntdata"/><Relationship Id="rId24" Type="http://schemas.openxmlformats.org/officeDocument/2006/relationships/font" Target="fonts/Figtree-boldItalic.fntdata"/><Relationship Id="rId23" Type="http://schemas.openxmlformats.org/officeDocument/2006/relationships/font" Target="fonts/Figtre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Medium-bold.fntdata"/><Relationship Id="rId25" Type="http://schemas.openxmlformats.org/officeDocument/2006/relationships/font" Target="fonts/FigtreeMedium-regular.fntdata"/><Relationship Id="rId28" Type="http://schemas.openxmlformats.org/officeDocument/2006/relationships/font" Target="fonts/FigtreeMedium-boldItalic.fntdata"/><Relationship Id="rId27" Type="http://schemas.openxmlformats.org/officeDocument/2006/relationships/font" Target="fonts/Figtree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BGaramondSemiBold-regular.fntdata"/><Relationship Id="rId30" Type="http://schemas.openxmlformats.org/officeDocument/2006/relationships/font" Target="fonts/FigtreeExtraBold-boldItalic.fntdata"/><Relationship Id="rId11" Type="http://schemas.openxmlformats.org/officeDocument/2006/relationships/slide" Target="slides/slide6.xml"/><Relationship Id="rId33" Type="http://schemas.openxmlformats.org/officeDocument/2006/relationships/font" Target="fonts/EBGaramondSemiBold-italic.fntdata"/><Relationship Id="rId10" Type="http://schemas.openxmlformats.org/officeDocument/2006/relationships/slide" Target="slides/slide5.xml"/><Relationship Id="rId32" Type="http://schemas.openxmlformats.org/officeDocument/2006/relationships/font" Target="fonts/EBGaramondSemiBold-bold.fntdata"/><Relationship Id="rId13" Type="http://schemas.openxmlformats.org/officeDocument/2006/relationships/slide" Target="slides/slide8.xml"/><Relationship Id="rId35" Type="http://schemas.openxmlformats.org/officeDocument/2006/relationships/font" Target="fonts/Figtree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EBGaramond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FigtreeSemiBold-italic.fntdata"/><Relationship Id="rId14" Type="http://schemas.openxmlformats.org/officeDocument/2006/relationships/slide" Target="slides/slide9.xml"/><Relationship Id="rId36" Type="http://schemas.openxmlformats.org/officeDocument/2006/relationships/font" Target="fonts/FigtreeSemiBold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.fntdata"/><Relationship Id="rId16" Type="http://schemas.openxmlformats.org/officeDocument/2006/relationships/slide" Target="slides/slide11.xml"/><Relationship Id="rId38" Type="http://schemas.openxmlformats.org/officeDocument/2006/relationships/font" Target="fonts/Figtree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5ce48b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5ce48b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756b03b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c756b03b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84559ee8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c84559ee8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b71978bf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b71978bf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84559ee8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c84559ee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756b03b3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756b03b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dd4610a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dd4610a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dd4610a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bdd4610a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5ce48b7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b5ce48b7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5ce48b7c5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b5ce48b7c5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84559ee8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c84559ee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c84559ee8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c84559ee8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c756b03b3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c756b03b3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5ce48b7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b5ce48b7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b5ce48b7c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b5ce48b7c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7" name="Google Shape;137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" name="Google Shape;159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9" name="Google Shape;169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1" name="Google Shape;181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2" name="Google Shape;182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1" name="Google Shape;191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3" name="Google Shape;193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5" name="Google Shape;195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7" name="Google Shape;197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9" name="Google Shape;199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0" name="Google Shape;200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2" name="Google Shape;202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7" name="Google Shape;207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9" name="Google Shape;209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9" name="Google Shape;219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6" name="Google Shape;226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3" name="Google Shape;233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8" name="Google Shape;238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1" name="Google Shape;241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4" name="Google Shape;244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8" name="Google Shape;248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4" name="Google Shape;254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2" name="Google Shape;262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4" name="Google Shape;274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2" name="Google Shape;282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9" name="Google Shape;289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3" name="Google Shape;293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00" name="Google Shape;300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1" name="Google Shape;301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3" name="Google Shape;303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7" name="Google Shape;307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8" name="Google Shape;318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9" name="Google Shape;319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1" name="Google Shape;321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5" name="Google Shape;325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3" name="Google Shape;333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5" name="Google Shape;335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8" name="Google Shape;338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9" name="Google Shape;339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0" name="Google Shape;340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2" name="Google Shape;342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4" name="Google Shape;344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6" name="Google Shape;346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9" name="Google Shape;349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3" name="Google Shape;353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4" name="Google Shape;354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6" name="Google Shape;356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7" name="Google Shape;357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3" name="Google Shape;363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5" name="Google Shape;385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2" name="Google Shape;392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4" name="Google Shape;394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00" name="Google Shape;400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1" name="Google Shape;411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5" name="Google Shape;415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20" name="Google Shape;420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3" name="Google Shape;423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4" name="Google Shape;424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5" name="Google Shape;425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7" name="Google Shape;427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3" name="Google Shape;433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4" name="Google Shape;434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7" name="Google Shape;437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8" name="Google Shape;438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4700">
                <a:latin typeface="Montserrat ExtraBold"/>
                <a:ea typeface="Montserrat ExtraBold"/>
                <a:cs typeface="Montserrat ExtraBold"/>
                <a:sym typeface="Montserrat ExtraBold"/>
              </a:rPr>
              <a:t>Data Analytics and Intro to Machine </a:t>
            </a:r>
            <a:r>
              <a:rPr lang="en" sz="4700">
                <a:latin typeface="Montserrat ExtraBold"/>
                <a:ea typeface="Montserrat ExtraBold"/>
                <a:cs typeface="Montserrat ExtraBold"/>
                <a:sym typeface="Montserrat ExtraBold"/>
              </a:rPr>
              <a:t>Learning</a:t>
            </a:r>
            <a:endParaRPr sz="47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EB Garamond SemiBold"/>
                <a:ea typeface="EB Garamond SemiBold"/>
                <a:cs typeface="EB Garamond SemiBold"/>
                <a:sym typeface="EB Garamond SemiBold"/>
              </a:rPr>
              <a:t>moyin.dev – AI &amp; Data Science Bootcamp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Learning by doing. Understanding by building.</a:t>
            </a:r>
            <a:endParaRPr i="1" sz="14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445" name="Google Shape;44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From Data to Insight</a:t>
            </a:r>
            <a:endParaRPr sz="4500"/>
          </a:p>
        </p:txBody>
      </p:sp>
      <p:sp>
        <p:nvSpPr>
          <p:cNvPr id="451" name="Google Shape;451;p4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52" name="Google Shape;452;p4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53" name="Google Shape;453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41"/>
          <p:cNvSpPr txBox="1"/>
          <p:nvPr>
            <p:ph idx="1" type="body"/>
          </p:nvPr>
        </p:nvSpPr>
        <p:spPr>
          <a:xfrm>
            <a:off x="3410824" y="2182956"/>
            <a:ext cx="2555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Data → Cleaning → Exploration → Insight → Action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5" name="Google Shape;455;p41"/>
          <p:cNvSpPr txBox="1"/>
          <p:nvPr>
            <p:ph idx="4" type="body"/>
          </p:nvPr>
        </p:nvSpPr>
        <p:spPr>
          <a:xfrm>
            <a:off x="6191175" y="1746430"/>
            <a:ext cx="2818200" cy="27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Apply Descriptive statistics &amp; Visualizations to not only </a:t>
            </a: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describe</a:t>
            </a: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 data but guide decisions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B0F00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Actionable Insight vs Interesting Observation</a:t>
            </a:r>
            <a:endParaRPr sz="4500"/>
          </a:p>
        </p:txBody>
      </p:sp>
      <p:sp>
        <p:nvSpPr>
          <p:cNvPr id="461" name="Google Shape;461;p4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62" name="Google Shape;462;p4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63" name="Google Shape;463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42"/>
          <p:cNvSpPr txBox="1"/>
          <p:nvPr>
            <p:ph idx="1" type="body"/>
          </p:nvPr>
        </p:nvSpPr>
        <p:spPr>
          <a:xfrm>
            <a:off x="3410824" y="2017203"/>
            <a:ext cx="2555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Interesting Observation: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“Paracetamol had the highest sales.”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8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65" name="Google Shape;465;p42"/>
          <p:cNvSpPr txBox="1"/>
          <p:nvPr>
            <p:ph idx="4" type="body"/>
          </p:nvPr>
        </p:nvSpPr>
        <p:spPr>
          <a:xfrm>
            <a:off x="6191175" y="1470176"/>
            <a:ext cx="2818200" cy="27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A</a:t>
            </a:r>
            <a:r>
              <a:rPr b="1" lang="en" sz="2000"/>
              <a:t>ctionable Insight: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“Paracetamol accounts for 42% of revenue. Increasing stock before peak malaria season could prevent stockouts and increase profit.”</a:t>
            </a:r>
            <a:endParaRPr sz="20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3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4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2" name="Google Shape;472;p4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73" name="Google Shape;473;p43"/>
          <p:cNvSpPr txBox="1"/>
          <p:nvPr>
            <p:ph idx="1" type="body"/>
          </p:nvPr>
        </p:nvSpPr>
        <p:spPr>
          <a:xfrm>
            <a:off x="3410825" y="1532648"/>
            <a:ext cx="53478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Figtree SemiBold"/>
              <a:buChar char="●"/>
            </a:pPr>
            <a:r>
              <a:rPr lang="en" sz="3600">
                <a:latin typeface="Figtree SemiBold"/>
                <a:ea typeface="Figtree SemiBold"/>
                <a:cs typeface="Figtree SemiBold"/>
                <a:sym typeface="Figtree SemiBold"/>
              </a:rPr>
              <a:t>What happened?</a:t>
            </a:r>
            <a:endParaRPr sz="3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Figtree SemiBold"/>
              <a:buChar char="●"/>
            </a:pPr>
            <a:r>
              <a:rPr lang="en" sz="3600">
                <a:latin typeface="Figtree SemiBold"/>
                <a:ea typeface="Figtree SemiBold"/>
                <a:cs typeface="Figtree SemiBold"/>
                <a:sym typeface="Figtree SemiBold"/>
              </a:rPr>
              <a:t>Why did it happen?</a:t>
            </a:r>
            <a:endParaRPr sz="3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Font typeface="Figtree SemiBold"/>
              <a:buChar char="●"/>
            </a:pPr>
            <a:r>
              <a:rPr lang="en" sz="3600">
                <a:latin typeface="Figtree SemiBold"/>
                <a:ea typeface="Figtree SemiBold"/>
                <a:cs typeface="Figtree SemiBold"/>
                <a:sym typeface="Figtree SemiBold"/>
              </a:rPr>
              <a:t>What should we do about it?</a:t>
            </a:r>
            <a:endParaRPr sz="3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74" name="Google Shape;474;p43"/>
          <p:cNvSpPr txBox="1"/>
          <p:nvPr>
            <p:ph idx="4294967295" type="title"/>
          </p:nvPr>
        </p:nvSpPr>
        <p:spPr>
          <a:xfrm>
            <a:off x="203248" y="2504325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Questions to ask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0" name="Google Shape;480;p4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1" name="Google Shape;481;p4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82" name="Google Shape;482;p44"/>
          <p:cNvSpPr txBox="1"/>
          <p:nvPr>
            <p:ph idx="1" type="body"/>
          </p:nvPr>
        </p:nvSpPr>
        <p:spPr>
          <a:xfrm>
            <a:off x="3797580" y="980141"/>
            <a:ext cx="53478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Title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Key Metrics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○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Total Revenue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○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Top-Selling Product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○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Monthly Growth Rate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2–3 Visualizations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3–5 Bullet Insights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Figtree SemiBold"/>
              <a:buChar char="●"/>
            </a:pPr>
            <a:r>
              <a:rPr lang="en" sz="2500">
                <a:latin typeface="Figtree SemiBold"/>
                <a:ea typeface="Figtree SemiBold"/>
                <a:cs typeface="Figtree SemiBold"/>
                <a:sym typeface="Figtree SemiBold"/>
              </a:rPr>
              <a:t>Clear Recommendations</a:t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83" name="Google Shape;483;p44"/>
          <p:cNvSpPr txBox="1"/>
          <p:nvPr>
            <p:ph idx="4294967295" type="title"/>
          </p:nvPr>
        </p:nvSpPr>
        <p:spPr>
          <a:xfrm>
            <a:off x="37495" y="2946331"/>
            <a:ext cx="27753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a Good Analytics Report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5"/>
          <p:cNvSpPr txBox="1"/>
          <p:nvPr>
            <p:ph type="title"/>
          </p:nvPr>
        </p:nvSpPr>
        <p:spPr>
          <a:xfrm>
            <a:off x="483175" y="269848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Data Analytics Capstone Project</a:t>
            </a:r>
            <a:endParaRPr sz="4500"/>
          </a:p>
        </p:txBody>
      </p:sp>
      <p:sp>
        <p:nvSpPr>
          <p:cNvPr id="489" name="Google Shape;48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45"/>
          <p:cNvSpPr txBox="1"/>
          <p:nvPr>
            <p:ph idx="2" type="body"/>
          </p:nvPr>
        </p:nvSpPr>
        <p:spPr>
          <a:xfrm>
            <a:off x="374800" y="1061416"/>
            <a:ext cx="4197300" cy="31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Product Name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Category (Analgesic, Antibiotic, Antimalarial, etc.)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Quantity Sold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Unit Price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Date</a:t>
            </a:r>
            <a:b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</a:b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Revenue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Branch Location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91" name="Google Shape;491;p45"/>
          <p:cNvSpPr txBox="1"/>
          <p:nvPr>
            <p:ph idx="3" type="body"/>
          </p:nvPr>
        </p:nvSpPr>
        <p:spPr>
          <a:xfrm>
            <a:off x="4704700" y="1641549"/>
            <a:ext cx="4197300" cy="28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Clean the data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Compute total revenue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Identify: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○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Top 3 products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○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Best-performing category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○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Monthly revenue trend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Generate a 1-page report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Figtree SemiBold"/>
              <a:buChar char="●"/>
            </a:pPr>
            <a:r>
              <a:rPr lang="en" sz="21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Provide at least 3 actionable recommendations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4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8" name="Google Shape;498;p4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9" name="Google Shape;499;p46"/>
          <p:cNvSpPr txBox="1"/>
          <p:nvPr>
            <p:ph idx="1" type="body"/>
          </p:nvPr>
        </p:nvSpPr>
        <p:spPr>
          <a:xfrm>
            <a:off x="5103653" y="1432350"/>
            <a:ext cx="3731100" cy="27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Courier New"/>
                <a:ea typeface="Courier New"/>
                <a:cs typeface="Courier New"/>
                <a:sym typeface="Courier New"/>
              </a:rPr>
              <a:t>📄 One-page PDF or notebook summary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latin typeface="Courier New"/>
                <a:ea typeface="Courier New"/>
                <a:cs typeface="Courier New"/>
                <a:sym typeface="Courier New"/>
              </a:rPr>
              <a:t>📊 At least 2 visualizations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latin typeface="Courier New"/>
                <a:ea typeface="Courier New"/>
                <a:cs typeface="Courier New"/>
                <a:sym typeface="Courier New"/>
              </a:rPr>
              <a:t>🧠 Business-focused insights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0" name="Google Shape;500;p46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Deliverables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7"/>
          <p:cNvSpPr txBox="1"/>
          <p:nvPr>
            <p:ph type="title"/>
          </p:nvPr>
        </p:nvSpPr>
        <p:spPr>
          <a:xfrm>
            <a:off x="434800" y="1747648"/>
            <a:ext cx="8598300" cy="22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 TO MACHINE LEARNING</a:t>
            </a:r>
            <a:endParaRPr sz="4500"/>
          </a:p>
        </p:txBody>
      </p:sp>
      <p:sp>
        <p:nvSpPr>
          <p:cNvPr id="506" name="Google Shape;506;p4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07" name="Google Shape;507;p4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08" name="Google Shape;508;p4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48"/>
          <p:cNvSpPr txBox="1"/>
          <p:nvPr>
            <p:ph idx="4294967295" type="title"/>
          </p:nvPr>
        </p:nvSpPr>
        <p:spPr>
          <a:xfrm>
            <a:off x="954600" y="2862645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Machine Learning Workflow</a:t>
            </a:r>
            <a:endParaRPr/>
          </a:p>
        </p:txBody>
      </p:sp>
      <p:sp>
        <p:nvSpPr>
          <p:cNvPr id="515" name="Google Shape;515;p4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16" name="Google Shape;516;p4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17" name="Google Shape;517;p48"/>
          <p:cNvSpPr txBox="1"/>
          <p:nvPr/>
        </p:nvSpPr>
        <p:spPr>
          <a:xfrm>
            <a:off x="4831200" y="1171923"/>
            <a:ext cx="39276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Medium"/>
              <a:buChar char="●"/>
            </a:pPr>
            <a:r>
              <a:rPr lang="en" sz="2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Problem </a:t>
            </a:r>
            <a:r>
              <a:rPr lang="en" sz="2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Definition</a:t>
            </a:r>
            <a:endParaRPr sz="26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Medium"/>
              <a:buChar char="●"/>
            </a:pPr>
            <a:r>
              <a:rPr lang="en" sz="2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Data Collection and Cleaning</a:t>
            </a:r>
            <a:endParaRPr sz="26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Medium"/>
              <a:buChar char="●"/>
            </a:pPr>
            <a:r>
              <a:rPr lang="en" sz="2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Data Splitting</a:t>
            </a:r>
            <a:endParaRPr sz="26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Medium"/>
              <a:buChar char="●"/>
            </a:pPr>
            <a:r>
              <a:rPr lang="en" sz="2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Model Training</a:t>
            </a:r>
            <a:endParaRPr sz="26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Medium"/>
              <a:buChar char="●"/>
            </a:pPr>
            <a:r>
              <a:rPr lang="en" sz="2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Model Evaluation</a:t>
            </a:r>
            <a:endParaRPr sz="26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gtree Medium"/>
              <a:buChar char="●"/>
            </a:pPr>
            <a:r>
              <a:rPr lang="en" sz="26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Deployment </a:t>
            </a:r>
            <a:endParaRPr sz="26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99999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9"/>
          <p:cNvSpPr txBox="1"/>
          <p:nvPr>
            <p:ph type="title"/>
          </p:nvPr>
        </p:nvSpPr>
        <p:spPr>
          <a:xfrm>
            <a:off x="282400" y="2697827"/>
            <a:ext cx="25755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Training vs Testing</a:t>
            </a:r>
            <a:endParaRPr sz="4500"/>
          </a:p>
        </p:txBody>
      </p:sp>
      <p:sp>
        <p:nvSpPr>
          <p:cNvPr id="523" name="Google Shape;523;p4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24" name="Google Shape;524;p4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25" name="Google Shape;525;p4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6" name="Google Shape;526;p49"/>
          <p:cNvSpPr txBox="1"/>
          <p:nvPr>
            <p:ph type="title"/>
          </p:nvPr>
        </p:nvSpPr>
        <p:spPr>
          <a:xfrm>
            <a:off x="3308325" y="1887830"/>
            <a:ext cx="5724900" cy="272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Font typeface="Figtree Medium"/>
              <a:buChar char="●"/>
            </a:pPr>
            <a:r>
              <a:rPr b="0" lang="en" sz="2500">
                <a:latin typeface="Figtree Medium"/>
                <a:ea typeface="Figtree Medium"/>
                <a:cs typeface="Figtree Medium"/>
                <a:sym typeface="Figtree Medium"/>
              </a:rPr>
              <a:t>Training Data is used to teach the model patterns.</a:t>
            </a:r>
            <a:endParaRPr b="0" sz="25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Medium"/>
              <a:buChar char="●"/>
            </a:pPr>
            <a:r>
              <a:rPr b="0" lang="en" sz="2500">
                <a:latin typeface="Figtree Medium"/>
                <a:ea typeface="Figtree Medium"/>
                <a:cs typeface="Figtree Medium"/>
                <a:sym typeface="Figtree Medium"/>
              </a:rPr>
              <a:t>Testing Data is used to evaluate how well the model performs on unseen data.</a:t>
            </a:r>
            <a:endParaRPr b="0" sz="25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Medium"/>
              <a:buChar char="●"/>
            </a:pPr>
            <a:r>
              <a:rPr b="0" lang="en" sz="2500">
                <a:latin typeface="Figtree Medium"/>
                <a:ea typeface="Figtree Medium"/>
                <a:cs typeface="Figtree Medium"/>
                <a:sym typeface="Figtree Medium"/>
              </a:rPr>
              <a:t>Why Split?</a:t>
            </a:r>
            <a:endParaRPr b="0" sz="25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Figtree Medium"/>
              <a:buChar char="●"/>
            </a:pPr>
            <a:r>
              <a:rPr b="0" lang="en" sz="2500">
                <a:latin typeface="Figtree Medium"/>
                <a:ea typeface="Figtree Medium"/>
                <a:cs typeface="Figtree Medium"/>
                <a:sym typeface="Figtree Medium"/>
              </a:rPr>
              <a:t>If we test on training data overfitting is likely.</a:t>
            </a:r>
            <a:endParaRPr b="0" sz="2500"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500"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0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Supervised vs Unsupervised Learning</a:t>
            </a:r>
            <a:endParaRPr sz="4500"/>
          </a:p>
        </p:txBody>
      </p:sp>
      <p:sp>
        <p:nvSpPr>
          <p:cNvPr id="532" name="Google Shape;532;p5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33" name="Google Shape;533;p5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34" name="Google Shape;534;p5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50"/>
          <p:cNvSpPr txBox="1"/>
          <p:nvPr>
            <p:ph idx="1" type="body"/>
          </p:nvPr>
        </p:nvSpPr>
        <p:spPr>
          <a:xfrm>
            <a:off x="3410824" y="1364484"/>
            <a:ext cx="2555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latin typeface="Figtree SemiBold"/>
                <a:ea typeface="Figtree SemiBold"/>
                <a:cs typeface="Figtree SemiBold"/>
                <a:sym typeface="Figtree SemiBold"/>
              </a:rPr>
              <a:t>Supervised Learning</a:t>
            </a:r>
            <a:endParaRPr sz="21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Figtree SemiBold"/>
              <a:buChar char="●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Data has labels.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Figtree SemiBold"/>
              <a:buChar char="●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Example: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Figtree SemiBold"/>
              <a:buChar char="○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Predict revenue</a:t>
            </a:r>
            <a:endParaRPr sz="19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Figtree SemiBold"/>
              <a:buChar char="○"/>
            </a:pPr>
            <a:r>
              <a:rPr lang="en" sz="1900">
                <a:latin typeface="Figtree SemiBold"/>
                <a:ea typeface="Figtree SemiBold"/>
                <a:cs typeface="Figtree SemiBold"/>
                <a:sym typeface="Figtree SemiBold"/>
              </a:rPr>
              <a:t>Predict disease diagnosis</a:t>
            </a:r>
            <a:endParaRPr sz="34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36" name="Google Shape;536;p50"/>
          <p:cNvSpPr txBox="1"/>
          <p:nvPr>
            <p:ph idx="4" type="body"/>
          </p:nvPr>
        </p:nvSpPr>
        <p:spPr>
          <a:xfrm>
            <a:off x="6191175" y="1387300"/>
            <a:ext cx="2818200" cy="27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Unsupervised Learning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No labels.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Model finds patterns or clusters.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43D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1"/>
          <p:cNvSpPr txBox="1"/>
          <p:nvPr>
            <p:ph type="title"/>
          </p:nvPr>
        </p:nvSpPr>
        <p:spPr>
          <a:xfrm>
            <a:off x="143700" y="2593850"/>
            <a:ext cx="30069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Regression vs Classification</a:t>
            </a:r>
            <a:endParaRPr sz="4500"/>
          </a:p>
        </p:txBody>
      </p:sp>
      <p:sp>
        <p:nvSpPr>
          <p:cNvPr id="542" name="Google Shape;542;p5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43" name="Google Shape;543;p5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44" name="Google Shape;544;p5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51"/>
          <p:cNvSpPr txBox="1"/>
          <p:nvPr>
            <p:ph idx="1" type="body"/>
          </p:nvPr>
        </p:nvSpPr>
        <p:spPr>
          <a:xfrm>
            <a:off x="3410824" y="1364484"/>
            <a:ext cx="2555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00">
                <a:latin typeface="Figtree SemiBold"/>
                <a:ea typeface="Figtree SemiBold"/>
                <a:cs typeface="Figtree SemiBold"/>
                <a:sym typeface="Figtree SemiBold"/>
              </a:rPr>
              <a:t>Regression p</a:t>
            </a: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redicts continuous values.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Examples: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Figtree SemiBold"/>
              <a:buChar char="●"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Predict monthly revenue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gtree SemiBold"/>
              <a:buChar char="●"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Predict drug demand</a:t>
            </a:r>
            <a:endParaRPr sz="18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Figtree SemiBold"/>
                <a:ea typeface="Figtree SemiBold"/>
                <a:cs typeface="Figtree SemiBold"/>
                <a:sym typeface="Figtree SemiBold"/>
              </a:rPr>
              <a:t>Output: A number</a:t>
            </a:r>
            <a:endParaRPr sz="28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46" name="Google Shape;546;p51"/>
          <p:cNvSpPr txBox="1"/>
          <p:nvPr>
            <p:ph idx="4" type="body"/>
          </p:nvPr>
        </p:nvSpPr>
        <p:spPr>
          <a:xfrm>
            <a:off x="6191175" y="1329573"/>
            <a:ext cx="2818200" cy="27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Classification predicts categories.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Examples: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Figtree SemiBold"/>
              <a:buChar char="●"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Will this patient default? (Yes/No)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Figtree SemiBold"/>
              <a:buChar char="●"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Is this prescription high-risk or low-risk?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Output: A class/label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2"/>
          <p:cNvSpPr txBox="1"/>
          <p:nvPr>
            <p:ph type="title"/>
          </p:nvPr>
        </p:nvSpPr>
        <p:spPr>
          <a:xfrm>
            <a:off x="299667" y="1747648"/>
            <a:ext cx="8598300" cy="222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Data Analytics explains the past.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Machine Learning predicts the future.</a:t>
            </a:r>
            <a:endParaRPr sz="3600"/>
          </a:p>
        </p:txBody>
      </p:sp>
      <p:sp>
        <p:nvSpPr>
          <p:cNvPr id="552" name="Google Shape;552;p5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53" name="Google Shape;553;p5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54" name="Google Shape;554;p5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0" name="Google Shape;560;p53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Project Page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b="0" lang="en" sz="2244">
                <a:latin typeface="Courier New"/>
                <a:ea typeface="Courier New"/>
                <a:cs typeface="Courier New"/>
                <a:sym typeface="Courier New"/>
              </a:rPr>
              <a:t>https://docs.google.com/document/d/1J8nAW4Ye6bmml5AereI_Rm0MHL6lKSF3V8tx3WvA_j4/edit?usp=sharing</a:t>
            </a:r>
            <a:endParaRPr b="0" sz="2244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1" name="Google Shape;561;p53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2" name="Google Shape;562;p53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5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69" name="Google Shape;569;p5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70" name="Google Shape;570;p5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