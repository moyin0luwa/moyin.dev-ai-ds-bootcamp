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Figtree"/>
      <p:regular r:id="rId25"/>
      <p:bold r:id="rId26"/>
      <p:italic r:id="rId27"/>
      <p:boldItalic r:id="rId28"/>
    </p:embeddedFont>
    <p:embeddedFont>
      <p:font typeface="Figtree ExtraBold"/>
      <p:bold r:id="rId29"/>
      <p:boldItalic r:id="rId30"/>
    </p:embeddedFont>
    <p:embeddedFont>
      <p:font typeface="EB Garamond SemiBold"/>
      <p:regular r:id="rId31"/>
      <p:bold r:id="rId32"/>
      <p:italic r:id="rId33"/>
      <p:boldItalic r:id="rId34"/>
    </p:embeddedFont>
    <p:embeddedFont>
      <p:font typeface="Figtree SemiBold"/>
      <p:regular r:id="rId35"/>
      <p:bold r:id="rId36"/>
      <p:italic r:id="rId37"/>
      <p:boldItalic r:id="rId38"/>
    </p:embeddedFont>
    <p:embeddedFont>
      <p:font typeface="Montserrat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bold.fntdata"/><Relationship Id="rId25" Type="http://schemas.openxmlformats.org/officeDocument/2006/relationships/font" Target="fonts/Figtree-regular.fntdata"/><Relationship Id="rId28" Type="http://schemas.openxmlformats.org/officeDocument/2006/relationships/font" Target="fonts/Figtree-boldItalic.fntdata"/><Relationship Id="rId27" Type="http://schemas.openxmlformats.org/officeDocument/2006/relationships/font" Target="fonts/Figtre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BGaramondSemiBold-regular.fntdata"/><Relationship Id="rId30" Type="http://schemas.openxmlformats.org/officeDocument/2006/relationships/font" Target="fonts/FigtreeExtraBold-boldItalic.fntdata"/><Relationship Id="rId11" Type="http://schemas.openxmlformats.org/officeDocument/2006/relationships/slide" Target="slides/slide6.xml"/><Relationship Id="rId33" Type="http://schemas.openxmlformats.org/officeDocument/2006/relationships/font" Target="fonts/EBGaramondSemiBold-italic.fntdata"/><Relationship Id="rId10" Type="http://schemas.openxmlformats.org/officeDocument/2006/relationships/slide" Target="slides/slide5.xml"/><Relationship Id="rId32" Type="http://schemas.openxmlformats.org/officeDocument/2006/relationships/font" Target="fonts/EBGaramondSemiBold-bold.fntdata"/><Relationship Id="rId13" Type="http://schemas.openxmlformats.org/officeDocument/2006/relationships/slide" Target="slides/slide8.xml"/><Relationship Id="rId35" Type="http://schemas.openxmlformats.org/officeDocument/2006/relationships/font" Target="fonts/Figtree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EBGaramond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FigtreeSemiBold-italic.fntdata"/><Relationship Id="rId14" Type="http://schemas.openxmlformats.org/officeDocument/2006/relationships/slide" Target="slides/slide9.xml"/><Relationship Id="rId36" Type="http://schemas.openxmlformats.org/officeDocument/2006/relationships/font" Target="fonts/FigtreeSemiBold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.fntdata"/><Relationship Id="rId16" Type="http://schemas.openxmlformats.org/officeDocument/2006/relationships/slide" Target="slides/slide11.xml"/><Relationship Id="rId38" Type="http://schemas.openxmlformats.org/officeDocument/2006/relationships/font" Target="fonts/Figtree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71978b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71978b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dd4610a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dd4610a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5ce48b7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5ce48b7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5ce48b7c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b5ce48b7c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dd4610a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dd4610a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756b03b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c756b03b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756b03b3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756b03b3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756b03b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c756b03b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c756b03b3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c756b03b3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dd4610a8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bdd4610a8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dd4610a8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bdd4610a8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dd4610a8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dd4610a8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756b03b3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c756b03b3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dd4610a8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bdd4610a8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756b03b3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c756b03b3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dd4610a8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bdd4610a8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b5ce48b7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b5ce48b7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700">
                <a:latin typeface="Montserrat ExtraBold"/>
                <a:ea typeface="Montserrat ExtraBold"/>
                <a:cs typeface="Montserrat ExtraBold"/>
                <a:sym typeface="Montserrat ExtraBold"/>
              </a:rPr>
              <a:t>Data Exploration and Visualization</a:t>
            </a:r>
            <a:endParaRPr sz="47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Learning by doing. Understanding by building.</a:t>
            </a:r>
            <a:endParaRPr i="1"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4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52" name="Google Shape;452;p4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3410825" y="1477398"/>
            <a:ext cx="53478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urier New"/>
                <a:ea typeface="Courier New"/>
                <a:cs typeface="Courier New"/>
                <a:sym typeface="Courier New"/>
              </a:rPr>
              <a:t>df.isnull().sum()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Courier New"/>
                <a:ea typeface="Courier New"/>
                <a:cs typeface="Courier New"/>
                <a:sym typeface="Courier New"/>
              </a:rPr>
              <a:t>df.dropna()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Courier New"/>
                <a:ea typeface="Courier New"/>
                <a:cs typeface="Courier New"/>
                <a:sym typeface="Courier New"/>
              </a:rPr>
              <a:t>df.fillna(df["Age"].mean(), inplace=True)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4" name="Google Shape;454;p41"/>
          <p:cNvSpPr txBox="1"/>
          <p:nvPr>
            <p:ph idx="4294967295" type="title"/>
          </p:nvPr>
        </p:nvSpPr>
        <p:spPr>
          <a:xfrm>
            <a:off x="37495" y="2504325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Missing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4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1" name="Google Shape;461;p4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62" name="Google Shape;462;p42"/>
          <p:cNvSpPr txBox="1"/>
          <p:nvPr>
            <p:ph idx="1" type="body"/>
          </p:nvPr>
        </p:nvSpPr>
        <p:spPr>
          <a:xfrm>
            <a:off x="4910275" y="1432350"/>
            <a:ext cx="37311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urier New"/>
                <a:ea typeface="Courier New"/>
                <a:cs typeface="Courier New"/>
                <a:sym typeface="Courier New"/>
              </a:rPr>
              <a:t>df[df["Age"] &gt; 30]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urier New"/>
                <a:ea typeface="Courier New"/>
                <a:cs typeface="Courier New"/>
                <a:sym typeface="Courier New"/>
              </a:rPr>
              <a:t>df.groupby("City")</a:t>
            </a:r>
            <a:br>
              <a:rPr lang="en" sz="23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300">
                <a:latin typeface="Courier New"/>
                <a:ea typeface="Courier New"/>
                <a:cs typeface="Courier New"/>
                <a:sym typeface="Courier New"/>
              </a:rPr>
              <a:t>["Salary"].mean()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3" name="Google Shape;463;p42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&amp; Grouping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3"/>
          <p:cNvSpPr txBox="1"/>
          <p:nvPr>
            <p:ph idx="4294967295" type="title"/>
          </p:nvPr>
        </p:nvSpPr>
        <p:spPr>
          <a:xfrm>
            <a:off x="954600" y="231013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Merging Datasets </a:t>
            </a:r>
            <a:endParaRPr/>
          </a:p>
        </p:txBody>
      </p:sp>
      <p:sp>
        <p:nvSpPr>
          <p:cNvPr id="470" name="Google Shape;470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1" name="Google Shape;471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2" name="Google Shape;472;p43"/>
          <p:cNvSpPr txBox="1"/>
          <p:nvPr/>
        </p:nvSpPr>
        <p:spPr>
          <a:xfrm>
            <a:off x="4831200" y="1229650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pd.merge</a:t>
            </a:r>
            <a:r>
              <a:rPr lang="en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br>
              <a:rPr lang="en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df1, df2, on="ID", how="inner")</a:t>
            </a:r>
            <a:endParaRPr sz="2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9999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4"/>
          <p:cNvSpPr txBox="1"/>
          <p:nvPr>
            <p:ph type="title"/>
          </p:nvPr>
        </p:nvSpPr>
        <p:spPr>
          <a:xfrm>
            <a:off x="282400" y="2697827"/>
            <a:ext cx="25755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Descriptive Statistics</a:t>
            </a:r>
            <a:endParaRPr sz="4500"/>
          </a:p>
        </p:txBody>
      </p:sp>
      <p:sp>
        <p:nvSpPr>
          <p:cNvPr id="478" name="Google Shape;478;p4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9" name="Google Shape;479;p4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0" name="Google Shape;480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44"/>
          <p:cNvSpPr txBox="1"/>
          <p:nvPr>
            <p:ph type="title"/>
          </p:nvPr>
        </p:nvSpPr>
        <p:spPr>
          <a:xfrm>
            <a:off x="3308325" y="1454875"/>
            <a:ext cx="5724900" cy="272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3000">
                <a:latin typeface="Courier New"/>
                <a:ea typeface="Courier New"/>
                <a:cs typeface="Courier New"/>
                <a:sym typeface="Courier New"/>
              </a:rPr>
              <a:t>df.describe()</a:t>
            </a:r>
            <a:endParaRPr b="0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3000">
                <a:latin typeface="Courier New"/>
                <a:ea typeface="Courier New"/>
                <a:cs typeface="Courier New"/>
                <a:sym typeface="Courier New"/>
              </a:rPr>
              <a:t>df["Age"].mean()</a:t>
            </a:r>
            <a:endParaRPr b="0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Courier New"/>
                <a:ea typeface="Courier New"/>
                <a:cs typeface="Courier New"/>
                <a:sym typeface="Courier New"/>
              </a:rPr>
              <a:t>df["City"].value_counts()</a:t>
            </a:r>
            <a:endParaRPr b="0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5"/>
          <p:cNvSpPr txBox="1"/>
          <p:nvPr>
            <p:ph type="title"/>
          </p:nvPr>
        </p:nvSpPr>
        <p:spPr>
          <a:xfrm>
            <a:off x="434800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DATA </a:t>
            </a:r>
            <a:r>
              <a:rPr lang="en" sz="3600"/>
              <a:t>VISUALIZATION</a:t>
            </a:r>
            <a:endParaRPr sz="4500"/>
          </a:p>
        </p:txBody>
      </p:sp>
      <p:sp>
        <p:nvSpPr>
          <p:cNvPr id="487" name="Google Shape;487;p4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8" name="Google Shape;488;p4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9" name="Google Shape;489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6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Data Visualization?</a:t>
            </a:r>
            <a:endParaRPr sz="4500"/>
          </a:p>
        </p:txBody>
      </p:sp>
      <p:sp>
        <p:nvSpPr>
          <p:cNvPr id="495" name="Google Shape;495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6" name="Google Shape;496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7" name="Google Shape;497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46"/>
          <p:cNvSpPr txBox="1"/>
          <p:nvPr>
            <p:ph idx="1" type="body"/>
          </p:nvPr>
        </p:nvSpPr>
        <p:spPr>
          <a:xfrm>
            <a:off x="3410824" y="1768575"/>
            <a:ext cx="2555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Humans don’t naturally think in tables.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We think in patterns.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99" name="Google Shape;499;p46"/>
          <p:cNvSpPr txBox="1"/>
          <p:nvPr>
            <p:ph idx="4" type="body"/>
          </p:nvPr>
        </p:nvSpPr>
        <p:spPr>
          <a:xfrm>
            <a:off x="6191175" y="1387300"/>
            <a:ext cx="2818200" cy="27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Identify trends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Spot outliers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Detect relationships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Communicate insights clearly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 to Matplotlib</a:t>
            </a:r>
            <a:endParaRPr sz="4500"/>
          </a:p>
        </p:txBody>
      </p:sp>
      <p:sp>
        <p:nvSpPr>
          <p:cNvPr id="505" name="Google Shape;50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47"/>
          <p:cNvSpPr txBox="1"/>
          <p:nvPr>
            <p:ph idx="2" type="body"/>
          </p:nvPr>
        </p:nvSpPr>
        <p:spPr>
          <a:xfrm>
            <a:off x="374800" y="1696800"/>
            <a:ext cx="4197300" cy="28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The foundation plotting library in Python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Highly customizable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Used for basic and advanced visualizations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07" name="Google Shape;507;p47"/>
          <p:cNvSpPr txBox="1"/>
          <p:nvPr>
            <p:ph idx="3" type="body"/>
          </p:nvPr>
        </p:nvSpPr>
        <p:spPr>
          <a:xfrm>
            <a:off x="4704700" y="1696800"/>
            <a:ext cx="4197300" cy="28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import matplotlib.pyplot as plt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plt.plot([1,2,3,4], [10,20,25,30])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8"/>
          <p:cNvSpPr txBox="1"/>
          <p:nvPr>
            <p:ph type="title"/>
          </p:nvPr>
        </p:nvSpPr>
        <p:spPr>
          <a:xfrm>
            <a:off x="483175" y="269848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 to Seaborn</a:t>
            </a:r>
            <a:endParaRPr sz="4500"/>
          </a:p>
        </p:txBody>
      </p:sp>
      <p:sp>
        <p:nvSpPr>
          <p:cNvPr id="513" name="Google Shape;51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48"/>
          <p:cNvSpPr txBox="1"/>
          <p:nvPr>
            <p:ph idx="2" type="body"/>
          </p:nvPr>
        </p:nvSpPr>
        <p:spPr>
          <a:xfrm>
            <a:off x="374800" y="1696800"/>
            <a:ext cx="4197300" cy="31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Seaborn is built on Matplotlib.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Cleaner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More aesthetic by default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Designed for statistical visualization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15" name="Google Shape;515;p48"/>
          <p:cNvSpPr txBox="1"/>
          <p:nvPr>
            <p:ph idx="3" type="body"/>
          </p:nvPr>
        </p:nvSpPr>
        <p:spPr>
          <a:xfrm>
            <a:off x="4704700" y="1696800"/>
            <a:ext cx="4197300" cy="28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ourier New"/>
                <a:ea typeface="Courier New"/>
                <a:cs typeface="Courier New"/>
                <a:sym typeface="Courier New"/>
              </a:rPr>
              <a:t>import seaborn as sns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ourier New"/>
                <a:ea typeface="Courier New"/>
                <a:cs typeface="Courier New"/>
                <a:sym typeface="Courier New"/>
              </a:rPr>
              <a:t>sns.scatterplot(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latin typeface="Courier New"/>
                <a:ea typeface="Courier New"/>
                <a:cs typeface="Courier New"/>
                <a:sym typeface="Courier New"/>
              </a:rPr>
              <a:t>x="Age", y="Salary", data=df)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9"/>
          <p:cNvSpPr txBox="1"/>
          <p:nvPr>
            <p:ph type="title"/>
          </p:nvPr>
        </p:nvSpPr>
        <p:spPr>
          <a:xfrm>
            <a:off x="299667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TYPES OF PLOTS</a:t>
            </a:r>
            <a:endParaRPr sz="4500"/>
          </a:p>
        </p:txBody>
      </p:sp>
      <p:sp>
        <p:nvSpPr>
          <p:cNvPr id="521" name="Google Shape;521;p4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22" name="Google Shape;522;p4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23" name="Google Shape;523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50"/>
          <p:cNvSpPr txBox="1"/>
          <p:nvPr>
            <p:ph idx="4294967295" type="title"/>
          </p:nvPr>
        </p:nvSpPr>
        <p:spPr>
          <a:xfrm>
            <a:off x="954600" y="2736182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Plot (Trends Over Time)</a:t>
            </a:r>
            <a:endParaRPr/>
          </a:p>
        </p:txBody>
      </p:sp>
      <p:sp>
        <p:nvSpPr>
          <p:cNvPr id="530" name="Google Shape;530;p5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1" name="Google Shape;531;p5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32" name="Google Shape;532;p50"/>
          <p:cNvSpPr txBox="1"/>
          <p:nvPr/>
        </p:nvSpPr>
        <p:spPr>
          <a:xfrm>
            <a:off x="5326688" y="1229650"/>
            <a:ext cx="32934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SemiBold"/>
              <a:buChar char="●"/>
            </a:pPr>
            <a:r>
              <a:rPr lang="en" sz="28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Time series</a:t>
            </a:r>
            <a:endParaRPr sz="28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SemiBold"/>
              <a:buChar char="●"/>
            </a:pPr>
            <a:r>
              <a:rPr lang="en" sz="28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Continuous progression</a:t>
            </a:r>
            <a:endParaRPr sz="28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plt.plot(</a:t>
            </a:r>
            <a:br>
              <a:rPr lang="en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df["Year"], df["Sales"])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8" name="Google Shape;538;p5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39" name="Google Shape;539;p5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51"/>
          <p:cNvSpPr txBox="1"/>
          <p:nvPr>
            <p:ph idx="1" type="body"/>
          </p:nvPr>
        </p:nvSpPr>
        <p:spPr>
          <a:xfrm>
            <a:off x="5049975" y="1319725"/>
            <a:ext cx="3731100" cy="28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Best for: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Figtree SemiBold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Relationship between two numeric variables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sns.scatterplot(</a:t>
            </a:r>
            <a:br>
              <a:rPr lang="en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400">
                <a:latin typeface="Courier New"/>
                <a:ea typeface="Courier New"/>
                <a:cs typeface="Courier New"/>
                <a:sym typeface="Courier New"/>
              </a:rPr>
              <a:t>x="Age", y="Salary", data=df)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41" name="Google Shape;541;p5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 (Relationships)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7" name="Google Shape;547;p52"/>
          <p:cNvSpPr txBox="1"/>
          <p:nvPr>
            <p:ph idx="4294967295" type="title"/>
          </p:nvPr>
        </p:nvSpPr>
        <p:spPr>
          <a:xfrm>
            <a:off x="954600" y="2736182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Plot (Comparisons)</a:t>
            </a:r>
            <a:endParaRPr/>
          </a:p>
        </p:txBody>
      </p:sp>
      <p:sp>
        <p:nvSpPr>
          <p:cNvPr id="548" name="Google Shape;548;p5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49" name="Google Shape;549;p5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50" name="Google Shape;550;p52"/>
          <p:cNvSpPr txBox="1"/>
          <p:nvPr/>
        </p:nvSpPr>
        <p:spPr>
          <a:xfrm>
            <a:off x="4831200" y="1229650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Comparing categories</a:t>
            </a:r>
            <a:endParaRPr sz="3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sns.barplot(</a:t>
            </a:r>
            <a:br>
              <a:rPr lang="en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x="City", y="Salary", data=df)</a:t>
            </a:r>
            <a:endParaRPr sz="3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56" name="Google Shape;556;p5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57" name="Google Shape;557;p5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3"/>
          <p:cNvSpPr txBox="1"/>
          <p:nvPr>
            <p:ph idx="1" type="body"/>
          </p:nvPr>
        </p:nvSpPr>
        <p:spPr>
          <a:xfrm>
            <a:off x="5049975" y="1319725"/>
            <a:ext cx="3731100" cy="28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Understanding distribution of a numeric variable</a:t>
            </a:r>
            <a:b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</a:br>
            <a:b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600">
                <a:latin typeface="Courier New"/>
                <a:ea typeface="Courier New"/>
                <a:cs typeface="Courier New"/>
                <a:sym typeface="Courier New"/>
              </a:rPr>
              <a:t>sns.histplot(</a:t>
            </a:r>
            <a:br>
              <a:rPr lang="en" sz="2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600">
                <a:latin typeface="Courier New"/>
                <a:ea typeface="Courier New"/>
                <a:cs typeface="Courier New"/>
                <a:sym typeface="Courier New"/>
              </a:rPr>
              <a:t>df["Age"], bins=10)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59" name="Google Shape;559;p53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 (Distribution)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4"/>
          <p:cNvSpPr txBox="1"/>
          <p:nvPr>
            <p:ph type="title"/>
          </p:nvPr>
        </p:nvSpPr>
        <p:spPr>
          <a:xfrm>
            <a:off x="143700" y="2738750"/>
            <a:ext cx="2616600" cy="24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Box Plot (Outliers &amp; Spread)</a:t>
            </a:r>
            <a:endParaRPr sz="4800"/>
          </a:p>
        </p:txBody>
      </p:sp>
      <p:sp>
        <p:nvSpPr>
          <p:cNvPr id="565" name="Google Shape;565;p5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6" name="Google Shape;566;p5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67" name="Google Shape;567;p5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54"/>
          <p:cNvSpPr txBox="1"/>
          <p:nvPr>
            <p:ph idx="1" type="body"/>
          </p:nvPr>
        </p:nvSpPr>
        <p:spPr>
          <a:xfrm>
            <a:off x="3591002" y="1252158"/>
            <a:ext cx="5392800" cy="30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latin typeface="Figtree SemiBold"/>
                <a:ea typeface="Figtree SemiBold"/>
                <a:cs typeface="Figtree SemiBold"/>
                <a:sym typeface="Figtree SemiBold"/>
              </a:rPr>
              <a:t>Best for:</a:t>
            </a:r>
            <a:endParaRPr sz="2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2900">
                <a:latin typeface="Figtree SemiBold"/>
                <a:ea typeface="Figtree SemiBold"/>
                <a:cs typeface="Figtree SemiBold"/>
                <a:sym typeface="Figtree SemiBold"/>
              </a:rPr>
              <a:t>Detecting outliers</a:t>
            </a:r>
            <a:endParaRPr sz="2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2900">
                <a:latin typeface="Figtree SemiBold"/>
                <a:ea typeface="Figtree SemiBold"/>
                <a:cs typeface="Figtree SemiBold"/>
                <a:sym typeface="Figtree SemiBold"/>
              </a:rPr>
              <a:t>Understanding spread</a:t>
            </a:r>
            <a:endParaRPr sz="2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latin typeface="Courier New"/>
                <a:ea typeface="Courier New"/>
                <a:cs typeface="Courier New"/>
                <a:sym typeface="Courier New"/>
              </a:rPr>
              <a:t>sns.boxplot(x="City", y="Salary", data=df)</a:t>
            </a:r>
            <a:endParaRPr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5"/>
          <p:cNvSpPr txBox="1"/>
          <p:nvPr>
            <p:ph type="title"/>
          </p:nvPr>
        </p:nvSpPr>
        <p:spPr>
          <a:xfrm>
            <a:off x="299667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IDENTIFYING INSIGHTS VISUALLY</a:t>
            </a:r>
            <a:endParaRPr sz="4500"/>
          </a:p>
        </p:txBody>
      </p:sp>
      <p:sp>
        <p:nvSpPr>
          <p:cNvPr id="574" name="Google Shape;574;p5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75" name="Google Shape;575;p5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76" name="Google Shape;576;p5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6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What to Look For in Charts</a:t>
            </a:r>
            <a:endParaRPr sz="4900"/>
          </a:p>
        </p:txBody>
      </p:sp>
      <p:sp>
        <p:nvSpPr>
          <p:cNvPr id="582" name="Google Shape;582;p5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83" name="Google Shape;583;p5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84" name="Google Shape;584;p5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5" name="Google Shape;585;p56"/>
          <p:cNvSpPr txBox="1"/>
          <p:nvPr>
            <p:ph idx="1" type="body"/>
          </p:nvPr>
        </p:nvSpPr>
        <p:spPr>
          <a:xfrm>
            <a:off x="3511044" y="1269425"/>
            <a:ext cx="5670300" cy="30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When analyzing visuals, ask: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Are there trends?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Are there clusters?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Are there extreme values?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Are groups significantly different?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Is there correlation?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57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Workshop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0" lang="en" sz="2244">
                <a:latin typeface="Courier New"/>
                <a:ea typeface="Courier New"/>
                <a:cs typeface="Courier New"/>
                <a:sym typeface="Courier New"/>
              </a:rPr>
              <a:t>https://colab.research.google.com/drive/1rnetxr_85hFvJPRWMIpGo6tf3Y_tr6rs?usp=sharing</a:t>
            </a:r>
            <a:endParaRPr b="0" sz="2244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2" name="Google Shape;592;p57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93" name="Google Shape;593;p57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5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600" name="Google Shape;600;p5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601" name="Google Shape;601;p5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