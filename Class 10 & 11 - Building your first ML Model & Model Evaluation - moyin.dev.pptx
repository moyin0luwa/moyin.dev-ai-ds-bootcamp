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Figtree"/>
      <p:regular r:id="rId24"/>
      <p:bold r:id="rId25"/>
      <p:italic r:id="rId26"/>
      <p:boldItalic r:id="rId27"/>
    </p:embeddedFont>
    <p:embeddedFont>
      <p:font typeface="Figtree ExtraBold"/>
      <p:bold r:id="rId28"/>
      <p:boldItalic r:id="rId29"/>
    </p:embeddedFont>
    <p:embeddedFont>
      <p:font typeface="EB Garamond SemiBold"/>
      <p:regular r:id="rId30"/>
      <p:bold r:id="rId31"/>
      <p:italic r:id="rId32"/>
      <p:boldItalic r:id="rId33"/>
    </p:embeddedFont>
    <p:embeddedFont>
      <p:font typeface="Figtree SemiBold"/>
      <p:regular r:id="rId34"/>
      <p:bold r:id="rId35"/>
      <p:italic r:id="rId36"/>
      <p:boldItalic r:id="rId37"/>
    </p:embeddedFont>
    <p:embeddedFont>
      <p:font typeface="Montserrat ExtraBold"/>
      <p:bold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6D622E-969D-4700-A33B-C0C53944ACE5}">
  <a:tblStyle styleId="{A56D622E-969D-4700-A33B-C0C53944ACE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Figtree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Figtree-italic.fntdata"/><Relationship Id="rId25" Type="http://schemas.openxmlformats.org/officeDocument/2006/relationships/font" Target="fonts/Figtree-bold.fntdata"/><Relationship Id="rId28" Type="http://schemas.openxmlformats.org/officeDocument/2006/relationships/font" Target="fonts/FigtreeExtraBold-bold.fntdata"/><Relationship Id="rId27" Type="http://schemas.openxmlformats.org/officeDocument/2006/relationships/font" Target="fonts/Figtree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FigtreeExtra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EBGaramondSemiBold-bold.fntdata"/><Relationship Id="rId30" Type="http://schemas.openxmlformats.org/officeDocument/2006/relationships/font" Target="fonts/EBGaramond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EBGaramond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EBGaramondSemiBold-italic.fntdata"/><Relationship Id="rId13" Type="http://schemas.openxmlformats.org/officeDocument/2006/relationships/slide" Target="slides/slide7.xml"/><Relationship Id="rId35" Type="http://schemas.openxmlformats.org/officeDocument/2006/relationships/font" Target="fonts/FigtreeSemiBold-bold.fntdata"/><Relationship Id="rId12" Type="http://schemas.openxmlformats.org/officeDocument/2006/relationships/slide" Target="slides/slide6.xml"/><Relationship Id="rId34" Type="http://schemas.openxmlformats.org/officeDocument/2006/relationships/font" Target="fonts/FigtreeSemiBold-regular.fntdata"/><Relationship Id="rId15" Type="http://schemas.openxmlformats.org/officeDocument/2006/relationships/slide" Target="slides/slide9.xml"/><Relationship Id="rId37" Type="http://schemas.openxmlformats.org/officeDocument/2006/relationships/font" Target="fonts/FigtreeSemiBold-boldItalic.fntdata"/><Relationship Id="rId14" Type="http://schemas.openxmlformats.org/officeDocument/2006/relationships/slide" Target="slides/slide8.xml"/><Relationship Id="rId36" Type="http://schemas.openxmlformats.org/officeDocument/2006/relationships/font" Target="fonts/FigtreeSemiBold-italic.fntdata"/><Relationship Id="rId17" Type="http://schemas.openxmlformats.org/officeDocument/2006/relationships/slide" Target="slides/slide11.xml"/><Relationship Id="rId39" Type="http://schemas.openxmlformats.org/officeDocument/2006/relationships/font" Target="fonts/MontserratExtraBold-boldItalic.fntdata"/><Relationship Id="rId16" Type="http://schemas.openxmlformats.org/officeDocument/2006/relationships/slide" Target="slides/slide10.xml"/><Relationship Id="rId38" Type="http://schemas.openxmlformats.org/officeDocument/2006/relationships/font" Target="fonts/MontserratExtraBold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b5ce48b7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b5ce48b7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bdd4610a8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bdd4610a8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c756b03b3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c756b03b3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c84559ee8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c84559ee8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b71978bfb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b71978bfb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86aff6e7a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86aff6e7a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c84559ee8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c84559ee8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86aff6e7a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86aff6e7a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bdd4610a8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bdd4610a8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86aff6e7a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86aff6e7a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86aff6e7a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86aff6e7a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86aff6e7ad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86aff6e7ad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86aff6e7ad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86aff6e7ad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86aff6e7ad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86aff6e7ad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86aff6e7a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86aff6e7a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86aff6e7ad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86aff6e7ad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b5ce48b7c5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b5ce48b7c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3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">
  <p:cSld name="BLANK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1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" name="Google Shape;50;p1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" name="Google Shape;51;p1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" name="Google Shape;52;p1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" name="Google Shape;53;p1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8" name="Google Shape;58;p1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6" name="Google Shape;66;p1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3" name="Google Shape;73;p15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4" name="Google Shape;74;p15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5" name="Google Shape;75;p15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" name="Google Shape;83;p1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1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" name="Google Shape;85;p1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" name="Google Shape;86;p1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9" name="Google Shape;99;p1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2" name="Google Shape;102;p1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1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1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1" name="Google Shape;111;p1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4" name="Google Shape;124;p2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22"/>
          <p:cNvGrpSpPr/>
          <p:nvPr/>
        </p:nvGrpSpPr>
        <p:grpSpPr>
          <a:xfrm>
            <a:off x="81" y="-57"/>
            <a:ext cx="9144360" cy="5143800"/>
            <a:chOff x="81" y="-57"/>
            <a:chExt cx="9144360" cy="5143800"/>
          </a:xfrm>
        </p:grpSpPr>
        <p:sp>
          <p:nvSpPr>
            <p:cNvPr id="129" name="Google Shape;129;p22"/>
            <p:cNvSpPr/>
            <p:nvPr/>
          </p:nvSpPr>
          <p:spPr>
            <a:xfrm rot="-5400000">
              <a:off x="-735519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0" name="Google Shape;130;p22"/>
            <p:cNvSpPr/>
            <p:nvPr/>
          </p:nvSpPr>
          <p:spPr>
            <a:xfrm rot="-5400000">
              <a:off x="2000361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1" name="Google Shape;131;p22"/>
            <p:cNvSpPr/>
            <p:nvPr/>
          </p:nvSpPr>
          <p:spPr>
            <a:xfrm rot="-5400000">
              <a:off x="4736241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132" name="Google Shape;132;p22"/>
          <p:cNvSpPr txBox="1"/>
          <p:nvPr>
            <p:ph type="ctrTitle"/>
          </p:nvPr>
        </p:nvSpPr>
        <p:spPr>
          <a:xfrm>
            <a:off x="429300" y="1681700"/>
            <a:ext cx="8285400" cy="13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idx="1" type="subTitle"/>
          </p:nvPr>
        </p:nvSpPr>
        <p:spPr>
          <a:xfrm>
            <a:off x="429300" y="3116325"/>
            <a:ext cx="82854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34" name="Google Shape;134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1pPr>
            <a:lvl2pPr lvl="1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body" type="secHead">
  <p:cSld name="SECTION_HEADER">
    <p:bg>
      <p:bgPr>
        <a:solidFill>
          <a:schemeClr val="lt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23"/>
          <p:cNvGrpSpPr/>
          <p:nvPr/>
        </p:nvGrpSpPr>
        <p:grpSpPr>
          <a:xfrm>
            <a:off x="1500" y="656450"/>
            <a:ext cx="9144473" cy="4268250"/>
            <a:chOff x="1500" y="656450"/>
            <a:chExt cx="9144473" cy="4268250"/>
          </a:xfrm>
        </p:grpSpPr>
        <p:sp>
          <p:nvSpPr>
            <p:cNvPr id="137" name="Google Shape;137;p23"/>
            <p:cNvSpPr/>
            <p:nvPr/>
          </p:nvSpPr>
          <p:spPr>
            <a:xfrm rot="-5400000">
              <a:off x="3342986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8" name="Google Shape;138;p23"/>
            <p:cNvSpPr/>
            <p:nvPr/>
          </p:nvSpPr>
          <p:spPr>
            <a:xfrm rot="-5400000">
              <a:off x="462150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9" name="Google Shape;139;p23"/>
            <p:cNvSpPr/>
            <p:nvPr/>
          </p:nvSpPr>
          <p:spPr>
            <a:xfrm>
              <a:off x="2401856" y="1764425"/>
              <a:ext cx="1463100" cy="205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40" name="Google Shape;140;p23"/>
            <p:cNvSpPr/>
            <p:nvPr/>
          </p:nvSpPr>
          <p:spPr>
            <a:xfrm rot="-5400000">
              <a:off x="6223823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1" name="Google Shape;141;p23"/>
            <p:cNvSpPr/>
            <p:nvPr/>
          </p:nvSpPr>
          <p:spPr>
            <a:xfrm rot="-5400000">
              <a:off x="3342986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2" name="Google Shape;142;p23"/>
            <p:cNvSpPr/>
            <p:nvPr/>
          </p:nvSpPr>
          <p:spPr>
            <a:xfrm rot="-5400000">
              <a:off x="462150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3" name="Google Shape;143;p23"/>
            <p:cNvSpPr/>
            <p:nvPr/>
          </p:nvSpPr>
          <p:spPr>
            <a:xfrm rot="-5400000">
              <a:off x="6223823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4" name="Google Shape;144;p23"/>
            <p:cNvSpPr/>
            <p:nvPr/>
          </p:nvSpPr>
          <p:spPr>
            <a:xfrm>
              <a:off x="5282615" y="1764425"/>
              <a:ext cx="1463100" cy="205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147" name="Google Shape;147;p23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9" name="Google Shape;149;p23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23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2" name="Google Shape;152;p23"/>
          <p:cNvSpPr txBox="1"/>
          <p:nvPr>
            <p:ph idx="2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3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SECTION_HEADER_1">
    <p:bg>
      <p:bgPr>
        <a:solidFill>
          <a:schemeClr val="lt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157" name="Google Shape;157;p24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9" name="Google Shape;159;p24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p24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2" name="Google Shape;162;p24"/>
          <p:cNvSpPr txBox="1"/>
          <p:nvPr>
            <p:ph idx="2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" type="tx">
  <p:cSld name="TITLE_AND_BODY">
    <p:bg>
      <p:bgPr>
        <a:solidFill>
          <a:schemeClr val="accen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/>
          <p:nvPr/>
        </p:nvSpPr>
        <p:spPr>
          <a:xfrm>
            <a:off x="0" y="635100"/>
            <a:ext cx="4572000" cy="42894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5"/>
          <p:cNvSpPr/>
          <p:nvPr>
            <p:ph idx="2" type="pic"/>
          </p:nvPr>
        </p:nvSpPr>
        <p:spPr>
          <a:xfrm>
            <a:off x="4572000" y="635100"/>
            <a:ext cx="4572000" cy="42894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7" name="Google Shape;167;p25"/>
          <p:cNvSpPr txBox="1"/>
          <p:nvPr>
            <p:ph type="title"/>
          </p:nvPr>
        </p:nvSpPr>
        <p:spPr>
          <a:xfrm>
            <a:off x="639300" y="1960688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9pPr>
          </a:lstStyle>
          <a:p/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639300" y="2675513"/>
            <a:ext cx="3293400" cy="8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69" name="Google Shape;169;p25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0" name="Google Shape;170;p2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1" name="Google Shape;171;p25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5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4" name="Google Shape;174;p25"/>
          <p:cNvSpPr txBox="1"/>
          <p:nvPr>
            <p:ph idx="3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75" name="Google Shape;175;p25"/>
          <p:cNvSpPr txBox="1"/>
          <p:nvPr>
            <p:ph idx="4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points 1" type="twoColTx">
  <p:cSld name="TITLE_AND_TWO_COLUMNS">
    <p:bg>
      <p:bgPr>
        <a:solidFill>
          <a:schemeClr val="accent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8" name="Google Shape;178;p2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9" name="Google Shape;179;p26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6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9pPr>
          </a:lstStyle>
          <a:p/>
        </p:txBody>
      </p:sp>
      <p:grpSp>
        <p:nvGrpSpPr>
          <p:cNvPr id="181" name="Google Shape;181;p26"/>
          <p:cNvGrpSpPr/>
          <p:nvPr/>
        </p:nvGrpSpPr>
        <p:grpSpPr>
          <a:xfrm>
            <a:off x="1275" y="1477575"/>
            <a:ext cx="9142725" cy="3447039"/>
            <a:chOff x="1275" y="1477575"/>
            <a:chExt cx="9142725" cy="3447039"/>
          </a:xfrm>
        </p:grpSpPr>
        <p:sp>
          <p:nvSpPr>
            <p:cNvPr id="182" name="Google Shape;182;p26"/>
            <p:cNvSpPr/>
            <p:nvPr/>
          </p:nvSpPr>
          <p:spPr>
            <a:xfrm rot="5400000">
              <a:off x="644025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3" name="Google Shape;183;p26"/>
            <p:cNvSpPr/>
            <p:nvPr/>
          </p:nvSpPr>
          <p:spPr>
            <a:xfrm rot="5400000">
              <a:off x="3690750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4" name="Google Shape;184;p26"/>
            <p:cNvSpPr/>
            <p:nvPr/>
          </p:nvSpPr>
          <p:spPr>
            <a:xfrm rot="5400000">
              <a:off x="6738750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5" name="Google Shape;185;p26"/>
            <p:cNvSpPr/>
            <p:nvPr/>
          </p:nvSpPr>
          <p:spPr>
            <a:xfrm rot="5400000">
              <a:off x="644025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6" name="Google Shape;186;p26"/>
            <p:cNvSpPr/>
            <p:nvPr/>
          </p:nvSpPr>
          <p:spPr>
            <a:xfrm rot="5400000">
              <a:off x="3691388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7" name="Google Shape;187;p26"/>
            <p:cNvSpPr/>
            <p:nvPr/>
          </p:nvSpPr>
          <p:spPr>
            <a:xfrm rot="5400000">
              <a:off x="6738750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188" name="Google Shape;188;p26"/>
          <p:cNvSpPr txBox="1"/>
          <p:nvPr>
            <p:ph idx="2" type="title"/>
          </p:nvPr>
        </p:nvSpPr>
        <p:spPr>
          <a:xfrm>
            <a:off x="3409838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89" name="Google Shape;189;p26"/>
          <p:cNvSpPr txBox="1"/>
          <p:nvPr>
            <p:ph idx="1" type="body"/>
          </p:nvPr>
        </p:nvSpPr>
        <p:spPr>
          <a:xfrm>
            <a:off x="3409838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3" type="title"/>
          </p:nvPr>
        </p:nvSpPr>
        <p:spPr>
          <a:xfrm>
            <a:off x="362475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1" name="Google Shape;191;p26"/>
          <p:cNvSpPr txBox="1"/>
          <p:nvPr>
            <p:ph idx="4" type="body"/>
          </p:nvPr>
        </p:nvSpPr>
        <p:spPr>
          <a:xfrm>
            <a:off x="362475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2" name="Google Shape;192;p26"/>
          <p:cNvSpPr txBox="1"/>
          <p:nvPr>
            <p:ph idx="5" type="title"/>
          </p:nvPr>
        </p:nvSpPr>
        <p:spPr>
          <a:xfrm>
            <a:off x="6457200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3" name="Google Shape;193;p26"/>
          <p:cNvSpPr txBox="1"/>
          <p:nvPr>
            <p:ph idx="6" type="body"/>
          </p:nvPr>
        </p:nvSpPr>
        <p:spPr>
          <a:xfrm>
            <a:off x="6457200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4" name="Google Shape;194;p26"/>
          <p:cNvSpPr txBox="1"/>
          <p:nvPr>
            <p:ph idx="7" type="title"/>
          </p:nvPr>
        </p:nvSpPr>
        <p:spPr>
          <a:xfrm>
            <a:off x="362475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5" name="Google Shape;195;p26"/>
          <p:cNvSpPr txBox="1"/>
          <p:nvPr>
            <p:ph idx="8" type="body"/>
          </p:nvPr>
        </p:nvSpPr>
        <p:spPr>
          <a:xfrm>
            <a:off x="362475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6" name="Google Shape;196;p26"/>
          <p:cNvSpPr txBox="1"/>
          <p:nvPr>
            <p:ph idx="9" type="title"/>
          </p:nvPr>
        </p:nvSpPr>
        <p:spPr>
          <a:xfrm>
            <a:off x="3409200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7" name="Google Shape;197;p26"/>
          <p:cNvSpPr txBox="1"/>
          <p:nvPr>
            <p:ph idx="13" type="body"/>
          </p:nvPr>
        </p:nvSpPr>
        <p:spPr>
          <a:xfrm>
            <a:off x="3409200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8" name="Google Shape;198;p26"/>
          <p:cNvSpPr txBox="1"/>
          <p:nvPr>
            <p:ph idx="14" type="title"/>
          </p:nvPr>
        </p:nvSpPr>
        <p:spPr>
          <a:xfrm>
            <a:off x="6381150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9" name="Google Shape;199;p26"/>
          <p:cNvSpPr txBox="1"/>
          <p:nvPr>
            <p:ph idx="15" type="body"/>
          </p:nvPr>
        </p:nvSpPr>
        <p:spPr>
          <a:xfrm>
            <a:off x="6381150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00" name="Google Shape;200;p26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2" name="Google Shape;202;p26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03" name="Google Shape;203;p26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1" type="titleOnly">
  <p:cSld name="TITLE_ONLY">
    <p:bg>
      <p:bgPr>
        <a:solidFill>
          <a:schemeClr val="accent3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6" name="Google Shape;206;p2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7" name="Google Shape;207;p27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8" name="Google Shape;208;p27"/>
          <p:cNvGrpSpPr/>
          <p:nvPr/>
        </p:nvGrpSpPr>
        <p:grpSpPr>
          <a:xfrm>
            <a:off x="1" y="656600"/>
            <a:ext cx="9143948" cy="4268310"/>
            <a:chOff x="1" y="656600"/>
            <a:chExt cx="9143948" cy="4268310"/>
          </a:xfrm>
        </p:grpSpPr>
        <p:sp>
          <p:nvSpPr>
            <p:cNvPr id="209" name="Google Shape;209;p27"/>
            <p:cNvSpPr/>
            <p:nvPr/>
          </p:nvSpPr>
          <p:spPr>
            <a:xfrm>
              <a:off x="1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2193874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1" name="Google Shape;211;p27"/>
            <p:cNvSpPr/>
            <p:nvPr/>
          </p:nvSpPr>
          <p:spPr>
            <a:xfrm>
              <a:off x="1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2193874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873232" y="1523415"/>
              <a:ext cx="2864400" cy="25347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4533576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6727449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4533576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6727449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8" name="Google Shape;218;p27"/>
            <p:cNvSpPr/>
            <p:nvPr/>
          </p:nvSpPr>
          <p:spPr>
            <a:xfrm>
              <a:off x="5406807" y="1523415"/>
              <a:ext cx="2864400" cy="25347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19" name="Google Shape;219;p27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20" name="Google Shape;220;p27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21" name="Google Shape;221;p27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2" name="Google Shape;222;p27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23" name="Google Shape;223;p27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4" name="Google Shape;224;p27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6" name="Google Shape;226;p27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27" name="Google Shape;227;p27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1">
  <p:cSld name="ONE_COLUMN_TEXT">
    <p:bg>
      <p:bgPr>
        <a:solidFill>
          <a:schemeClr val="dk2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30" name="Google Shape;230;p2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1" name="Google Shape;231;p28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2" name="Google Shape;232;p28"/>
          <p:cNvGrpSpPr/>
          <p:nvPr/>
        </p:nvGrpSpPr>
        <p:grpSpPr>
          <a:xfrm>
            <a:off x="1675" y="656598"/>
            <a:ext cx="9143766" cy="4268100"/>
            <a:chOff x="1675" y="656598"/>
            <a:chExt cx="9143766" cy="4268100"/>
          </a:xfrm>
        </p:grpSpPr>
        <p:sp>
          <p:nvSpPr>
            <p:cNvPr id="233" name="Google Shape;233;p28"/>
            <p:cNvSpPr/>
            <p:nvPr/>
          </p:nvSpPr>
          <p:spPr>
            <a:xfrm>
              <a:off x="1675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4" name="Google Shape;234;p28"/>
            <p:cNvSpPr/>
            <p:nvPr/>
          </p:nvSpPr>
          <p:spPr>
            <a:xfrm>
              <a:off x="2977708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5" name="Google Shape;235;p28"/>
            <p:cNvSpPr/>
            <p:nvPr/>
          </p:nvSpPr>
          <p:spPr>
            <a:xfrm>
              <a:off x="5953741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36" name="Google Shape;236;p2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7" name="Google Shape;237;p28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238" name="Google Shape;238;p28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39" name="Google Shape;239;p28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0" name="Google Shape;240;p28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41" name="Google Shape;241;p28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2" name="Google Shape;242;p28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43" name="Google Shape;243;p28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44" name="Google Shape;244;p28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45" name="Google Shape;245;p28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2">
  <p:cSld name="MAIN_POINT">
    <p:bg>
      <p:bgPr>
        <a:solidFill>
          <a:schemeClr val="lt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29"/>
          <p:cNvGrpSpPr/>
          <p:nvPr/>
        </p:nvGrpSpPr>
        <p:grpSpPr>
          <a:xfrm>
            <a:off x="-25" y="656852"/>
            <a:ext cx="9144036" cy="4268100"/>
            <a:chOff x="-25" y="656852"/>
            <a:chExt cx="9144036" cy="4268100"/>
          </a:xfrm>
        </p:grpSpPr>
        <p:sp>
          <p:nvSpPr>
            <p:cNvPr id="248" name="Google Shape;248;p29"/>
            <p:cNvSpPr/>
            <p:nvPr/>
          </p:nvSpPr>
          <p:spPr>
            <a:xfrm rot="-5400000">
              <a:off x="3345537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 rot="-5400000">
              <a:off x="4657144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 rot="-5400000">
              <a:off x="5968811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 rot="-5400000">
              <a:off x="-1092925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2" name="Google Shape;252;p29"/>
            <p:cNvSpPr/>
            <p:nvPr/>
          </p:nvSpPr>
          <p:spPr>
            <a:xfrm rot="-5400000">
              <a:off x="218682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3" name="Google Shape;253;p29"/>
            <p:cNvSpPr/>
            <p:nvPr/>
          </p:nvSpPr>
          <p:spPr>
            <a:xfrm rot="-5400000">
              <a:off x="1530349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254" name="Google Shape;254;p29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55" name="Google Shape;255;p2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56" name="Google Shape;256;p29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29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58" name="Google Shape;258;p29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59" name="Google Shape;259;p29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0" name="Google Shape;260;p29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61" name="Google Shape;261;p29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2" name="Google Shape;262;p29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63" name="Google Shape;263;p29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64" name="Google Shape;264;p29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65" name="Google Shape;265;p29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2">
  <p:cSld name="SECTION_TITLE_AND_DESCRIPTION_1">
    <p:bg>
      <p:bgPr>
        <a:solidFill>
          <a:schemeClr val="accent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30"/>
          <p:cNvGrpSpPr/>
          <p:nvPr/>
        </p:nvGrpSpPr>
        <p:grpSpPr>
          <a:xfrm>
            <a:off x="0" y="655700"/>
            <a:ext cx="9143980" cy="4282350"/>
            <a:chOff x="0" y="655700"/>
            <a:chExt cx="9143980" cy="4282350"/>
          </a:xfrm>
        </p:grpSpPr>
        <p:sp>
          <p:nvSpPr>
            <p:cNvPr id="268" name="Google Shape;268;p30"/>
            <p:cNvSpPr/>
            <p:nvPr/>
          </p:nvSpPr>
          <p:spPr>
            <a:xfrm>
              <a:off x="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 flipH="1" rot="10800000">
              <a:off x="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301799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 flipH="1" rot="10800000">
              <a:off x="301799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2" name="Google Shape;272;p30"/>
            <p:cNvSpPr/>
            <p:nvPr/>
          </p:nvSpPr>
          <p:spPr>
            <a:xfrm>
              <a:off x="603598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3" name="Google Shape;273;p30"/>
            <p:cNvSpPr/>
            <p:nvPr/>
          </p:nvSpPr>
          <p:spPr>
            <a:xfrm flipH="1" rot="10800000">
              <a:off x="603598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74" name="Google Shape;274;p30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75" name="Google Shape;275;p30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76" name="Google Shape;276;p30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" name="Google Shape;277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8" name="Google Shape;278;p30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279" name="Google Shape;279;p30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80" name="Google Shape;280;p30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1" name="Google Shape;281;p30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82" name="Google Shape;282;p30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3" name="Google Shape;283;p30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84" name="Google Shape;284;p30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85" name="Google Shape;285;p30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86" name="Google Shape;286;p30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3">
  <p:cSld name="CAPTION_ONLY_1">
    <p:bg>
      <p:bgPr>
        <a:solidFill>
          <a:schemeClr val="accent2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31"/>
          <p:cNvGrpSpPr/>
          <p:nvPr/>
        </p:nvGrpSpPr>
        <p:grpSpPr>
          <a:xfrm>
            <a:off x="45" y="656725"/>
            <a:ext cx="9144010" cy="4268100"/>
            <a:chOff x="45" y="656725"/>
            <a:chExt cx="9144010" cy="4268100"/>
          </a:xfrm>
        </p:grpSpPr>
        <p:sp>
          <p:nvSpPr>
            <p:cNvPr id="289" name="Google Shape;289;p31"/>
            <p:cNvSpPr/>
            <p:nvPr/>
          </p:nvSpPr>
          <p:spPr>
            <a:xfrm flipH="1" rot="-5400000">
              <a:off x="120255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 rot="5400000">
              <a:off x="-89230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 flipH="1" rot="5400000">
              <a:off x="367344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 rot="-5400000">
              <a:off x="576830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93" name="Google Shape;293;p31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94" name="Google Shape;294;p3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95" name="Google Shape;295;p31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31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97" name="Google Shape;297;p31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98" name="Google Shape;298;p31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9" name="Google Shape;299;p31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00" name="Google Shape;300;p31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1" name="Google Shape;301;p31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02" name="Google Shape;302;p31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03" name="Google Shape;303;p31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04" name="Google Shape;304;p31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3">
  <p:cSld name="BIG_NUMBER_2">
    <p:bg>
      <p:bgPr>
        <a:solidFill>
          <a:schemeClr val="accent3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32"/>
          <p:cNvGrpSpPr/>
          <p:nvPr/>
        </p:nvGrpSpPr>
        <p:grpSpPr>
          <a:xfrm>
            <a:off x="0" y="650025"/>
            <a:ext cx="9143966" cy="4268100"/>
            <a:chOff x="0" y="650025"/>
            <a:chExt cx="9143966" cy="4268100"/>
          </a:xfrm>
        </p:grpSpPr>
        <p:sp>
          <p:nvSpPr>
            <p:cNvPr id="307" name="Google Shape;307;p32"/>
            <p:cNvSpPr/>
            <p:nvPr/>
          </p:nvSpPr>
          <p:spPr>
            <a:xfrm>
              <a:off x="0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8" name="Google Shape;308;p32"/>
            <p:cNvSpPr/>
            <p:nvPr/>
          </p:nvSpPr>
          <p:spPr>
            <a:xfrm>
              <a:off x="3037633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9" name="Google Shape;309;p32"/>
            <p:cNvSpPr/>
            <p:nvPr/>
          </p:nvSpPr>
          <p:spPr>
            <a:xfrm>
              <a:off x="6075266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10" name="Google Shape;310;p32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11" name="Google Shape;311;p32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2" name="Google Shape;312;p32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" name="Google Shape;313;p3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4" name="Google Shape;314;p32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315" name="Google Shape;315;p32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16" name="Google Shape;316;p32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7" name="Google Shape;317;p32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18" name="Google Shape;318;p32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9" name="Google Shape;319;p32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20" name="Google Shape;320;p32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21" name="Google Shape;321;p32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22" name="Google Shape;322;p32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points 2">
  <p:cSld name="BIG_NUMBER_1_2">
    <p:bg>
      <p:bgPr>
        <a:solidFill>
          <a:schemeClr val="dk2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3"/>
          <p:cNvGrpSpPr/>
          <p:nvPr/>
        </p:nvGrpSpPr>
        <p:grpSpPr>
          <a:xfrm>
            <a:off x="0" y="1477575"/>
            <a:ext cx="9145300" cy="3447050"/>
            <a:chOff x="0" y="1477575"/>
            <a:chExt cx="9145300" cy="3447050"/>
          </a:xfrm>
        </p:grpSpPr>
        <p:sp>
          <p:nvSpPr>
            <p:cNvPr id="325" name="Google Shape;325;p33"/>
            <p:cNvSpPr/>
            <p:nvPr/>
          </p:nvSpPr>
          <p:spPr>
            <a:xfrm>
              <a:off x="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3"/>
            <p:cNvSpPr/>
            <p:nvPr/>
          </p:nvSpPr>
          <p:spPr>
            <a:xfrm>
              <a:off x="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3"/>
            <p:cNvSpPr/>
            <p:nvPr/>
          </p:nvSpPr>
          <p:spPr>
            <a:xfrm>
              <a:off x="609730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3"/>
            <p:cNvSpPr/>
            <p:nvPr/>
          </p:nvSpPr>
          <p:spPr>
            <a:xfrm>
              <a:off x="609730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304800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3"/>
            <p:cNvSpPr/>
            <p:nvPr/>
          </p:nvSpPr>
          <p:spPr>
            <a:xfrm>
              <a:off x="304800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1" name="Google Shape;331;p33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32" name="Google Shape;332;p3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3" name="Google Shape;333;p33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3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9pPr>
          </a:lstStyle>
          <a:p/>
        </p:txBody>
      </p:sp>
      <p:sp>
        <p:nvSpPr>
          <p:cNvPr id="335" name="Google Shape;335;p33"/>
          <p:cNvSpPr txBox="1"/>
          <p:nvPr>
            <p:ph idx="2" type="title"/>
          </p:nvPr>
        </p:nvSpPr>
        <p:spPr>
          <a:xfrm>
            <a:off x="3409838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36" name="Google Shape;336;p33"/>
          <p:cNvSpPr txBox="1"/>
          <p:nvPr>
            <p:ph idx="1" type="body"/>
          </p:nvPr>
        </p:nvSpPr>
        <p:spPr>
          <a:xfrm>
            <a:off x="3409838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7" name="Google Shape;337;p33"/>
          <p:cNvSpPr txBox="1"/>
          <p:nvPr>
            <p:ph idx="3" type="title"/>
          </p:nvPr>
        </p:nvSpPr>
        <p:spPr>
          <a:xfrm>
            <a:off x="362475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38" name="Google Shape;338;p33"/>
          <p:cNvSpPr txBox="1"/>
          <p:nvPr>
            <p:ph idx="4" type="body"/>
          </p:nvPr>
        </p:nvSpPr>
        <p:spPr>
          <a:xfrm>
            <a:off x="362475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9" name="Google Shape;339;p33"/>
          <p:cNvSpPr txBox="1"/>
          <p:nvPr>
            <p:ph idx="5" type="title"/>
          </p:nvPr>
        </p:nvSpPr>
        <p:spPr>
          <a:xfrm>
            <a:off x="6457200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0" name="Google Shape;340;p33"/>
          <p:cNvSpPr txBox="1"/>
          <p:nvPr>
            <p:ph idx="6" type="body"/>
          </p:nvPr>
        </p:nvSpPr>
        <p:spPr>
          <a:xfrm>
            <a:off x="6457200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1" name="Google Shape;341;p33"/>
          <p:cNvSpPr txBox="1"/>
          <p:nvPr>
            <p:ph idx="7" type="title"/>
          </p:nvPr>
        </p:nvSpPr>
        <p:spPr>
          <a:xfrm>
            <a:off x="362475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2" name="Google Shape;342;p33"/>
          <p:cNvSpPr txBox="1"/>
          <p:nvPr>
            <p:ph idx="8" type="body"/>
          </p:nvPr>
        </p:nvSpPr>
        <p:spPr>
          <a:xfrm>
            <a:off x="362475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3" name="Google Shape;343;p33"/>
          <p:cNvSpPr txBox="1"/>
          <p:nvPr>
            <p:ph idx="9" type="title"/>
          </p:nvPr>
        </p:nvSpPr>
        <p:spPr>
          <a:xfrm>
            <a:off x="3409200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4" name="Google Shape;344;p33"/>
          <p:cNvSpPr txBox="1"/>
          <p:nvPr>
            <p:ph idx="13" type="body"/>
          </p:nvPr>
        </p:nvSpPr>
        <p:spPr>
          <a:xfrm>
            <a:off x="3409200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5" name="Google Shape;345;p33"/>
          <p:cNvSpPr txBox="1"/>
          <p:nvPr>
            <p:ph idx="14" type="title"/>
          </p:nvPr>
        </p:nvSpPr>
        <p:spPr>
          <a:xfrm>
            <a:off x="6381150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6" name="Google Shape;346;p33"/>
          <p:cNvSpPr txBox="1"/>
          <p:nvPr>
            <p:ph idx="15" type="body"/>
          </p:nvPr>
        </p:nvSpPr>
        <p:spPr>
          <a:xfrm>
            <a:off x="6381150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7" name="Google Shape;347;p33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48" name="Google Shape;348;p33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49" name="Google Shape;349;p33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50" name="Google Shape;350;p33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BIG_NUMBER_1_1">
    <p:bg>
      <p:bgPr>
        <a:solidFill>
          <a:schemeClr val="lt2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3" name="Google Shape;353;p3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4" name="Google Shape;354;p34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34"/>
          <p:cNvSpPr/>
          <p:nvPr/>
        </p:nvSpPr>
        <p:spPr>
          <a:xfrm>
            <a:off x="-150" y="656513"/>
            <a:ext cx="9144300" cy="4268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6" name="Google Shape;356;p34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57" name="Google Shape;357;p34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8" name="Google Shape;358;p34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9" name="Google Shape;359;p34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60" name="Google Shape;360;p34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1">
  <p:cSld name="BIG_NUMBER_1_1_1_1">
    <p:bg>
      <p:bgPr>
        <a:solidFill>
          <a:schemeClr val="accent2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35"/>
          <p:cNvGrpSpPr/>
          <p:nvPr/>
        </p:nvGrpSpPr>
        <p:grpSpPr>
          <a:xfrm>
            <a:off x="-968" y="656650"/>
            <a:ext cx="9145937" cy="4268100"/>
            <a:chOff x="1666" y="656650"/>
            <a:chExt cx="9144108" cy="4268100"/>
          </a:xfrm>
        </p:grpSpPr>
        <p:sp>
          <p:nvSpPr>
            <p:cNvPr id="363" name="Google Shape;363;p35"/>
            <p:cNvSpPr/>
            <p:nvPr/>
          </p:nvSpPr>
          <p:spPr>
            <a:xfrm>
              <a:off x="166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4" name="Google Shape;364;p35"/>
            <p:cNvSpPr/>
            <p:nvPr/>
          </p:nvSpPr>
          <p:spPr>
            <a:xfrm>
              <a:off x="180874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5" name="Google Shape;365;p35"/>
            <p:cNvSpPr/>
            <p:nvPr/>
          </p:nvSpPr>
          <p:spPr>
            <a:xfrm>
              <a:off x="361582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6" name="Google Shape;366;p35"/>
            <p:cNvSpPr/>
            <p:nvPr/>
          </p:nvSpPr>
          <p:spPr>
            <a:xfrm>
              <a:off x="542290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7" name="Google Shape;367;p35"/>
            <p:cNvSpPr/>
            <p:nvPr/>
          </p:nvSpPr>
          <p:spPr>
            <a:xfrm>
              <a:off x="7229974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68" name="Google Shape;368;p35"/>
          <p:cNvSpPr txBox="1"/>
          <p:nvPr>
            <p:ph idx="1" type="body"/>
          </p:nvPr>
        </p:nvSpPr>
        <p:spPr>
          <a:xfrm>
            <a:off x="35137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69" name="Google Shape;369;p35"/>
          <p:cNvSpPr txBox="1"/>
          <p:nvPr>
            <p:ph idx="2" type="body"/>
          </p:nvPr>
        </p:nvSpPr>
        <p:spPr>
          <a:xfrm>
            <a:off x="35137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0" name="Google Shape;370;p35"/>
          <p:cNvSpPr txBox="1"/>
          <p:nvPr>
            <p:ph idx="3" type="body"/>
          </p:nvPr>
        </p:nvSpPr>
        <p:spPr>
          <a:xfrm>
            <a:off x="932400" y="2487400"/>
            <a:ext cx="7279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371" name="Google Shape;371;p35"/>
          <p:cNvSpPr txBox="1"/>
          <p:nvPr>
            <p:ph idx="4" type="body"/>
          </p:nvPr>
        </p:nvSpPr>
        <p:spPr>
          <a:xfrm>
            <a:off x="60951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2" name="Google Shape;372;p35"/>
          <p:cNvSpPr txBox="1"/>
          <p:nvPr>
            <p:ph idx="5" type="body"/>
          </p:nvPr>
        </p:nvSpPr>
        <p:spPr>
          <a:xfrm>
            <a:off x="60951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3" name="Google Shape;373;p35"/>
          <p:cNvSpPr txBox="1"/>
          <p:nvPr>
            <p:ph type="title"/>
          </p:nvPr>
        </p:nvSpPr>
        <p:spPr>
          <a:xfrm>
            <a:off x="932400" y="16349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374" name="Google Shape;374;p35"/>
          <p:cNvSpPr txBox="1"/>
          <p:nvPr>
            <p:ph idx="6" type="body"/>
          </p:nvPr>
        </p:nvSpPr>
        <p:spPr>
          <a:xfrm>
            <a:off x="9324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5" name="Google Shape;375;p35"/>
          <p:cNvSpPr txBox="1"/>
          <p:nvPr>
            <p:ph idx="7" type="body"/>
          </p:nvPr>
        </p:nvSpPr>
        <p:spPr>
          <a:xfrm>
            <a:off x="9324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6" name="Google Shape;376;p35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77" name="Google Shape;377;p3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8" name="Google Shape;378;p35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79" name="Google Shape;379;p35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cxnSp>
        <p:nvCxnSpPr>
          <p:cNvPr id="380" name="Google Shape;380;p35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35"/>
          <p:cNvSpPr txBox="1"/>
          <p:nvPr>
            <p:ph idx="8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82" name="Google Shape;382;p35"/>
          <p:cNvSpPr txBox="1"/>
          <p:nvPr>
            <p:ph idx="9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1, response">
  <p:cSld name="BIG_NUMBER_1_1_1_1_1">
    <p:bg>
      <p:bgPr>
        <a:solidFill>
          <a:schemeClr val="accent3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" name="Google Shape;384;p36"/>
          <p:cNvGrpSpPr/>
          <p:nvPr/>
        </p:nvGrpSpPr>
        <p:grpSpPr>
          <a:xfrm>
            <a:off x="-968" y="656650"/>
            <a:ext cx="9145937" cy="4268100"/>
            <a:chOff x="1666" y="656650"/>
            <a:chExt cx="9144108" cy="4268100"/>
          </a:xfrm>
        </p:grpSpPr>
        <p:sp>
          <p:nvSpPr>
            <p:cNvPr id="385" name="Google Shape;385;p36"/>
            <p:cNvSpPr/>
            <p:nvPr/>
          </p:nvSpPr>
          <p:spPr>
            <a:xfrm>
              <a:off x="166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6" name="Google Shape;386;p36"/>
            <p:cNvSpPr/>
            <p:nvPr/>
          </p:nvSpPr>
          <p:spPr>
            <a:xfrm>
              <a:off x="180874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7" name="Google Shape;387;p36"/>
            <p:cNvSpPr/>
            <p:nvPr/>
          </p:nvSpPr>
          <p:spPr>
            <a:xfrm>
              <a:off x="361582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8" name="Google Shape;388;p36"/>
            <p:cNvSpPr/>
            <p:nvPr/>
          </p:nvSpPr>
          <p:spPr>
            <a:xfrm>
              <a:off x="542290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9" name="Google Shape;389;p36"/>
            <p:cNvSpPr/>
            <p:nvPr/>
          </p:nvSpPr>
          <p:spPr>
            <a:xfrm>
              <a:off x="7229974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90" name="Google Shape;390;p36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1" name="Google Shape;391;p3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2" name="Google Shape;392;p36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" name="Google Shape;393;p36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94" name="Google Shape;394;p36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5" name="Google Shape;395;p36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6" name="Google Shape;396;p36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97" name="Google Shape;397;p36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2">
  <p:cSld name="BIG_NUMBER_1_1_1_1_2">
    <p:bg>
      <p:bgPr>
        <a:solidFill>
          <a:schemeClr val="accent2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37"/>
          <p:cNvGrpSpPr/>
          <p:nvPr/>
        </p:nvGrpSpPr>
        <p:grpSpPr>
          <a:xfrm>
            <a:off x="-25" y="656526"/>
            <a:ext cx="9143972" cy="4268100"/>
            <a:chOff x="-25" y="656526"/>
            <a:chExt cx="9143972" cy="4268100"/>
          </a:xfrm>
        </p:grpSpPr>
        <p:sp>
          <p:nvSpPr>
            <p:cNvPr id="400" name="Google Shape;400;p37"/>
            <p:cNvSpPr/>
            <p:nvPr/>
          </p:nvSpPr>
          <p:spPr>
            <a:xfrm rot="-5400000">
              <a:off x="-110875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01" name="Google Shape;401;p37"/>
            <p:cNvSpPr/>
            <p:nvPr/>
          </p:nvSpPr>
          <p:spPr>
            <a:xfrm rot="-5400000">
              <a:off x="2437854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02" name="Google Shape;402;p37"/>
            <p:cNvSpPr/>
            <p:nvPr/>
          </p:nvSpPr>
          <p:spPr>
            <a:xfrm rot="-5400000">
              <a:off x="4986697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403" name="Google Shape;403;p37"/>
          <p:cNvSpPr txBox="1"/>
          <p:nvPr>
            <p:ph idx="1" type="body"/>
          </p:nvPr>
        </p:nvSpPr>
        <p:spPr>
          <a:xfrm>
            <a:off x="932400" y="2487400"/>
            <a:ext cx="7279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404" name="Google Shape;404;p37"/>
          <p:cNvSpPr txBox="1"/>
          <p:nvPr>
            <p:ph type="title"/>
          </p:nvPr>
        </p:nvSpPr>
        <p:spPr>
          <a:xfrm>
            <a:off x="932400" y="16349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405" name="Google Shape;405;p37"/>
          <p:cNvSpPr txBox="1"/>
          <p:nvPr>
            <p:ph idx="2" type="body"/>
          </p:nvPr>
        </p:nvSpPr>
        <p:spPr>
          <a:xfrm>
            <a:off x="9324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6" name="Google Shape;406;p37"/>
          <p:cNvSpPr txBox="1"/>
          <p:nvPr>
            <p:ph idx="3" type="body"/>
          </p:nvPr>
        </p:nvSpPr>
        <p:spPr>
          <a:xfrm>
            <a:off x="9324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7" name="Google Shape;407;p37"/>
          <p:cNvSpPr txBox="1"/>
          <p:nvPr>
            <p:ph idx="4" type="body"/>
          </p:nvPr>
        </p:nvSpPr>
        <p:spPr>
          <a:xfrm>
            <a:off x="35137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8" name="Google Shape;408;p37"/>
          <p:cNvSpPr txBox="1"/>
          <p:nvPr>
            <p:ph idx="5" type="body"/>
          </p:nvPr>
        </p:nvSpPr>
        <p:spPr>
          <a:xfrm>
            <a:off x="35137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9" name="Google Shape;409;p37"/>
          <p:cNvSpPr txBox="1"/>
          <p:nvPr>
            <p:ph idx="6" type="body"/>
          </p:nvPr>
        </p:nvSpPr>
        <p:spPr>
          <a:xfrm>
            <a:off x="60951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10" name="Google Shape;410;p37"/>
          <p:cNvSpPr txBox="1"/>
          <p:nvPr>
            <p:ph idx="7" type="body"/>
          </p:nvPr>
        </p:nvSpPr>
        <p:spPr>
          <a:xfrm>
            <a:off x="60951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11" name="Google Shape;411;p37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12" name="Google Shape;412;p3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3" name="Google Shape;413;p37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14" name="Google Shape;414;p37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cxnSp>
        <p:nvCxnSpPr>
          <p:cNvPr id="415" name="Google Shape;415;p37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37"/>
          <p:cNvSpPr txBox="1"/>
          <p:nvPr>
            <p:ph idx="8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17" name="Google Shape;417;p37"/>
          <p:cNvSpPr txBox="1"/>
          <p:nvPr>
            <p:ph idx="9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2, response">
  <p:cSld name="BIG_NUMBER_1_1_1_1_1_2">
    <p:bg>
      <p:bgPr>
        <a:solidFill>
          <a:schemeClr val="accent3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38"/>
          <p:cNvGrpSpPr/>
          <p:nvPr/>
        </p:nvGrpSpPr>
        <p:grpSpPr>
          <a:xfrm>
            <a:off x="-25" y="656526"/>
            <a:ext cx="9143972" cy="4268100"/>
            <a:chOff x="-25" y="656526"/>
            <a:chExt cx="9143972" cy="4268100"/>
          </a:xfrm>
        </p:grpSpPr>
        <p:sp>
          <p:nvSpPr>
            <p:cNvPr id="420" name="Google Shape;420;p38"/>
            <p:cNvSpPr/>
            <p:nvPr/>
          </p:nvSpPr>
          <p:spPr>
            <a:xfrm rot="-5400000">
              <a:off x="-110875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21" name="Google Shape;421;p38"/>
            <p:cNvSpPr/>
            <p:nvPr/>
          </p:nvSpPr>
          <p:spPr>
            <a:xfrm rot="-5400000">
              <a:off x="2437854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22" name="Google Shape;422;p38"/>
            <p:cNvSpPr/>
            <p:nvPr/>
          </p:nvSpPr>
          <p:spPr>
            <a:xfrm rot="-5400000">
              <a:off x="4986697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423" name="Google Shape;423;p38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4" name="Google Shape;424;p3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25" name="Google Shape;425;p38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" name="Google Shape;426;p38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427" name="Google Shape;427;p38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8" name="Google Shape;428;p38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9" name="Google Shape;429;p38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30" name="Google Shape;430;p38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 type="blank">
  <p:cSld name="BLANK">
    <p:bg>
      <p:bgPr>
        <a:solidFill>
          <a:schemeClr val="dk2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9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3" name="Google Shape;433;p3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34" name="Google Shape;434;p39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39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6" name="Google Shape;436;p39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7" name="Google Shape;437;p39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38" name="Google Shape;438;p39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0"/>
          <p:cNvSpPr txBox="1"/>
          <p:nvPr>
            <p:ph type="ctrTitle"/>
          </p:nvPr>
        </p:nvSpPr>
        <p:spPr>
          <a:xfrm>
            <a:off x="429300" y="1885807"/>
            <a:ext cx="8285400" cy="13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700">
                <a:latin typeface="Montserrat ExtraBold"/>
                <a:ea typeface="Montserrat ExtraBold"/>
                <a:cs typeface="Montserrat ExtraBold"/>
                <a:sym typeface="Montserrat ExtraBold"/>
              </a:rPr>
              <a:t>Building your first ML Model &amp; Model Evaluation</a:t>
            </a:r>
            <a:endParaRPr sz="47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44" name="Google Shape;444;p40"/>
          <p:cNvSpPr txBox="1"/>
          <p:nvPr>
            <p:ph idx="1" type="subTitle"/>
          </p:nvPr>
        </p:nvSpPr>
        <p:spPr>
          <a:xfrm>
            <a:off x="429300" y="3116325"/>
            <a:ext cx="82854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EB Garamond SemiBold"/>
                <a:ea typeface="EB Garamond SemiBold"/>
                <a:cs typeface="EB Garamond SemiBold"/>
                <a:sym typeface="EB Garamond SemiBold"/>
              </a:rPr>
              <a:t>moyin.dev – AI &amp; Data Science Bootcamp</a:t>
            </a:r>
            <a:endParaRPr>
              <a:latin typeface="EB Garamond SemiBold"/>
              <a:ea typeface="EB Garamond SemiBold"/>
              <a:cs typeface="EB Garamond SemiBold"/>
              <a:sym typeface="EB Garamond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latin typeface="EB Garamond SemiBold"/>
                <a:ea typeface="EB Garamond SemiBold"/>
                <a:cs typeface="EB Garamond SemiBold"/>
                <a:sym typeface="EB Garamond SemiBold"/>
              </a:rPr>
              <a:t>Learning by doing. Understanding by building.</a:t>
            </a:r>
            <a:endParaRPr i="1" sz="1400"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  <p:sp>
        <p:nvSpPr>
          <p:cNvPr id="445" name="Google Shape;445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27BA0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1"/>
          <p:cNvSpPr txBox="1"/>
          <p:nvPr>
            <p:ph type="title"/>
          </p:nvPr>
        </p:nvSpPr>
        <p:spPr>
          <a:xfrm>
            <a:off x="434800" y="1747648"/>
            <a:ext cx="8598300" cy="222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LINEAR VS LOGISTIC REGRESSION</a:t>
            </a:r>
            <a:endParaRPr sz="3600"/>
          </a:p>
        </p:txBody>
      </p:sp>
      <p:sp>
        <p:nvSpPr>
          <p:cNvPr id="451" name="Google Shape;451;p41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52" name="Google Shape;452;p41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53" name="Google Shape;453;p4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2"/>
          <p:cNvSpPr txBox="1"/>
          <p:nvPr>
            <p:ph type="title"/>
          </p:nvPr>
        </p:nvSpPr>
        <p:spPr>
          <a:xfrm>
            <a:off x="143700" y="2593850"/>
            <a:ext cx="30069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Linear Regression</a:t>
            </a:r>
            <a:endParaRPr sz="4500"/>
          </a:p>
        </p:txBody>
      </p:sp>
      <p:sp>
        <p:nvSpPr>
          <p:cNvPr id="459" name="Google Shape;459;p42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60" name="Google Shape;460;p42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61" name="Google Shape;461;p42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2" name="Google Shape;462;p42"/>
          <p:cNvSpPr txBox="1"/>
          <p:nvPr>
            <p:ph idx="1" type="body"/>
          </p:nvPr>
        </p:nvSpPr>
        <p:spPr>
          <a:xfrm>
            <a:off x="3410825" y="1319724"/>
            <a:ext cx="2555100" cy="33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latin typeface="Figtree SemiBold"/>
                <a:ea typeface="Figtree SemiBold"/>
                <a:cs typeface="Figtree SemiBold"/>
                <a:sym typeface="Figtree SemiBold"/>
              </a:rPr>
              <a:t>Used when predicting a continuous value.</a:t>
            </a:r>
            <a:endParaRPr sz="21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Figtree SemiBold"/>
              <a:buChar char="●"/>
            </a:pPr>
            <a:r>
              <a:rPr lang="en" sz="2100">
                <a:latin typeface="Figtree SemiBold"/>
                <a:ea typeface="Figtree SemiBold"/>
                <a:cs typeface="Figtree SemiBold"/>
                <a:sym typeface="Figtree SemiBold"/>
              </a:rPr>
              <a:t>Predict monthly pharmacy revenue</a:t>
            </a:r>
            <a:endParaRPr sz="21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Figtree SemiBold"/>
              <a:buChar char="●"/>
            </a:pPr>
            <a:r>
              <a:rPr lang="en" sz="2100">
                <a:latin typeface="Figtree SemiBold"/>
                <a:ea typeface="Figtree SemiBold"/>
                <a:cs typeface="Figtree SemiBold"/>
                <a:sym typeface="Figtree SemiBold"/>
              </a:rPr>
              <a:t>Predict drug demand</a:t>
            </a:r>
            <a:endParaRPr sz="21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6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63" name="Google Shape;463;p42"/>
          <p:cNvSpPr txBox="1"/>
          <p:nvPr>
            <p:ph idx="4" type="body"/>
          </p:nvPr>
        </p:nvSpPr>
        <p:spPr>
          <a:xfrm>
            <a:off x="6191175" y="1746430"/>
            <a:ext cx="2818200" cy="272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Output:</a:t>
            </a:r>
            <a:b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 A number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Formula concept: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y=mx+c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B0F00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3"/>
          <p:cNvSpPr txBox="1"/>
          <p:nvPr>
            <p:ph type="title"/>
          </p:nvPr>
        </p:nvSpPr>
        <p:spPr>
          <a:xfrm>
            <a:off x="143700" y="2593850"/>
            <a:ext cx="30069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Logistic Regression</a:t>
            </a:r>
            <a:endParaRPr sz="4500"/>
          </a:p>
        </p:txBody>
      </p:sp>
      <p:sp>
        <p:nvSpPr>
          <p:cNvPr id="469" name="Google Shape;469;p43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70" name="Google Shape;470;p43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71" name="Google Shape;471;p4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2" name="Google Shape;472;p43"/>
          <p:cNvSpPr txBox="1"/>
          <p:nvPr>
            <p:ph idx="1" type="body"/>
          </p:nvPr>
        </p:nvSpPr>
        <p:spPr>
          <a:xfrm>
            <a:off x="3410825" y="1252175"/>
            <a:ext cx="2555100" cy="144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Figtree SemiBold"/>
                <a:ea typeface="Figtree SemiBold"/>
                <a:cs typeface="Figtree SemiBold"/>
                <a:sym typeface="Figtree SemiBold"/>
              </a:rPr>
              <a:t>Used when predicting a category.</a:t>
            </a:r>
            <a:endParaRPr sz="20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Figtree SemiBold"/>
                <a:ea typeface="Figtree SemiBold"/>
                <a:cs typeface="Figtree SemiBold"/>
                <a:sym typeface="Figtree SemiBold"/>
              </a:rPr>
              <a:t>Examples:</a:t>
            </a:r>
            <a:endParaRPr sz="20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Figtree SemiBold"/>
              <a:buChar char="●"/>
            </a:pPr>
            <a:r>
              <a:rPr lang="en" sz="2000">
                <a:latin typeface="Figtree SemiBold"/>
                <a:ea typeface="Figtree SemiBold"/>
                <a:cs typeface="Figtree SemiBold"/>
                <a:sym typeface="Figtree SemiBold"/>
              </a:rPr>
              <a:t>High-value customer? (Yes/No)</a:t>
            </a:r>
            <a:endParaRPr sz="20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Char char="●"/>
            </a:pPr>
            <a:r>
              <a:rPr lang="en" sz="2000">
                <a:latin typeface="Figtree SemiBold"/>
                <a:ea typeface="Figtree SemiBold"/>
                <a:cs typeface="Figtree SemiBold"/>
                <a:sym typeface="Figtree SemiBold"/>
              </a:rPr>
              <a:t>Fraudulent transaction? (Yes/No)</a:t>
            </a:r>
            <a:endParaRPr sz="20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2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73" name="Google Shape;473;p43"/>
          <p:cNvSpPr txBox="1"/>
          <p:nvPr>
            <p:ph idx="4" type="body"/>
          </p:nvPr>
        </p:nvSpPr>
        <p:spPr>
          <a:xfrm>
            <a:off x="6191175" y="1252175"/>
            <a:ext cx="2818200" cy="294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latin typeface="Figtree SemiBold"/>
                <a:ea typeface="Figtree SemiBold"/>
                <a:cs typeface="Figtree SemiBold"/>
                <a:sym typeface="Figtree SemiBold"/>
              </a:rPr>
              <a:t>Output:</a:t>
            </a:r>
            <a:br>
              <a:rPr lang="en" sz="2200"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2200">
                <a:latin typeface="Figtree SemiBold"/>
                <a:ea typeface="Figtree SemiBold"/>
                <a:cs typeface="Figtree SemiBold"/>
                <a:sym typeface="Figtree SemiBold"/>
              </a:rPr>
              <a:t>Probability → Converted to Class</a:t>
            </a:r>
            <a:endParaRPr sz="22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latin typeface="Figtree SemiBold"/>
                <a:ea typeface="Figtree SemiBold"/>
                <a:cs typeface="Figtree SemiBold"/>
                <a:sym typeface="Figtree SemiBold"/>
              </a:rPr>
              <a:t>Uses sigmoid function to constrain output between 0 and 1.</a:t>
            </a:r>
            <a:endParaRPr sz="22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9" name="Google Shape;479;p44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80" name="Google Shape;480;p44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81" name="Google Shape;481;p44"/>
          <p:cNvSpPr txBox="1"/>
          <p:nvPr>
            <p:ph idx="4294967295" type="title"/>
          </p:nvPr>
        </p:nvSpPr>
        <p:spPr>
          <a:xfrm>
            <a:off x="203248" y="2504325"/>
            <a:ext cx="27753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Difference</a:t>
            </a:r>
            <a:endParaRPr/>
          </a:p>
        </p:txBody>
      </p:sp>
      <p:graphicFrame>
        <p:nvGraphicFramePr>
          <p:cNvPr id="482" name="Google Shape;482;p44"/>
          <p:cNvGraphicFramePr/>
          <p:nvPr/>
        </p:nvGraphicFramePr>
        <p:xfrm>
          <a:off x="3247925" y="1363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{A56D622E-969D-4700-A33B-C0C53944ACE5}</a:tableStyleId>
              </a:tblPr>
              <a:tblGrid>
                <a:gridCol w="2938400"/>
                <a:gridCol w="2750250"/>
              </a:tblGrid>
              <a:tr h="48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6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Linear</a:t>
                      </a:r>
                      <a:endParaRPr b="1" sz="26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6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Logistic</a:t>
                      </a:r>
                      <a:endParaRPr b="1" sz="26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/>
                </a:tc>
              </a:tr>
              <a:tr h="78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Predicts amount</a:t>
                      </a:r>
                      <a:endParaRPr sz="24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Predicts category</a:t>
                      </a:r>
                      <a:endParaRPr sz="24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</a:tr>
              <a:tr h="78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Straight line</a:t>
                      </a:r>
                      <a:endParaRPr sz="24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S-shaped curve</a:t>
                      </a:r>
                      <a:endParaRPr sz="24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</a:tr>
              <a:tr h="78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Regression task</a:t>
                      </a:r>
                      <a:endParaRPr sz="24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Classification task</a:t>
                      </a:r>
                      <a:endParaRPr sz="24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5"/>
          <p:cNvSpPr txBox="1"/>
          <p:nvPr>
            <p:ph type="title"/>
          </p:nvPr>
        </p:nvSpPr>
        <p:spPr>
          <a:xfrm>
            <a:off x="143700" y="2593850"/>
            <a:ext cx="30069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Splitting Data (Train/Test)</a:t>
            </a:r>
            <a:endParaRPr sz="4500"/>
          </a:p>
        </p:txBody>
      </p:sp>
      <p:sp>
        <p:nvSpPr>
          <p:cNvPr id="488" name="Google Shape;488;p45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89" name="Google Shape;489;p45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90" name="Google Shape;490;p4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1" name="Google Shape;491;p45"/>
          <p:cNvSpPr txBox="1"/>
          <p:nvPr>
            <p:ph idx="1" type="body"/>
          </p:nvPr>
        </p:nvSpPr>
        <p:spPr>
          <a:xfrm>
            <a:off x="3545958" y="1094502"/>
            <a:ext cx="2555100" cy="33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latin typeface="Figtree SemiBold"/>
                <a:ea typeface="Figtree SemiBold"/>
                <a:cs typeface="Figtree SemiBold"/>
                <a:sym typeface="Figtree SemiBold"/>
              </a:rPr>
              <a:t>Typical split:</a:t>
            </a:r>
            <a:endParaRPr sz="21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2100">
                <a:latin typeface="Figtree SemiBold"/>
                <a:ea typeface="Figtree SemiBold"/>
                <a:cs typeface="Figtree SemiBold"/>
                <a:sym typeface="Figtree SemiBold"/>
              </a:rPr>
              <a:t>70–80% Training</a:t>
            </a:r>
            <a:endParaRPr sz="21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2100">
                <a:latin typeface="Figtree SemiBold"/>
                <a:ea typeface="Figtree SemiBold"/>
                <a:cs typeface="Figtree SemiBold"/>
                <a:sym typeface="Figtree SemiBold"/>
              </a:rPr>
              <a:t>20–30% Testing</a:t>
            </a:r>
            <a:endParaRPr sz="21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latin typeface="Figtree SemiBold"/>
                <a:ea typeface="Figtree SemiBold"/>
                <a:cs typeface="Figtree SemiBold"/>
                <a:sym typeface="Figtree SemiBold"/>
              </a:rPr>
              <a:t>Training: Model learns patterns.</a:t>
            </a:r>
            <a:endParaRPr sz="21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latin typeface="Figtree SemiBold"/>
                <a:ea typeface="Figtree SemiBold"/>
                <a:cs typeface="Figtree SemiBold"/>
                <a:sym typeface="Figtree SemiBold"/>
              </a:rPr>
              <a:t>Testing: Model is evaluated on unseen data.</a:t>
            </a:r>
            <a:endParaRPr sz="21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92" name="Google Shape;492;p45"/>
          <p:cNvSpPr txBox="1"/>
          <p:nvPr>
            <p:ph idx="4" type="body"/>
          </p:nvPr>
        </p:nvSpPr>
        <p:spPr>
          <a:xfrm>
            <a:off x="6393875" y="1229646"/>
            <a:ext cx="2818200" cy="3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Without splitting: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Model memorizes data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Appears accurate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Fails in real-world use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8" name="Google Shape;498;p46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99" name="Google Shape;499;p46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00" name="Google Shape;500;p46"/>
          <p:cNvSpPr txBox="1"/>
          <p:nvPr>
            <p:ph idx="1" type="body"/>
          </p:nvPr>
        </p:nvSpPr>
        <p:spPr>
          <a:xfrm>
            <a:off x="2812839" y="1250416"/>
            <a:ext cx="3130500" cy="274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latin typeface="Figtree SemiBold"/>
                <a:ea typeface="Figtree SemiBold"/>
                <a:cs typeface="Figtree SemiBold"/>
                <a:sym typeface="Figtree SemiBold"/>
              </a:rPr>
              <a:t>Step 1: Define problem</a:t>
            </a:r>
            <a:endParaRPr sz="25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latin typeface="Figtree SemiBold"/>
                <a:ea typeface="Figtree SemiBold"/>
                <a:cs typeface="Figtree SemiBold"/>
                <a:sym typeface="Figtree SemiBold"/>
              </a:rPr>
              <a:t>Step 2: Choose model type</a:t>
            </a:r>
            <a:endParaRPr sz="25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latin typeface="Figtree SemiBold"/>
                <a:ea typeface="Figtree SemiBold"/>
                <a:cs typeface="Figtree SemiBold"/>
                <a:sym typeface="Figtree SemiBold"/>
              </a:rPr>
              <a:t>Step 3: Train model</a:t>
            </a:r>
            <a:endParaRPr sz="25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500">
                <a:latin typeface="Figtree SemiBold"/>
                <a:ea typeface="Figtree SemiBold"/>
                <a:cs typeface="Figtree SemiBold"/>
                <a:sym typeface="Figtree SemiBold"/>
              </a:rPr>
              <a:t>Step 4: Evaluate</a:t>
            </a:r>
            <a:br>
              <a:rPr lang="en" sz="2500">
                <a:latin typeface="Figtree SemiBold"/>
                <a:ea typeface="Figtree SemiBold"/>
                <a:cs typeface="Figtree SemiBold"/>
                <a:sym typeface="Figtree SemiBold"/>
              </a:rPr>
            </a:br>
            <a:endParaRPr sz="2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1" name="Google Shape;501;p46"/>
          <p:cNvSpPr txBox="1"/>
          <p:nvPr>
            <p:ph idx="4294967295" type="title"/>
          </p:nvPr>
        </p:nvSpPr>
        <p:spPr>
          <a:xfrm>
            <a:off x="37495" y="2946331"/>
            <a:ext cx="27753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Selection &amp; Training</a:t>
            </a:r>
            <a:endParaRPr/>
          </a:p>
        </p:txBody>
      </p:sp>
      <p:sp>
        <p:nvSpPr>
          <p:cNvPr id="502" name="Google Shape;502;p46"/>
          <p:cNvSpPr txBox="1"/>
          <p:nvPr>
            <p:ph idx="1" type="body"/>
          </p:nvPr>
        </p:nvSpPr>
        <p:spPr>
          <a:xfrm>
            <a:off x="5871349" y="1335250"/>
            <a:ext cx="3130500" cy="274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Figtree SemiBold"/>
                <a:ea typeface="Figtree SemiBold"/>
                <a:cs typeface="Figtree SemiBold"/>
                <a:sym typeface="Figtree SemiBold"/>
              </a:rPr>
              <a:t>What training does:</a:t>
            </a:r>
            <a:endParaRPr sz="23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Figtree SemiBold"/>
              <a:buChar char="●"/>
            </a:pPr>
            <a:r>
              <a:rPr lang="en" sz="2300">
                <a:latin typeface="Figtree SemiBold"/>
                <a:ea typeface="Figtree SemiBold"/>
                <a:cs typeface="Figtree SemiBold"/>
                <a:sym typeface="Figtree SemiBold"/>
              </a:rPr>
              <a:t>Adjusts parameters</a:t>
            </a:r>
            <a:endParaRPr sz="23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gtree SemiBold"/>
              <a:buChar char="●"/>
            </a:pPr>
            <a:r>
              <a:rPr lang="en" sz="2300">
                <a:latin typeface="Figtree SemiBold"/>
                <a:ea typeface="Figtree SemiBold"/>
                <a:cs typeface="Figtree SemiBold"/>
                <a:sym typeface="Figtree SemiBold"/>
              </a:rPr>
              <a:t>Minimizes prediction error</a:t>
            </a:r>
            <a:endParaRPr sz="23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gtree SemiBold"/>
              <a:buChar char="●"/>
            </a:pPr>
            <a:r>
              <a:rPr lang="en" sz="2300">
                <a:latin typeface="Figtree SemiBold"/>
                <a:ea typeface="Figtree SemiBold"/>
                <a:cs typeface="Figtree SemiBold"/>
                <a:sym typeface="Figtree SemiBold"/>
              </a:rPr>
              <a:t>Learns relationship between inputs and outputs</a:t>
            </a:r>
            <a:endParaRPr sz="23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8" name="Google Shape;508;p47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09" name="Google Shape;509;p47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10" name="Google Shape;510;p47"/>
          <p:cNvSpPr txBox="1"/>
          <p:nvPr>
            <p:ph idx="1" type="body"/>
          </p:nvPr>
        </p:nvSpPr>
        <p:spPr>
          <a:xfrm>
            <a:off x="2722750" y="1385549"/>
            <a:ext cx="3130500" cy="274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300"/>
              <a:t>MSE</a:t>
            </a:r>
            <a:br>
              <a:rPr lang="en" sz="2300"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2100">
                <a:latin typeface="Figtree SemiBold"/>
                <a:ea typeface="Figtree SemiBold"/>
                <a:cs typeface="Figtree SemiBold"/>
                <a:sym typeface="Figtree SemiBold"/>
              </a:rPr>
              <a:t>Squares errors.</a:t>
            </a:r>
            <a:br>
              <a:rPr lang="en" sz="2100"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2100">
                <a:latin typeface="Figtree SemiBold"/>
                <a:ea typeface="Figtree SemiBold"/>
                <a:cs typeface="Figtree SemiBold"/>
                <a:sym typeface="Figtree SemiBold"/>
              </a:rPr>
              <a:t>Penalizes large mistakes more heavily.</a:t>
            </a:r>
            <a:endParaRPr sz="21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300"/>
              <a:t>MAE</a:t>
            </a:r>
            <a:br>
              <a:rPr lang="en" sz="2300"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2100">
                <a:latin typeface="Figtree SemiBold"/>
                <a:ea typeface="Figtree SemiBold"/>
                <a:cs typeface="Figtree SemiBold"/>
                <a:sym typeface="Figtree SemiBold"/>
              </a:rPr>
              <a:t>Average error magnitude.</a:t>
            </a:r>
            <a:br>
              <a:rPr lang="en" sz="2100"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2100">
                <a:latin typeface="Figtree SemiBold"/>
                <a:ea typeface="Figtree SemiBold"/>
                <a:cs typeface="Figtree SemiBold"/>
                <a:sym typeface="Figtree SemiBold"/>
              </a:rPr>
              <a:t>Lower is better.</a:t>
            </a:r>
            <a:endParaRPr sz="21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5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11" name="Google Shape;511;p47"/>
          <p:cNvSpPr txBox="1"/>
          <p:nvPr>
            <p:ph idx="4294967295" type="title"/>
          </p:nvPr>
        </p:nvSpPr>
        <p:spPr>
          <a:xfrm>
            <a:off x="37495" y="2946331"/>
            <a:ext cx="27753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 Regression Models</a:t>
            </a:r>
            <a:endParaRPr/>
          </a:p>
        </p:txBody>
      </p:sp>
      <p:sp>
        <p:nvSpPr>
          <p:cNvPr id="512" name="Google Shape;512;p47"/>
          <p:cNvSpPr txBox="1"/>
          <p:nvPr>
            <p:ph idx="1" type="body"/>
          </p:nvPr>
        </p:nvSpPr>
        <p:spPr>
          <a:xfrm>
            <a:off x="6006482" y="1335250"/>
            <a:ext cx="3130500" cy="274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latin typeface="Figtree SemiBold"/>
                <a:ea typeface="Figtree SemiBold"/>
                <a:cs typeface="Figtree SemiBold"/>
                <a:sym typeface="Figtree SemiBold"/>
              </a:rPr>
              <a:t>R² Score</a:t>
            </a:r>
            <a:br>
              <a:rPr lang="en" sz="2100"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  <a:t>Measures explained variance.</a:t>
            </a:r>
            <a:endParaRPr sz="19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  <a:t>Range:</a:t>
            </a:r>
            <a:b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  <a:t> 0 → No explanatory power</a:t>
            </a:r>
            <a:b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  <a:t> 1 → Perfect prediction</a:t>
            </a:r>
            <a:endParaRPr sz="19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  <a:t>R² = 0.82 → Model explains 82% of variation.</a:t>
            </a:r>
            <a:endParaRPr sz="19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1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8" name="Google Shape;518;p48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19" name="Google Shape;519;p48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20" name="Google Shape;520;p48"/>
          <p:cNvSpPr txBox="1"/>
          <p:nvPr>
            <p:ph idx="1" type="body"/>
          </p:nvPr>
        </p:nvSpPr>
        <p:spPr>
          <a:xfrm>
            <a:off x="5103653" y="1657572"/>
            <a:ext cx="3731100" cy="27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/>
              <a:t>Accuracy</a:t>
            </a:r>
            <a:endParaRPr b="1" sz="2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Correct predictions / Total predictions</a:t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But can be misleading.</a:t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40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21" name="Google Shape;521;p48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 Classification Models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7" name="Google Shape;527;p49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28" name="Google Shape;528;p49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29" name="Google Shape;529;p49"/>
          <p:cNvSpPr txBox="1"/>
          <p:nvPr>
            <p:ph idx="1" type="body"/>
          </p:nvPr>
        </p:nvSpPr>
        <p:spPr>
          <a:xfrm>
            <a:off x="2835322" y="1849116"/>
            <a:ext cx="3130500" cy="13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/>
              <a:t>Precision</a:t>
            </a:r>
            <a:endParaRPr b="1" sz="2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Of predicted positives, how many were correct?</a:t>
            </a:r>
            <a:endParaRPr sz="38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30" name="Google Shape;530;p49"/>
          <p:cNvSpPr txBox="1"/>
          <p:nvPr>
            <p:ph idx="4294967295" type="title"/>
          </p:nvPr>
        </p:nvSpPr>
        <p:spPr>
          <a:xfrm>
            <a:off x="37495" y="2946331"/>
            <a:ext cx="27753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 Classification Models</a:t>
            </a:r>
            <a:endParaRPr/>
          </a:p>
        </p:txBody>
      </p:sp>
      <p:sp>
        <p:nvSpPr>
          <p:cNvPr id="531" name="Google Shape;531;p49"/>
          <p:cNvSpPr txBox="1"/>
          <p:nvPr>
            <p:ph idx="1" type="body"/>
          </p:nvPr>
        </p:nvSpPr>
        <p:spPr>
          <a:xfrm>
            <a:off x="6123603" y="1376154"/>
            <a:ext cx="2997900" cy="21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/>
              <a:t>Recall</a:t>
            </a:r>
            <a:endParaRPr b="1" sz="2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Of actual positives, how many did we detect?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Important in healthcare settings.</a:t>
            </a:r>
            <a:endParaRPr sz="34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0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7" name="Google Shape;537;p50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38" name="Google Shape;538;p50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39" name="Google Shape;539;p50"/>
          <p:cNvSpPr txBox="1"/>
          <p:nvPr>
            <p:ph idx="4294967295" type="title"/>
          </p:nvPr>
        </p:nvSpPr>
        <p:spPr>
          <a:xfrm>
            <a:off x="203248" y="2977291"/>
            <a:ext cx="27753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Confusion Matrix</a:t>
            </a:r>
            <a:endParaRPr/>
          </a:p>
        </p:txBody>
      </p:sp>
      <p:graphicFrame>
        <p:nvGraphicFramePr>
          <p:cNvPr id="540" name="Google Shape;540;p50"/>
          <p:cNvGraphicFramePr/>
          <p:nvPr/>
        </p:nvGraphicFramePr>
        <p:xfrm>
          <a:off x="3508225" y="137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{A56D622E-969D-4700-A33B-C0C53944ACE5}</a:tableStyleId>
              </a:tblPr>
              <a:tblGrid>
                <a:gridCol w="1444600"/>
                <a:gridCol w="1912550"/>
                <a:gridCol w="1851500"/>
              </a:tblGrid>
              <a:tr h="92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Predicted Yes</a:t>
                      </a:r>
                      <a:endParaRPr sz="20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Predicted No</a:t>
                      </a:r>
                      <a:endParaRPr sz="20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</a:tr>
              <a:tr h="98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Actual Yes</a:t>
                      </a:r>
                      <a:endParaRPr sz="23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TP</a:t>
                      </a:r>
                      <a:endParaRPr sz="23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FN</a:t>
                      </a:r>
                      <a:endParaRPr sz="23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</a:tr>
              <a:tr h="98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Actual No</a:t>
                      </a:r>
                      <a:endParaRPr sz="23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FP</a:t>
                      </a:r>
                      <a:endParaRPr sz="23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TN</a:t>
                      </a:r>
                      <a:endParaRPr sz="23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1130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1"/>
          <p:cNvSpPr txBox="1"/>
          <p:nvPr>
            <p:ph type="title"/>
          </p:nvPr>
        </p:nvSpPr>
        <p:spPr>
          <a:xfrm>
            <a:off x="434800" y="1747648"/>
            <a:ext cx="8598300" cy="222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OVERFITTING VS UNDERFITTING</a:t>
            </a:r>
            <a:endParaRPr sz="3600"/>
          </a:p>
        </p:txBody>
      </p:sp>
      <p:sp>
        <p:nvSpPr>
          <p:cNvPr id="546" name="Google Shape;546;p51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47" name="Google Shape;547;p51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48" name="Google Shape;548;p5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2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4" name="Google Shape;554;p52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55" name="Google Shape;555;p52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56" name="Google Shape;556;p52"/>
          <p:cNvSpPr txBox="1"/>
          <p:nvPr>
            <p:ph idx="1" type="body"/>
          </p:nvPr>
        </p:nvSpPr>
        <p:spPr>
          <a:xfrm>
            <a:off x="2835325" y="1376153"/>
            <a:ext cx="3130500" cy="17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Model is too simple.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Signs: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Figtree SemiBold"/>
              <a:buChar char="●"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Performs poorly on training data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Char char="●"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Performs poorly on test data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57" name="Google Shape;557;p52"/>
          <p:cNvSpPr txBox="1"/>
          <p:nvPr>
            <p:ph idx="4294967295" type="title"/>
          </p:nvPr>
        </p:nvSpPr>
        <p:spPr>
          <a:xfrm>
            <a:off x="37495" y="2495888"/>
            <a:ext cx="27753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Underfitting</a:t>
            </a:r>
            <a:endParaRPr/>
          </a:p>
        </p:txBody>
      </p:sp>
      <p:sp>
        <p:nvSpPr>
          <p:cNvPr id="558" name="Google Shape;558;p52"/>
          <p:cNvSpPr txBox="1"/>
          <p:nvPr>
            <p:ph idx="1" type="body"/>
          </p:nvPr>
        </p:nvSpPr>
        <p:spPr>
          <a:xfrm>
            <a:off x="6123603" y="1376154"/>
            <a:ext cx="2997900" cy="21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latin typeface="Figtree SemiBold"/>
                <a:ea typeface="Figtree SemiBold"/>
                <a:cs typeface="Figtree SemiBold"/>
                <a:sym typeface="Figtree SemiBold"/>
              </a:rPr>
              <a:t>Cause:</a:t>
            </a:r>
            <a:endParaRPr sz="25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500"/>
              <a:buFont typeface="Figtree SemiBold"/>
              <a:buChar char="●"/>
            </a:pPr>
            <a:r>
              <a:rPr lang="en" sz="2500">
                <a:latin typeface="Figtree SemiBold"/>
                <a:ea typeface="Figtree SemiBold"/>
                <a:cs typeface="Figtree SemiBold"/>
                <a:sym typeface="Figtree SemiBold"/>
              </a:rPr>
              <a:t>Model too basic</a:t>
            </a:r>
            <a:endParaRPr sz="25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Figtree SemiBold"/>
              <a:buChar char="●"/>
            </a:pPr>
            <a:r>
              <a:rPr lang="en" sz="2500">
                <a:latin typeface="Figtree SemiBold"/>
                <a:ea typeface="Figtree SemiBold"/>
                <a:cs typeface="Figtree SemiBold"/>
                <a:sym typeface="Figtree SemiBold"/>
              </a:rPr>
              <a:t>Not enough features</a:t>
            </a:r>
            <a:endParaRPr sz="25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Figtree SemiBold"/>
              <a:buChar char="●"/>
            </a:pPr>
            <a:r>
              <a:rPr lang="en" sz="2500">
                <a:latin typeface="Figtree SemiBold"/>
                <a:ea typeface="Figtree SemiBold"/>
                <a:cs typeface="Figtree SemiBold"/>
                <a:sym typeface="Figtree SemiBold"/>
              </a:rPr>
              <a:t>Too much regularization</a:t>
            </a:r>
            <a:endParaRPr sz="25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4D79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4" name="Google Shape;564;p53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65" name="Google Shape;565;p53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66" name="Google Shape;566;p53"/>
          <p:cNvSpPr txBox="1"/>
          <p:nvPr>
            <p:ph idx="1" type="body"/>
          </p:nvPr>
        </p:nvSpPr>
        <p:spPr>
          <a:xfrm>
            <a:off x="2835325" y="1376153"/>
            <a:ext cx="3130500" cy="17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Model is too complex.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Signs: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Very high training accuracy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Poor testing accuracy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67" name="Google Shape;567;p53"/>
          <p:cNvSpPr txBox="1"/>
          <p:nvPr>
            <p:ph idx="4294967295" type="title"/>
          </p:nvPr>
        </p:nvSpPr>
        <p:spPr>
          <a:xfrm>
            <a:off x="37495" y="2495888"/>
            <a:ext cx="27753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Overfitting</a:t>
            </a:r>
            <a:endParaRPr/>
          </a:p>
        </p:txBody>
      </p:sp>
      <p:sp>
        <p:nvSpPr>
          <p:cNvPr id="568" name="Google Shape;568;p53"/>
          <p:cNvSpPr txBox="1"/>
          <p:nvPr>
            <p:ph idx="1" type="body"/>
          </p:nvPr>
        </p:nvSpPr>
        <p:spPr>
          <a:xfrm>
            <a:off x="6101081" y="1578853"/>
            <a:ext cx="2997900" cy="21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>
                <a:latin typeface="Figtree SemiBold"/>
                <a:ea typeface="Figtree SemiBold"/>
                <a:cs typeface="Figtree SemiBold"/>
                <a:sym typeface="Figtree SemiBold"/>
              </a:rPr>
              <a:t>Cause:</a:t>
            </a:r>
            <a:endParaRPr sz="25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>
                <a:latin typeface="Figtree SemiBold"/>
                <a:ea typeface="Figtree SemiBold"/>
                <a:cs typeface="Figtree SemiBold"/>
                <a:sym typeface="Figtree SemiBold"/>
              </a:rPr>
              <a:t>Model memorized training data</a:t>
            </a:r>
            <a:endParaRPr sz="25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>
                <a:latin typeface="Figtree SemiBold"/>
                <a:ea typeface="Figtree SemiBold"/>
                <a:cs typeface="Figtree SemiBold"/>
                <a:sym typeface="Figtree SemiBold"/>
              </a:rPr>
              <a:t>Too many features</a:t>
            </a:r>
            <a:endParaRPr sz="25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4"/>
          <p:cNvSpPr txBox="1"/>
          <p:nvPr>
            <p:ph type="title"/>
          </p:nvPr>
        </p:nvSpPr>
        <p:spPr>
          <a:xfrm>
            <a:off x="483175" y="269848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Ways to Improve Model Accuracy</a:t>
            </a:r>
            <a:endParaRPr sz="4500"/>
          </a:p>
        </p:txBody>
      </p:sp>
      <p:sp>
        <p:nvSpPr>
          <p:cNvPr id="574" name="Google Shape;574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5" name="Google Shape;575;p54"/>
          <p:cNvSpPr txBox="1"/>
          <p:nvPr>
            <p:ph idx="2" type="body"/>
          </p:nvPr>
        </p:nvSpPr>
        <p:spPr>
          <a:xfrm>
            <a:off x="374800" y="1737081"/>
            <a:ext cx="4197300" cy="31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Figtree"/>
              <a:buAutoNum type="arabicPeriod"/>
            </a:pPr>
            <a:r>
              <a:rPr b="1" lang="en" sz="2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More Quality Data</a:t>
            </a:r>
            <a:endParaRPr b="1" sz="21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Better data &gt; Bigger model</a:t>
            </a:r>
            <a:endParaRPr sz="19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Figtree"/>
              <a:buAutoNum type="arabicPeriod"/>
            </a:pPr>
            <a:r>
              <a:rPr b="1" lang="en" sz="2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Feature Engineering</a:t>
            </a:r>
            <a:endParaRPr b="1" sz="21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Create meaningful variables.</a:t>
            </a:r>
            <a:br>
              <a:rPr lang="en" sz="19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19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E.g Instead of raw date, Extract month or day of week</a:t>
            </a:r>
            <a:endParaRPr sz="19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Figtree"/>
              <a:buAutoNum type="arabicPeriod"/>
            </a:pPr>
            <a:r>
              <a:rPr b="1" lang="en" sz="2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Remove Irrelevant Features</a:t>
            </a:r>
            <a:endParaRPr b="1" sz="21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Too many features can cause overfitting.</a:t>
            </a:r>
            <a:endParaRPr sz="19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76" name="Google Shape;576;p54"/>
          <p:cNvSpPr txBox="1"/>
          <p:nvPr>
            <p:ph idx="3" type="body"/>
          </p:nvPr>
        </p:nvSpPr>
        <p:spPr>
          <a:xfrm>
            <a:off x="4704700" y="1754160"/>
            <a:ext cx="4197300" cy="28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4. Regularization</a:t>
            </a:r>
            <a:endParaRPr b="1" sz="21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Adds penalty for complexity.</a:t>
            </a:r>
            <a:br>
              <a:rPr lang="en" sz="19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19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Helps prevent overfitting.</a:t>
            </a:r>
            <a:endParaRPr sz="19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5. Cross-Validation</a:t>
            </a:r>
            <a:endParaRPr b="1" sz="21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Train/test multiple times using different splits.</a:t>
            </a:r>
            <a:endParaRPr sz="19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6. Try Different Algorithms</a:t>
            </a:r>
            <a:endParaRPr b="1" sz="21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Sometimes a decision tree performs better than logistic regression.</a:t>
            </a:r>
            <a:endParaRPr sz="19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1130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2" name="Google Shape;582;p55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Hands-on Workshop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09"/>
              <a:buFont typeface="Arial"/>
              <a:buNone/>
            </a:pPr>
            <a:r>
              <a:rPr b="0" lang="en" sz="2244">
                <a:latin typeface="Courier New"/>
                <a:ea typeface="Courier New"/>
                <a:cs typeface="Courier New"/>
                <a:sym typeface="Courier New"/>
              </a:rPr>
              <a:t>https://colab.research.google.com/drive/1vGE8Cqft9f5CXkDvHcjWh_y7_rZnYQ8K?usp=sharing</a:t>
            </a:r>
            <a:endParaRPr b="0" sz="2244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3" name="Google Shape;583;p55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84" name="Google Shape;584;p55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0" name="Google Shape;590;p56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591" name="Google Shape;591;p56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92" name="Google Shape;592;p56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esson 2">
  <a:themeElements>
    <a:clrScheme name="Simple Light">
      <a:dk1>
        <a:srgbClr val="000000"/>
      </a:dk1>
      <a:lt1>
        <a:srgbClr val="F4F3F0"/>
      </a:lt1>
      <a:dk2>
        <a:srgbClr val="FFC700"/>
      </a:dk2>
      <a:lt2>
        <a:srgbClr val="0EAA57"/>
      </a:lt2>
      <a:accent1>
        <a:srgbClr val="349EEA"/>
      </a:accent1>
      <a:accent2>
        <a:srgbClr val="C6B9FF"/>
      </a:accent2>
      <a:accent3>
        <a:srgbClr val="F66F6F"/>
      </a:accent3>
      <a:accent4>
        <a:srgbClr val="8E7CC3"/>
      </a:accent4>
      <a:accent5>
        <a:srgbClr val="FFE599"/>
      </a:accent5>
      <a:accent6>
        <a:srgbClr val="A4C2F4"/>
      </a:accent6>
      <a:hlink>
        <a:srgbClr val="FFC7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