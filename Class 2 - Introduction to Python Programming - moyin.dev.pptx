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Figtree"/>
      <p:regular r:id="rId19"/>
      <p:bold r:id="rId20"/>
      <p:italic r:id="rId21"/>
      <p:boldItalic r:id="rId22"/>
    </p:embeddedFont>
    <p:embeddedFont>
      <p:font typeface="Figtree Medium"/>
      <p:regular r:id="rId23"/>
      <p:bold r:id="rId24"/>
      <p:italic r:id="rId25"/>
      <p:boldItalic r:id="rId26"/>
    </p:embeddedFont>
    <p:embeddedFont>
      <p:font typeface="Figtree ExtraBold"/>
      <p:bold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EB Garamond SemiBold"/>
      <p:regular r:id="rId33"/>
      <p:bold r:id="rId34"/>
      <p:italic r:id="rId35"/>
      <p:boldItalic r:id="rId36"/>
    </p:embeddedFont>
    <p:embeddedFont>
      <p:font typeface="Figtree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SemiBold-boldItalic.fntdata"/><Relationship Id="rId20" Type="http://schemas.openxmlformats.org/officeDocument/2006/relationships/font" Target="fonts/Figtree-bold.fntdata"/><Relationship Id="rId22" Type="http://schemas.openxmlformats.org/officeDocument/2006/relationships/font" Target="fonts/Figtree-boldItalic.fntdata"/><Relationship Id="rId21" Type="http://schemas.openxmlformats.org/officeDocument/2006/relationships/font" Target="fonts/Figtree-italic.fntdata"/><Relationship Id="rId24" Type="http://schemas.openxmlformats.org/officeDocument/2006/relationships/font" Target="fonts/FigtreeMedium-bold.fntdata"/><Relationship Id="rId23" Type="http://schemas.openxmlformats.org/officeDocument/2006/relationships/font" Target="fonts/Figtree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Medium-boldItalic.fntdata"/><Relationship Id="rId25" Type="http://schemas.openxmlformats.org/officeDocument/2006/relationships/font" Target="fonts/FigtreeMedium-italic.fntdata"/><Relationship Id="rId28" Type="http://schemas.openxmlformats.org/officeDocument/2006/relationships/font" Target="fonts/FigtreeExtraBold-boldItalic.fntdata"/><Relationship Id="rId27" Type="http://schemas.openxmlformats.org/officeDocument/2006/relationships/font" Target="fonts/Figtree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EBGaramond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EBGaramondSemiBold-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SemiBold-bold.fntdata"/><Relationship Id="rId15" Type="http://schemas.openxmlformats.org/officeDocument/2006/relationships/slide" Target="slides/slide10.xml"/><Relationship Id="rId37" Type="http://schemas.openxmlformats.org/officeDocument/2006/relationships/font" Target="fonts/Figtree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EBGaramond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Figtree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FigtreeSemiBold-bold.fntdata"/><Relationship Id="rId19" Type="http://schemas.openxmlformats.org/officeDocument/2006/relationships/font" Target="fonts/Figtree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ce48b7c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ce48b7c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5ce48b7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b5ce48b7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5ce48b7c5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5ce48b7c5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5ce48b7c5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5ce48b7c5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5ce48b7c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5ce48b7c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5ce48b7c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b5ce48b7c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5ce48b7c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5ce48b7c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5ce48b7c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5ce48b7c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latin typeface="Montserrat"/>
                <a:ea typeface="Montserrat"/>
                <a:cs typeface="Montserrat"/>
                <a:sym typeface="Montserrat"/>
              </a:rPr>
              <a:t>Introduction to Python Programming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Class 2: Setting Up &amp; Writing Your First Program</a:t>
            </a:r>
            <a:endParaRPr sz="18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 txBox="1"/>
          <p:nvPr>
            <p:ph idx="2" type="title"/>
          </p:nvPr>
        </p:nvSpPr>
        <p:spPr>
          <a:xfrm>
            <a:off x="3409838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3409838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Understand basic Python syntax and structure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54" name="Google Shape;454;p41"/>
          <p:cNvSpPr txBox="1"/>
          <p:nvPr>
            <p:ph idx="3" type="title"/>
          </p:nvPr>
        </p:nvSpPr>
        <p:spPr>
          <a:xfrm>
            <a:off x="362475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5" name="Google Shape;455;p41"/>
          <p:cNvSpPr txBox="1"/>
          <p:nvPr>
            <p:ph idx="4" type="body"/>
          </p:nvPr>
        </p:nvSpPr>
        <p:spPr>
          <a:xfrm>
            <a:off x="362475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Set up a Python development environment using VS Code and Google Colab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6" name="Google Shape;456;p41"/>
          <p:cNvSpPr txBox="1"/>
          <p:nvPr>
            <p:ph idx="5" type="title"/>
          </p:nvPr>
        </p:nvSpPr>
        <p:spPr>
          <a:xfrm>
            <a:off x="6457200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7" name="Google Shape;457;p41"/>
          <p:cNvSpPr txBox="1"/>
          <p:nvPr>
            <p:ph idx="6" type="body"/>
          </p:nvPr>
        </p:nvSpPr>
        <p:spPr>
          <a:xfrm>
            <a:off x="6457200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Use variables to store and manage data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8" name="Google Shape;458;p41"/>
          <p:cNvSpPr txBox="1"/>
          <p:nvPr>
            <p:ph idx="7" type="title"/>
          </p:nvPr>
        </p:nvSpPr>
        <p:spPr>
          <a:xfrm>
            <a:off x="362475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9" name="Google Shape;459;p41"/>
          <p:cNvSpPr txBox="1"/>
          <p:nvPr>
            <p:ph idx="8" type="body"/>
          </p:nvPr>
        </p:nvSpPr>
        <p:spPr>
          <a:xfrm>
            <a:off x="362475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I</a:t>
            </a: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dentify and work with common Python data types</a:t>
            </a:r>
            <a:br>
              <a:rPr b="1" lang="en" sz="1700">
                <a:latin typeface="Arial"/>
                <a:ea typeface="Arial"/>
                <a:cs typeface="Arial"/>
                <a:sym typeface="Arial"/>
              </a:rPr>
            </a:br>
            <a:endParaRPr sz="1700"/>
          </a:p>
        </p:txBody>
      </p:sp>
      <p:sp>
        <p:nvSpPr>
          <p:cNvPr id="460" name="Google Shape;460;p41"/>
          <p:cNvSpPr txBox="1"/>
          <p:nvPr>
            <p:ph idx="9" type="title"/>
          </p:nvPr>
        </p:nvSpPr>
        <p:spPr>
          <a:xfrm>
            <a:off x="3409200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61" name="Google Shape;461;p41"/>
          <p:cNvSpPr txBox="1"/>
          <p:nvPr>
            <p:ph idx="13" type="body"/>
          </p:nvPr>
        </p:nvSpPr>
        <p:spPr>
          <a:xfrm>
            <a:off x="3409200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Apply conditional statements to control program flow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endParaRPr sz="1700"/>
          </a:p>
        </p:txBody>
      </p:sp>
      <p:sp>
        <p:nvSpPr>
          <p:cNvPr id="462" name="Google Shape;462;p41"/>
          <p:cNvSpPr txBox="1"/>
          <p:nvPr>
            <p:ph idx="14" type="title"/>
          </p:nvPr>
        </p:nvSpPr>
        <p:spPr>
          <a:xfrm>
            <a:off x="6381150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63" name="Google Shape;463;p41"/>
          <p:cNvSpPr txBox="1"/>
          <p:nvPr>
            <p:ph idx="15" type="body"/>
          </p:nvPr>
        </p:nvSpPr>
        <p:spPr>
          <a:xfrm>
            <a:off x="6381150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Write and run their first Python program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64" name="Google Shape;464;p41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5" name="Google Shape;465;p41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42"/>
          <p:cNvSpPr txBox="1"/>
          <p:nvPr>
            <p:ph idx="1" type="body"/>
          </p:nvPr>
        </p:nvSpPr>
        <p:spPr>
          <a:xfrm>
            <a:off x="1044450" y="2239700"/>
            <a:ext cx="7279200" cy="21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Python is a high-level programming language, Easy to read and beginner-friendly Widely used in: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- </a:t>
            </a: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AI &amp; Machine Learning   			- Data Science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- Web Development					- Automation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Focuses on clarity and simplicity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2"/>
          <p:cNvSpPr txBox="1"/>
          <p:nvPr>
            <p:ph type="title"/>
          </p:nvPr>
        </p:nvSpPr>
        <p:spPr>
          <a:xfrm>
            <a:off x="932400" y="1358003"/>
            <a:ext cx="7279200" cy="63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Python?</a:t>
            </a:r>
            <a:endParaRPr/>
          </a:p>
        </p:txBody>
      </p:sp>
      <p:sp>
        <p:nvSpPr>
          <p:cNvPr id="473" name="Google Shape;473;p42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4" name="Google Shape;474;p42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5" name="Google Shape;475;p42"/>
          <p:cNvSpPr txBox="1"/>
          <p:nvPr/>
        </p:nvSpPr>
        <p:spPr>
          <a:xfrm>
            <a:off x="14266750" y="2383075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3" title="Python-Emblem-700x394.png"/>
          <p:cNvPicPr preferRelativeResize="0"/>
          <p:nvPr/>
        </p:nvPicPr>
        <p:blipFill rotWithShape="1">
          <a:blip r:embed="rId3">
            <a:alphaModFix/>
          </a:blip>
          <a:srcRect b="0" l="19854" r="19854" t="0"/>
          <a:stretch/>
        </p:blipFill>
        <p:spPr>
          <a:xfrm>
            <a:off x="4571925" y="635100"/>
            <a:ext cx="4572000" cy="426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481" name="Google Shape;481;p43"/>
          <p:cNvSpPr txBox="1"/>
          <p:nvPr>
            <p:ph idx="1" type="body"/>
          </p:nvPr>
        </p:nvSpPr>
        <p:spPr>
          <a:xfrm>
            <a:off x="370450" y="1937675"/>
            <a:ext cx="3786900" cy="20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Simple syntax → faster learning, Large ecosystem of libraries: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- </a:t>
            </a:r>
            <a:r>
              <a:rPr lang="en" sz="1900"/>
              <a:t>NumPy 		- Pandas</a:t>
            </a:r>
            <a:br>
              <a:rPr lang="en" sz="1900"/>
            </a:br>
            <a:r>
              <a:rPr lang="en" sz="1900"/>
              <a:t>- Matplotlib 		- Scikit-learn</a:t>
            </a:r>
            <a:br>
              <a:rPr lang="en" sz="1900"/>
            </a:br>
            <a:r>
              <a:rPr lang="en" sz="1900"/>
              <a:t>- Strong community support</a:t>
            </a:r>
            <a:br>
              <a:rPr lang="en" sz="1900"/>
            </a:br>
            <a:r>
              <a:rPr lang="en" sz="1900"/>
              <a:t>- Industry-standard </a:t>
            </a:r>
            <a:endParaRPr sz="19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2" name="Google Shape;482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43"/>
          <p:cNvSpPr txBox="1"/>
          <p:nvPr>
            <p:ph type="title"/>
          </p:nvPr>
        </p:nvSpPr>
        <p:spPr>
          <a:xfrm>
            <a:off x="639300" y="13269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Python for AI &amp; Data Science?</a:t>
            </a:r>
            <a:endParaRPr/>
          </a:p>
        </p:txBody>
      </p:sp>
      <p:sp>
        <p:nvSpPr>
          <p:cNvPr id="484" name="Google Shape;484;p43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5" name="Google Shape;485;p43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4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a Variable?</a:t>
            </a:r>
            <a:endParaRPr sz="4500"/>
          </a:p>
        </p:txBody>
      </p:sp>
      <p:sp>
        <p:nvSpPr>
          <p:cNvPr id="491" name="Google Shape;491;p44"/>
          <p:cNvSpPr txBox="1"/>
          <p:nvPr>
            <p:ph idx="1" type="body"/>
          </p:nvPr>
        </p:nvSpPr>
        <p:spPr>
          <a:xfrm>
            <a:off x="3410825" y="1393125"/>
            <a:ext cx="5311500" cy="27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variable is a container that stores information in your program. Think of it like a labeled box: 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The label is the variable name (e.g., age, name)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What's inside the box is the value (e.g., 20, "Alex") 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You can change what's inside anytime Variables let your program remember and use information.</a:t>
            </a:r>
            <a:endParaRPr sz="1900"/>
          </a:p>
        </p:txBody>
      </p:sp>
      <p:sp>
        <p:nvSpPr>
          <p:cNvPr id="492" name="Google Shape;492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3" name="Google Shape;493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4" name="Google Shape;494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type="title"/>
          </p:nvPr>
        </p:nvSpPr>
        <p:spPr>
          <a:xfrm>
            <a:off x="91675" y="2593850"/>
            <a:ext cx="29388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Are Data Types?</a:t>
            </a:r>
            <a:endParaRPr sz="4500"/>
          </a:p>
        </p:txBody>
      </p:sp>
      <p:sp>
        <p:nvSpPr>
          <p:cNvPr id="500" name="Google Shape;500;p45"/>
          <p:cNvSpPr txBox="1"/>
          <p:nvPr>
            <p:ph idx="1" type="body"/>
          </p:nvPr>
        </p:nvSpPr>
        <p:spPr>
          <a:xfrm>
            <a:off x="3410825" y="1393125"/>
            <a:ext cx="5450700" cy="27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Data types tell Python what kind of information you're working with. Just like in real life, different types of information behave differently: 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Figtree Medium"/>
              <a:buChar char="-"/>
            </a:pPr>
            <a:r>
              <a:rPr lang="en" sz="1600">
                <a:latin typeface="Figtree Medium"/>
                <a:ea typeface="Figtree Medium"/>
                <a:cs typeface="Figtree Medium"/>
                <a:sym typeface="Figtree Medium"/>
              </a:rPr>
              <a:t>Integer (int): Whole numbers without decimals, e.g 5, 100, -3, 0</a:t>
            </a:r>
            <a:endParaRPr sz="16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gtree Medium"/>
              <a:buChar char="-"/>
            </a:pPr>
            <a:r>
              <a:rPr lang="en" sz="1600">
                <a:latin typeface="Figtree Medium"/>
                <a:ea typeface="Figtree Medium"/>
                <a:cs typeface="Figtree Medium"/>
                <a:sym typeface="Figtree Medium"/>
              </a:rPr>
              <a:t>Float (float): Numbers with decimal points, e.g 3.14, 2.5,`-0.99, 10.0</a:t>
            </a:r>
            <a:endParaRPr sz="16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gtree Medium"/>
              <a:buChar char="-"/>
            </a:pPr>
            <a:r>
              <a:rPr lang="en" sz="1600">
                <a:latin typeface="Figtree Medium"/>
                <a:ea typeface="Figtree Medium"/>
                <a:cs typeface="Figtree Medium"/>
                <a:sym typeface="Figtree Medium"/>
              </a:rPr>
              <a:t>String (str): Text or characters - Always wrapped in quotes e.g "Hello", 'Python', “123”</a:t>
            </a:r>
            <a:endParaRPr sz="16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igtree Medium"/>
              <a:buChar char="-"/>
            </a:pPr>
            <a:r>
              <a:rPr lang="en" sz="1600">
                <a:latin typeface="Figtree Medium"/>
                <a:ea typeface="Figtree Medium"/>
                <a:cs typeface="Figtree Medium"/>
                <a:sym typeface="Figtree Medium"/>
              </a:rPr>
              <a:t>Boolean (bool): True or False - Used for yes/no questions and conditions</a:t>
            </a:r>
            <a:endParaRPr sz="24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01" name="Google Shape;501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2" name="Google Shape;502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3" name="Google Shape;503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9" name="Google Shape;509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10" name="Google Shape;510;p46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 What Are Conditionals?</a:t>
            </a:r>
            <a:endParaRPr sz="3700"/>
          </a:p>
        </p:txBody>
      </p:sp>
      <p:sp>
        <p:nvSpPr>
          <p:cNvPr id="511" name="Google Shape;511;p46"/>
          <p:cNvSpPr txBox="1"/>
          <p:nvPr>
            <p:ph idx="1" type="body"/>
          </p:nvPr>
        </p:nvSpPr>
        <p:spPr>
          <a:xfrm>
            <a:off x="3262800" y="1857775"/>
            <a:ext cx="5691600" cy="18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Conditionals let your program make decisions. Think of it like a fork in the road:</a:t>
            </a:r>
            <a:b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	</a:t>
            </a: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- IF something is true → go this way</a:t>
            </a:r>
            <a:b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	- ELSE → go that way 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Conditionals make your programs smart and responsive.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12" name="Google Shape;512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4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Your Environment</a:t>
            </a:r>
            <a:endParaRPr/>
          </a:p>
        </p:txBody>
      </p:sp>
      <p:sp>
        <p:nvSpPr>
          <p:cNvPr id="519" name="Google Shape;519;p47"/>
          <p:cNvSpPr txBox="1"/>
          <p:nvPr>
            <p:ph idx="2" type="title"/>
          </p:nvPr>
        </p:nvSpPr>
        <p:spPr>
          <a:xfrm>
            <a:off x="5676000" y="1424491"/>
            <a:ext cx="2325600" cy="33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Code editor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0" name="Google Shape;520;p47"/>
          <p:cNvSpPr txBox="1"/>
          <p:nvPr>
            <p:ph idx="1" type="body"/>
          </p:nvPr>
        </p:nvSpPr>
        <p:spPr>
          <a:xfrm>
            <a:off x="5675995" y="1889094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VS Code (local setup)</a:t>
            </a:r>
            <a:endParaRPr sz="19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1" name="Google Shape;521;p47"/>
          <p:cNvSpPr txBox="1"/>
          <p:nvPr>
            <p:ph idx="3" type="title"/>
          </p:nvPr>
        </p:nvSpPr>
        <p:spPr>
          <a:xfrm>
            <a:off x="5676000" y="2823327"/>
            <a:ext cx="2325600" cy="67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Online coding environment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2" name="Google Shape;522;p47"/>
          <p:cNvSpPr txBox="1"/>
          <p:nvPr>
            <p:ph idx="4" type="body"/>
          </p:nvPr>
        </p:nvSpPr>
        <p:spPr>
          <a:xfrm>
            <a:off x="5676000" y="3550423"/>
            <a:ext cx="2325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Google Colab (online)</a:t>
            </a:r>
            <a:endParaRPr sz="20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23" name="Google Shape;523;p4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4" name="Google Shape;524;p4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4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Code (Visual Studio Code)</a:t>
            </a:r>
            <a:endParaRPr/>
          </a:p>
        </p:txBody>
      </p:sp>
      <p:sp>
        <p:nvSpPr>
          <p:cNvPr id="531" name="Google Shape;531;p48"/>
          <p:cNvSpPr txBox="1"/>
          <p:nvPr>
            <p:ph idx="1" type="body"/>
          </p:nvPr>
        </p:nvSpPr>
        <p:spPr>
          <a:xfrm>
            <a:off x="3410825" y="1314400"/>
            <a:ext cx="2325600" cy="29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gtree Medium"/>
                <a:ea typeface="Figtree Medium"/>
                <a:cs typeface="Figtree Medium"/>
                <a:sym typeface="Figtree Medium"/>
              </a:rPr>
              <a:t>A lightweight code editor by Microsoft</a:t>
            </a:r>
            <a:br>
              <a:rPr lang="en" sz="1700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 sz="1700">
                <a:latin typeface="Figtree Medium"/>
                <a:ea typeface="Figtree Medium"/>
                <a:cs typeface="Figtree Medium"/>
                <a:sym typeface="Figtree Medium"/>
              </a:rPr>
              <a:t>Supports many programming languages</a:t>
            </a:r>
            <a:br>
              <a:rPr lang="en" sz="1700">
                <a:latin typeface="Figtree Medium"/>
                <a:ea typeface="Figtree Medium"/>
                <a:cs typeface="Figtree Medium"/>
                <a:sym typeface="Figtree Medium"/>
              </a:rPr>
            </a:br>
            <a:r>
              <a:rPr lang="en" sz="1700">
                <a:latin typeface="Figtree Medium"/>
                <a:ea typeface="Figtree Medium"/>
                <a:cs typeface="Figtree Medium"/>
                <a:sym typeface="Figtree Medium"/>
              </a:rPr>
              <a:t>Features:</a:t>
            </a:r>
            <a:endParaRPr sz="17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Syntax highlighting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Extensions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/>
              <a:t>Integrated terminal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32" name="Google Shape;532;p48"/>
          <p:cNvSpPr txBox="1"/>
          <p:nvPr>
            <p:ph idx="3" type="title"/>
          </p:nvPr>
        </p:nvSpPr>
        <p:spPr>
          <a:xfrm>
            <a:off x="6465856" y="1872685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Requirements</a:t>
            </a:r>
            <a:endParaRPr sz="2200"/>
          </a:p>
        </p:txBody>
      </p:sp>
      <p:sp>
        <p:nvSpPr>
          <p:cNvPr id="533" name="Google Shape;533;p48"/>
          <p:cNvSpPr txBox="1"/>
          <p:nvPr>
            <p:ph idx="4" type="body"/>
          </p:nvPr>
        </p:nvSpPr>
        <p:spPr>
          <a:xfrm>
            <a:off x="6465850" y="2291412"/>
            <a:ext cx="2325600" cy="14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Figtree Medium"/>
              <a:buChar char="●"/>
            </a:pPr>
            <a:r>
              <a:rPr lang="en" sz="1900">
                <a:latin typeface="Figtree Medium"/>
                <a:ea typeface="Figtree Medium"/>
                <a:cs typeface="Figtree Medium"/>
                <a:sym typeface="Figtree Medium"/>
              </a:rPr>
              <a:t>Install Python</a:t>
            </a:r>
            <a:endParaRPr sz="19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Figtree Medium"/>
              <a:buChar char="●"/>
            </a:pPr>
            <a:r>
              <a:rPr lang="en" sz="1900">
                <a:latin typeface="Figtree Medium"/>
                <a:ea typeface="Figtree Medium"/>
                <a:cs typeface="Figtree Medium"/>
                <a:sym typeface="Figtree Medium"/>
              </a:rPr>
              <a:t>Install VS Code</a:t>
            </a:r>
            <a:endParaRPr sz="19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Figtree Medium"/>
              <a:buChar char="●"/>
            </a:pPr>
            <a:r>
              <a:rPr lang="en" sz="1900">
                <a:latin typeface="Figtree Medium"/>
                <a:ea typeface="Figtree Medium"/>
                <a:cs typeface="Figtree Medium"/>
                <a:sym typeface="Figtree Medium"/>
              </a:rPr>
              <a:t>Install Python extensions</a:t>
            </a:r>
            <a:endParaRPr sz="19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534" name="Google Shape;534;p4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5" name="Google Shape;535;p4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49"/>
          <p:cNvSpPr txBox="1"/>
          <p:nvPr>
            <p:ph idx="1" type="body"/>
          </p:nvPr>
        </p:nvSpPr>
        <p:spPr>
          <a:xfrm>
            <a:off x="4796100" y="1872225"/>
            <a:ext cx="399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Cloud-based Python environment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</a:t>
            </a:r>
            <a:r>
              <a:rPr lang="en" sz="2000"/>
              <a:t>uns entirely in the browser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 installation required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Ideal for beginners and quick experiments</a:t>
            </a:r>
            <a:endParaRPr sz="2000"/>
          </a:p>
        </p:txBody>
      </p:sp>
      <p:sp>
        <p:nvSpPr>
          <p:cNvPr id="542" name="Google Shape;542;p4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Google Colab</a:t>
            </a:r>
            <a:endParaRPr sz="4000"/>
          </a:p>
        </p:txBody>
      </p:sp>
      <p:sp>
        <p:nvSpPr>
          <p:cNvPr id="543" name="Google Shape;543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4" name="Google Shape;544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50"/>
          <p:cNvSpPr txBox="1"/>
          <p:nvPr>
            <p:ph type="title"/>
          </p:nvPr>
        </p:nvSpPr>
        <p:spPr>
          <a:xfrm>
            <a:off x="5055575" y="26567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b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1" name="Google Shape;551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2" name="Google Shape;552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3" name="Google Shape;553;p50"/>
          <p:cNvSpPr txBox="1"/>
          <p:nvPr>
            <p:ph type="title"/>
          </p:nvPr>
        </p:nvSpPr>
        <p:spPr>
          <a:xfrm>
            <a:off x="572775" y="26567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first Python Program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9" name="Google Shape;559;p51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</p:txBody>
      </p:sp>
      <p:sp>
        <p:nvSpPr>
          <p:cNvPr id="560" name="Google Shape;560;p51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1" name="Google Shape;561;p51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2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68" name="Google Shape;568;p52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9" name="Google Shape;569;p52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